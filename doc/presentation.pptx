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1" r:id="rId1"/>
  </p:sldMasterIdLst>
  <p:notesMasterIdLst>
    <p:notesMasterId r:id="rId16"/>
  </p:notesMasterIdLst>
  <p:sldIdLst>
    <p:sldId id="256" r:id="rId2"/>
    <p:sldId id="319" r:id="rId3"/>
    <p:sldId id="323" r:id="rId4"/>
    <p:sldId id="320" r:id="rId5"/>
    <p:sldId id="322" r:id="rId6"/>
    <p:sldId id="328" r:id="rId7"/>
    <p:sldId id="307" r:id="rId8"/>
    <p:sldId id="316" r:id="rId9"/>
    <p:sldId id="325" r:id="rId10"/>
    <p:sldId id="326" r:id="rId11"/>
    <p:sldId id="327" r:id="rId12"/>
    <p:sldId id="309" r:id="rId13"/>
    <p:sldId id="321" r:id="rId14"/>
    <p:sldId id="315" r:id="rId15"/>
  </p:sldIdLst>
  <p:sldSz cx="9144000" cy="5143500" type="screen16x9"/>
  <p:notesSz cx="6858000" cy="9144000"/>
  <p:embeddedFontLst>
    <p:embeddedFont>
      <p:font typeface="맑은 고딕" panose="020B0503020000020004" pitchFamily="34" charset="-127"/>
      <p:regular r:id="rId17"/>
      <p:bold r:id="rId18"/>
    </p:embeddedFont>
    <p:embeddedFont>
      <p:font typeface="Nunito Light" panose="020F0302020204030204" pitchFamily="34" charset="0"/>
      <p:regular r:id="rId19"/>
      <p:italic r:id="rId20"/>
    </p:embeddedFont>
    <p:embeddedFont>
      <p:font typeface="Poppins" pitchFamily="2" charset="0"/>
      <p:regular r:id="rId21"/>
      <p:bold r:id="rId22"/>
      <p:italic r:id="rId23"/>
      <p:boldItalic r:id="rId24"/>
    </p:embeddedFont>
    <p:embeddedFont>
      <p:font typeface="Poppins Medium" panose="020B0604020202020204" pitchFamily="34" charset="0"/>
      <p:regular r:id="rId25"/>
      <p:bold r:id="rId26"/>
      <p:italic r:id="rId27"/>
      <p:boldItalic r:id="rId26"/>
    </p:embeddedFont>
    <p:embeddedFont>
      <p:font typeface="Poppins SemiBold" panose="020B0604020202020204" pitchFamily="34" charset="0"/>
      <p:regular r:id="rId28"/>
      <p:bold r:id="rId29"/>
      <p:italic r:id="rId30"/>
      <p:boldItalic r:id="rId31"/>
    </p:embeddedFont>
    <p:embeddedFont>
      <p:font typeface="Work Sans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ED6"/>
    <a:srgbClr val="C00000"/>
    <a:srgbClr val="F2B73C"/>
    <a:srgbClr val="F4F5F5"/>
    <a:srgbClr val="F2B702"/>
    <a:srgbClr val="FFC000"/>
    <a:srgbClr val="CDDFFD"/>
    <a:srgbClr val="DDE6F4"/>
    <a:srgbClr val="437ED5"/>
    <a:srgbClr val="1C45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C06040-9655-4FA7-A3CD-945342300238}">
  <a:tblStyle styleId="{07C06040-9655-4FA7-A3CD-9453423002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5D41AF-CBA0-4E6F-8025-8586AE215A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0"/>
    <p:restoredTop sz="87360"/>
  </p:normalViewPr>
  <p:slideViewPr>
    <p:cSldViewPr snapToGrid="0">
      <p:cViewPr>
        <p:scale>
          <a:sx n="159" d="100"/>
          <a:sy n="159" d="100"/>
        </p:scale>
        <p:origin x="248" y="18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발표시작하도록</a:t>
            </a:r>
            <a:r>
              <a:rPr lang="ko-KR" altLang="en-US" dirty="0"/>
              <a:t> 하겠습니다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6A9D529A-D8B4-38D7-14E4-0D678194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90cccfa97d_0_0:notes">
            <a:extLst>
              <a:ext uri="{FF2B5EF4-FFF2-40B4-BE49-F238E27FC236}">
                <a16:creationId xmlns:a16="http://schemas.microsoft.com/office/drawing/2014/main" id="{57F6BCC5-1348-AC94-6B5B-8F378EC3A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90cccfa97d_0_0:notes">
            <a:extLst>
              <a:ext uri="{FF2B5EF4-FFF2-40B4-BE49-F238E27FC236}">
                <a16:creationId xmlns:a16="http://schemas.microsoft.com/office/drawing/2014/main" id="{DB37EE53-9720-8975-E5F8-4B8C005C4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시간 관계상 데이터에 대한 설명을 생략하도록 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데이터를 분석하던 중 저희는 </a:t>
            </a:r>
            <a:r>
              <a:rPr lang="en-US" altLang="ko-KR" dirty="0"/>
              <a:t>3</a:t>
            </a:r>
            <a:r>
              <a:rPr lang="ko-KR" altLang="en-US" dirty="0"/>
              <a:t>가지 주요 쟁점을 발견할 수 있었습니다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첫째</a:t>
            </a:r>
            <a:r>
              <a:rPr lang="en-US" altLang="ko-KR" dirty="0"/>
              <a:t>,</a:t>
            </a:r>
            <a:r>
              <a:rPr lang="ko-KR" altLang="en-US" dirty="0"/>
              <a:t> 도메인에 특화된 전문 용어를 다수 포함하고 있어 일반적인 기계학습 기법이나 </a:t>
            </a:r>
            <a:r>
              <a:rPr lang="ko-KR" altLang="en-US" dirty="0" err="1"/>
              <a:t>토크나이저로는</a:t>
            </a:r>
            <a:r>
              <a:rPr lang="ko-KR" altLang="en-US" dirty="0"/>
              <a:t> 특징을 추출하기 어렵습니다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둘째</a:t>
            </a:r>
            <a:r>
              <a:rPr lang="en-US" altLang="ko-KR" dirty="0"/>
              <a:t>,</a:t>
            </a:r>
            <a:r>
              <a:rPr lang="ko-KR" altLang="en-US" dirty="0"/>
              <a:t> 클래스간 데이터 수 불균형이 심각하여 소수 클래스에 대한 예측이 다수 클래스로 편중될 가능성이 높습니다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IPC</a:t>
            </a:r>
            <a:r>
              <a:rPr lang="ko-KR" altLang="en-US" dirty="0"/>
              <a:t> 소수 클래스는 신기술 탐지 및 특허전략 수립에 중요한 영역이기에 소수 클래스를 올바르게 분류하는 것은 매우 중요합니다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셋째</a:t>
            </a:r>
            <a:r>
              <a:rPr lang="en-US" altLang="ko-KR" dirty="0"/>
              <a:t>,</a:t>
            </a:r>
            <a:r>
              <a:rPr lang="ko-KR" altLang="en-US" dirty="0"/>
              <a:t> 클래스 내 다양한 분야의 용어를 포함하고 클래스 간 동일한 용어와 표현이 다수 중복되기 때문에 클래스 내 변동이 크고</a:t>
            </a:r>
            <a:r>
              <a:rPr lang="en-US" altLang="ko-KR" dirty="0"/>
              <a:t>,</a:t>
            </a:r>
            <a:r>
              <a:rPr lang="ko-KR" altLang="en-US" dirty="0"/>
              <a:t> 클래스 간 차이가 작아 분류에 어려움이 있습니다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15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42E75782-90E4-6276-A698-8D092107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90cccfa97d_0_0:notes">
            <a:extLst>
              <a:ext uri="{FF2B5EF4-FFF2-40B4-BE49-F238E27FC236}">
                <a16:creationId xmlns:a16="http://schemas.microsoft.com/office/drawing/2014/main" id="{7C40E99D-826C-B99C-27AE-496BCA5BE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90cccfa97d_0_0:notes">
            <a:extLst>
              <a:ext uri="{FF2B5EF4-FFF2-40B4-BE49-F238E27FC236}">
                <a16:creationId xmlns:a16="http://schemas.microsoft.com/office/drawing/2014/main" id="{40D26632-8E0F-C36F-FC68-D6F698890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이와 같은 데이터의 주요 쟁점을 해결하기 위해 저희는 </a:t>
            </a:r>
            <a:r>
              <a:rPr lang="en-US" altLang="ko-KR" dirty="0" err="1"/>
              <a:t>KorPatBERT</a:t>
            </a:r>
            <a:r>
              <a:rPr lang="ko-KR" altLang="en-US" dirty="0"/>
              <a:t>와 </a:t>
            </a:r>
            <a:r>
              <a:rPr lang="en-US" altLang="ko-KR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활용한 </a:t>
            </a:r>
            <a:r>
              <a:rPr lang="en-US" altLang="ko-KR" dirty="0"/>
              <a:t>KNN</a:t>
            </a:r>
            <a:r>
              <a:rPr lang="ko-KR" altLang="en-US" dirty="0"/>
              <a:t> 기반 </a:t>
            </a:r>
            <a:r>
              <a:rPr lang="en-US" altLang="ko-KR" dirty="0"/>
              <a:t>IPC</a:t>
            </a:r>
            <a:r>
              <a:rPr lang="ko-KR" altLang="en-US" dirty="0"/>
              <a:t> 자동분류 모델을 제안합니다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하나씩 살펴 보도록 하겠습니다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0466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FA430774-C4B9-6758-FA92-E20C6F95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90cccfa97d_0_0:notes">
            <a:extLst>
              <a:ext uri="{FF2B5EF4-FFF2-40B4-BE49-F238E27FC236}">
                <a16:creationId xmlns:a16="http://schemas.microsoft.com/office/drawing/2014/main" id="{FFE25785-436F-3B8B-3794-3182C400F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90cccfa97d_0_0:notes">
            <a:extLst>
              <a:ext uri="{FF2B5EF4-FFF2-40B4-BE49-F238E27FC236}">
                <a16:creationId xmlns:a16="http://schemas.microsoft.com/office/drawing/2014/main" id="{B16FD70F-B55A-322D-8E14-45C85A58C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먼저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KorPatBERT</a:t>
            </a:r>
            <a:r>
              <a:rPr lang="ko-KR" altLang="en-US" dirty="0"/>
              <a:t>란 한국 특허 정보원에서 제공한 </a:t>
            </a:r>
            <a:r>
              <a:rPr lang="en-US" altLang="ko-KR" dirty="0"/>
              <a:t>BERT</a:t>
            </a:r>
            <a:r>
              <a:rPr lang="ko-KR" altLang="en-US" dirty="0"/>
              <a:t> 기반의 특허 문헌 특화 자연어 처리 모델입니다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1000</a:t>
            </a:r>
            <a:r>
              <a:rPr lang="ko-KR" altLang="en-US" dirty="0"/>
              <a:t>만개 이상의 특허 문헌의 전문 용어를 학습했기에 도메인에 특화된 전문 용어를 다수 포함한다는 데이터의 한계점을 극복할 수 있을 것으로 기대합니다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2851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>
          <a:extLst>
            <a:ext uri="{FF2B5EF4-FFF2-40B4-BE49-F238E27FC236}">
              <a16:creationId xmlns:a16="http://schemas.microsoft.com/office/drawing/2014/main" id="{2D9AE1AB-73F3-576A-0575-39169237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90cccfa97d_0_0:notes">
            <a:extLst>
              <a:ext uri="{FF2B5EF4-FFF2-40B4-BE49-F238E27FC236}">
                <a16:creationId xmlns:a16="http://schemas.microsoft.com/office/drawing/2014/main" id="{9ABA7B33-1705-E688-1159-67E6BF5D86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90cccfa97d_0_0:notes">
            <a:extLst>
              <a:ext uri="{FF2B5EF4-FFF2-40B4-BE49-F238E27FC236}">
                <a16:creationId xmlns:a16="http://schemas.microsoft.com/office/drawing/2014/main" id="{E32BAB1E-8735-DAAC-73A5-576FC1D17D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다음으로 </a:t>
            </a:r>
            <a:r>
              <a:rPr lang="en-US" altLang="ko-KR" dirty="0" err="1"/>
              <a:t>CenterLoss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CenterLoss</a:t>
            </a:r>
            <a:r>
              <a:rPr lang="ko-KR" altLang="en-US" dirty="0"/>
              <a:t>는 </a:t>
            </a:r>
            <a:r>
              <a:rPr lang="en-US" altLang="ko-KR" dirty="0"/>
              <a:t>KNN</a:t>
            </a:r>
            <a:r>
              <a:rPr lang="ko-KR" altLang="en-US" dirty="0" err="1"/>
              <a:t>에</a:t>
            </a:r>
            <a:r>
              <a:rPr lang="ko-KR" altLang="en-US" dirty="0"/>
              <a:t> 군집화를 접목하여 클래스 내 분산을 최소화하고 클래스 간 분별력을 향상시켜 객체 탐지에서 주로 사용되는 </a:t>
            </a:r>
            <a:r>
              <a:rPr lang="ko-KR" altLang="en-US" dirty="0" err="1"/>
              <a:t>유클래드</a:t>
            </a:r>
            <a:r>
              <a:rPr lang="ko-KR" altLang="en-US" dirty="0"/>
              <a:t> 거리 기반의 손실함수 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이를 통해 데이터의 클래스의 변동성 문제를 해결할 수 있을 것으로 기대하며 군집 중심과의 거리를 통해 분류를 수행하기에 클래스 불균형 문제 또한 적절히 보완할 수 있을 것으로 예상합니다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이때</a:t>
            </a:r>
            <a:r>
              <a:rPr lang="en-US" altLang="ko-KR" dirty="0"/>
              <a:t>,</a:t>
            </a:r>
            <a:r>
              <a:rPr lang="ko-KR" altLang="en-US" dirty="0"/>
              <a:t> 어떻게 객체탐지에서 주로 사용되는 </a:t>
            </a:r>
            <a:r>
              <a:rPr lang="en-US" altLang="ko-KR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자연어 처리 모델인 </a:t>
            </a:r>
            <a:r>
              <a:rPr lang="en-US" altLang="ko-KR" dirty="0" err="1"/>
              <a:t>KorPatBERT</a:t>
            </a:r>
            <a:r>
              <a:rPr lang="ko-KR" altLang="en-US" dirty="0" err="1"/>
              <a:t>에</a:t>
            </a:r>
            <a:r>
              <a:rPr lang="ko-KR" altLang="en-US" dirty="0"/>
              <a:t> 적용하였는지 모델링 과정을 단계적으로 설명해드리겠습니다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7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DF16763A-736E-04CA-55AF-522F5468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82ce2bb132_0_1153:notes">
            <a:extLst>
              <a:ext uri="{FF2B5EF4-FFF2-40B4-BE49-F238E27FC236}">
                <a16:creationId xmlns:a16="http://schemas.microsoft.com/office/drawing/2014/main" id="{9DF8EA58-74E5-512A-4F4F-0D82E270F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82ce2bb132_0_1153:notes">
            <a:extLst>
              <a:ext uri="{FF2B5EF4-FFF2-40B4-BE49-F238E27FC236}">
                <a16:creationId xmlns:a16="http://schemas.microsoft.com/office/drawing/2014/main" id="{936976A6-2E3B-44A4-5667-B25754682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116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5E5702D1-0994-22A2-732E-B12E4436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7970F69C-ABD3-94AA-FC5C-48C3393BF5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A8658D06-C12E-39BB-967B-31F1A14A5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(23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이 결과는 기존의 선행 연구에서 사용된 기계 학습 알고리즘에 비해 최소 </a:t>
            </a:r>
            <a:r>
              <a:rPr lang="en-US" altLang="ko-KR" dirty="0"/>
              <a:t>8%</a:t>
            </a:r>
            <a:r>
              <a:rPr lang="ko-KR" altLang="en-US" dirty="0"/>
              <a:t>에서 최대 </a:t>
            </a:r>
            <a:r>
              <a:rPr lang="en-US" altLang="ko-KR" dirty="0"/>
              <a:t>16%</a:t>
            </a:r>
            <a:r>
              <a:rPr lang="ko-KR" altLang="en-US" dirty="0"/>
              <a:t>까지 향상된 수치입니다</a:t>
            </a:r>
            <a:r>
              <a:rPr lang="en-US" altLang="ko-KR" dirty="0"/>
              <a:t>.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동일한 </a:t>
            </a:r>
            <a:r>
              <a:rPr lang="en" dirty="0"/>
              <a:t>BERT </a:t>
            </a:r>
            <a:r>
              <a:rPr lang="ko-KR" altLang="en-US" dirty="0"/>
              <a:t>기반 아키텍처를 사용한 </a:t>
            </a:r>
            <a:r>
              <a:rPr lang="en" dirty="0" err="1"/>
              <a:t>KoBERT</a:t>
            </a:r>
            <a:r>
              <a:rPr lang="ko-KR" altLang="en-US" dirty="0"/>
              <a:t>보다도 </a:t>
            </a:r>
            <a:r>
              <a:rPr lang="en-US" altLang="ko-KR" dirty="0"/>
              <a:t>4% </a:t>
            </a:r>
            <a:r>
              <a:rPr lang="ko-KR" altLang="en-US" dirty="0"/>
              <a:t>이상 높은 성능을 보이며 </a:t>
            </a:r>
            <a:r>
              <a:rPr lang="ko-KR" altLang="en-US" dirty="0" err="1"/>
              <a:t>아키텍쳐의</a:t>
            </a:r>
            <a:r>
              <a:rPr lang="ko-KR" altLang="en-US" dirty="0"/>
              <a:t> 유효성을 증명하였습니다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과정을 통해 생성된 모델은 </a:t>
            </a:r>
            <a:r>
              <a:rPr lang="en-US" altLang="ko-KR" dirty="0"/>
              <a:t>91.03%</a:t>
            </a:r>
            <a:r>
              <a:rPr lang="ko-KR" altLang="en-US" dirty="0"/>
              <a:t>의 성능을 보이며 이는 다른 기계학습 알고리즘과 동일한 </a:t>
            </a:r>
            <a:r>
              <a:rPr lang="en-US" altLang="ko-KR" dirty="0"/>
              <a:t>BERT</a:t>
            </a:r>
            <a:r>
              <a:rPr lang="ko-KR" altLang="en-US" dirty="0"/>
              <a:t> </a:t>
            </a:r>
            <a:r>
              <a:rPr lang="ko-KR" altLang="en-US" dirty="0" err="1"/>
              <a:t>아키텍쳐의</a:t>
            </a:r>
            <a:r>
              <a:rPr lang="ko-KR" altLang="en-US" dirty="0"/>
              <a:t> </a:t>
            </a:r>
            <a:r>
              <a:rPr lang="en-US" altLang="ko-KR" dirty="0" err="1"/>
              <a:t>KoBERT</a:t>
            </a:r>
            <a:r>
              <a:rPr lang="ko-KR" altLang="en-US" dirty="0"/>
              <a:t>보다도 더 높은 성능을 보입니다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0478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18AF43EB-6F5E-EB14-41B7-2E6F0214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DE6F6800-D679-E6B9-BD8F-4EA8C0F19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57796912-3968-1BEE-1962-14E14BFC4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데이터의 쟁점을 해결하기 위해 적용하였던 </a:t>
            </a:r>
            <a:r>
              <a:rPr lang="en-US" altLang="ko-KR" dirty="0" err="1"/>
              <a:t>KorPatBERT</a:t>
            </a:r>
            <a:r>
              <a:rPr lang="ko-KR" altLang="en-US" dirty="0"/>
              <a:t>와 </a:t>
            </a:r>
            <a:r>
              <a:rPr lang="en-US" altLang="ko-KR" dirty="0" err="1"/>
              <a:t>CenterLoss</a:t>
            </a:r>
            <a:r>
              <a:rPr lang="ko-KR" altLang="en-US" dirty="0"/>
              <a:t>의 적용에 따른 차이를 비교해보겠습니다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동일한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파라미터로 비교하였을 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2882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C278A643-8818-8740-8559-7FB897A4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245A1D99-E038-8234-EEAD-C52F2E740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881FFF86-359E-EF3A-8DA6-EE86ECB00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KoBERT</a:t>
            </a:r>
            <a:r>
              <a:rPr lang="ko-KR" altLang="en-US" dirty="0"/>
              <a:t>와 </a:t>
            </a:r>
            <a:r>
              <a:rPr lang="en-US" altLang="ko-KR" dirty="0" err="1"/>
              <a:t>KorPatBERT</a:t>
            </a:r>
            <a:r>
              <a:rPr lang="ko-KR" altLang="en-US" dirty="0"/>
              <a:t> 모두 </a:t>
            </a:r>
            <a:r>
              <a:rPr lang="en-US" altLang="ko-KR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적용하였을 때 정확도가 상승하였으며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7360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A2EB8B2E-8BCB-5000-A116-D352852E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DA1256D8-0EC4-78F4-13E4-3280B84C1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8BEF6382-582B-A60A-0CEC-CA6F6512B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KorPatBERT</a:t>
            </a:r>
            <a:r>
              <a:rPr lang="ko-KR" altLang="en-US" dirty="0"/>
              <a:t>가 </a:t>
            </a:r>
            <a:r>
              <a:rPr lang="en-US" altLang="ko-KR" dirty="0" err="1"/>
              <a:t>KoBERT</a:t>
            </a:r>
            <a:r>
              <a:rPr lang="ko-KR" altLang="en-US" dirty="0" err="1"/>
              <a:t>를</a:t>
            </a:r>
            <a:r>
              <a:rPr lang="ko-KR" altLang="en-US" dirty="0"/>
              <a:t> 적용하였을 때 보다 더 높은 성능을 보임을 통해 적용한 두 방법 모두 유효함을 확인할 수 있습니다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7549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0EB80F1E-006F-52DE-9D2F-EC20866C0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E8F13528-7671-B53B-BC37-D80070852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2CABF68C-9931-E2F3-6408-7CB2721B9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또한 </a:t>
            </a:r>
            <a:r>
              <a:rPr lang="en-US" altLang="ko-KR" dirty="0" err="1"/>
              <a:t>KoBERT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적용한 것 보다 </a:t>
            </a:r>
            <a:r>
              <a:rPr lang="en-US" altLang="ko-KR" dirty="0" err="1"/>
              <a:t>KorPatBERT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적용하였을 때 더 큰 성능 향상을 보임을 통해 클래스 불균형 문제를 효과적으로 해결하여 시너지 효과가 발휘됨을 확인할 수 있습니다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0082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ADF05571-95A4-DF30-F6AA-1C7A736F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7E874A12-1098-292B-9807-72B7D652F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B76FB5DE-8971-FB31-0D24-26AA56CB7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(35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en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적용한 효과는 </a:t>
            </a:r>
            <a:r>
              <a:rPr lang="en" dirty="0"/>
              <a:t>IPC </a:t>
            </a:r>
            <a:r>
              <a:rPr lang="ko-KR" altLang="en-US" dirty="0"/>
              <a:t>자동분류에서 중요한 소수 클래스의 </a:t>
            </a:r>
            <a:r>
              <a:rPr lang="ko-KR" altLang="en-US" dirty="0" err="1"/>
              <a:t>재현율</a:t>
            </a:r>
            <a:r>
              <a:rPr lang="ko-KR" altLang="en-US" dirty="0"/>
              <a:t> 비교 시 더욱 더 두드러집니다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 수에서 다수 클래스와 </a:t>
            </a:r>
            <a:r>
              <a:rPr lang="en-US" altLang="ko-KR" dirty="0"/>
              <a:t>8</a:t>
            </a:r>
            <a:r>
              <a:rPr lang="ko-KR" altLang="en-US" dirty="0"/>
              <a:t>배 이상의 차이를 보이는 </a:t>
            </a:r>
            <a:r>
              <a:rPr lang="en" dirty="0"/>
              <a:t>G16H</a:t>
            </a:r>
            <a:r>
              <a:rPr lang="ko-KR" altLang="en-US" dirty="0"/>
              <a:t>의 경우</a:t>
            </a:r>
            <a:r>
              <a:rPr lang="en-US" altLang="ko-KR" dirty="0"/>
              <a:t>, </a:t>
            </a:r>
            <a:r>
              <a:rPr lang="en" dirty="0" err="1"/>
              <a:t>CenterLoss</a:t>
            </a:r>
            <a:r>
              <a:rPr lang="ko-KR" altLang="en-US" dirty="0" err="1"/>
              <a:t>를</a:t>
            </a:r>
            <a:r>
              <a:rPr lang="ko-KR" altLang="en-US" dirty="0"/>
              <a:t> 적용하여 재현율을 </a:t>
            </a:r>
            <a:r>
              <a:rPr lang="en-US" altLang="ko-KR" dirty="0"/>
              <a:t>27% </a:t>
            </a:r>
            <a:r>
              <a:rPr lang="ko-KR" altLang="en-US" dirty="0"/>
              <a:t>이상 유의미하게 향상시킬 수 있었습니다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9332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2A802CE8-A2BA-DE89-ECB7-28E83F1D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4_2701:notes">
            <a:extLst>
              <a:ext uri="{FF2B5EF4-FFF2-40B4-BE49-F238E27FC236}">
                <a16:creationId xmlns:a16="http://schemas.microsoft.com/office/drawing/2014/main" id="{53E5E4A2-5EAC-7E58-2DAD-819A22ED9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4_2701:notes">
            <a:extLst>
              <a:ext uri="{FF2B5EF4-FFF2-40B4-BE49-F238E27FC236}">
                <a16:creationId xmlns:a16="http://schemas.microsoft.com/office/drawing/2014/main" id="{64F2FC9C-577E-8502-EB22-A07B8AC72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이와 같은 저희의 모델은 시각화를 통해 군집의 중심</a:t>
            </a:r>
            <a:r>
              <a:rPr lang="en-US" altLang="ko-KR" dirty="0"/>
              <a:t>,</a:t>
            </a:r>
            <a:r>
              <a:rPr lang="ko-KR" altLang="en-US" dirty="0"/>
              <a:t> 데이터의 분포</a:t>
            </a:r>
            <a:r>
              <a:rPr lang="en-US" altLang="ko-KR" dirty="0"/>
              <a:t>,</a:t>
            </a:r>
            <a:r>
              <a:rPr lang="ko-KR" altLang="en-US" dirty="0"/>
              <a:t> 그리고 분류에 영향을 미치는 토큰</a:t>
            </a:r>
            <a:r>
              <a:rPr lang="en-US" altLang="ko-KR" dirty="0"/>
              <a:t>,</a:t>
            </a:r>
            <a:r>
              <a:rPr lang="ko-KR" altLang="en-US" dirty="0"/>
              <a:t> 등을 확인 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이는 본 모델이 단순히 데이터를 분류하는 것 뿐만 아니라 데이터를 분석하고 이상치를 탐색함에도 유용함을 보여줍니다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874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16EE4175-A5F3-7EC5-35B1-B114EF9D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4d99d1a72_0_15:notes">
            <a:extLst>
              <a:ext uri="{FF2B5EF4-FFF2-40B4-BE49-F238E27FC236}">
                <a16:creationId xmlns:a16="http://schemas.microsoft.com/office/drawing/2014/main" id="{5B9F2977-388D-E378-5D6A-269FA7C7E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84d99d1a72_0_15:notes">
            <a:extLst>
              <a:ext uri="{FF2B5EF4-FFF2-40B4-BE49-F238E27FC236}">
                <a16:creationId xmlns:a16="http://schemas.microsoft.com/office/drawing/2014/main" id="{E3FEB733-142B-0AAD-2367-EA5D12636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지금까지 말씀 드렸던 연구내용은 제시된 링크의 </a:t>
            </a:r>
            <a:r>
              <a:rPr lang="en" dirty="0" err="1"/>
              <a:t>Github</a:t>
            </a:r>
            <a:r>
              <a:rPr lang="ko-KR" altLang="en-US" dirty="0"/>
              <a:t>에서 코드와 문서를 확인할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발표를 </a:t>
            </a:r>
            <a:r>
              <a:rPr lang="ko-KR" altLang="en-US" dirty="0" err="1"/>
              <a:t>경청해주셔서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0569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5625" y="1233450"/>
            <a:ext cx="4275600" cy="20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5625" y="3374750"/>
            <a:ext cx="42756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5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465475" y="0"/>
            <a:ext cx="36786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-258796" y="-313530"/>
            <a:ext cx="9762990" cy="5837402"/>
            <a:chOff x="-258796" y="-313530"/>
            <a:chExt cx="9762990" cy="5837402"/>
          </a:xfrm>
        </p:grpSpPr>
        <p:grpSp>
          <p:nvGrpSpPr>
            <p:cNvPr id="24" name="Google Shape;24;p4"/>
            <p:cNvGrpSpPr/>
            <p:nvPr/>
          </p:nvGrpSpPr>
          <p:grpSpPr>
            <a:xfrm flipH="1">
              <a:off x="-258796" y="4715688"/>
              <a:ext cx="1262262" cy="808184"/>
              <a:chOff x="7981650" y="-286963"/>
              <a:chExt cx="1262262" cy="808184"/>
            </a:xfrm>
          </p:grpSpPr>
          <p:sp>
            <p:nvSpPr>
              <p:cNvPr id="25" name="Google Shape;25;p4"/>
              <p:cNvSpPr/>
              <p:nvPr/>
            </p:nvSpPr>
            <p:spPr>
              <a:xfrm>
                <a:off x="8673911" y="-2869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8283074" y="-343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7981650" y="-1296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8;p4"/>
            <p:cNvGrpSpPr/>
            <p:nvPr/>
          </p:nvGrpSpPr>
          <p:grpSpPr>
            <a:xfrm rot="10800000" flipH="1">
              <a:off x="8665570" y="-313530"/>
              <a:ext cx="838623" cy="1175287"/>
              <a:chOff x="8693020" y="3967586"/>
              <a:chExt cx="838623" cy="1175287"/>
            </a:xfrm>
          </p:grpSpPr>
          <p:sp>
            <p:nvSpPr>
              <p:cNvPr id="29" name="Google Shape;29;p4"/>
              <p:cNvSpPr/>
              <p:nvPr/>
            </p:nvSpPr>
            <p:spPr>
              <a:xfrm rot="-5400000" flipH="1">
                <a:off x="8807759" y="455397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 rot="-5400000" flipH="1">
                <a:off x="8709370" y="3951236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 rot="-5400000" flipH="1">
                <a:off x="8993294" y="4256110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-383746" y="143670"/>
            <a:ext cx="9445658" cy="5380326"/>
            <a:chOff x="-383746" y="143670"/>
            <a:chExt cx="9445658" cy="5380326"/>
          </a:xfrm>
        </p:grpSpPr>
        <p:grpSp>
          <p:nvGrpSpPr>
            <p:cNvPr id="50" name="Google Shape;50;p6"/>
            <p:cNvGrpSpPr/>
            <p:nvPr/>
          </p:nvGrpSpPr>
          <p:grpSpPr>
            <a:xfrm>
              <a:off x="7799650" y="4715812"/>
              <a:ext cx="1262262" cy="808184"/>
              <a:chOff x="7981650" y="-363163"/>
              <a:chExt cx="1262262" cy="808184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8673911" y="-3631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6"/>
              <p:cNvSpPr/>
              <p:nvPr/>
            </p:nvSpPr>
            <p:spPr>
              <a:xfrm>
                <a:off x="8283074" y="-1105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7981650" y="-2058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6"/>
            <p:cNvGrpSpPr/>
            <p:nvPr/>
          </p:nvGrpSpPr>
          <p:grpSpPr>
            <a:xfrm rot="5400000" flipH="1">
              <a:off x="-596506" y="356430"/>
              <a:ext cx="1175410" cy="749891"/>
              <a:chOff x="7887568" y="4140150"/>
              <a:chExt cx="1470182" cy="937950"/>
            </a:xfrm>
          </p:grpSpPr>
          <p:sp>
            <p:nvSpPr>
              <p:cNvPr id="55" name="Google Shape;55;p6"/>
              <p:cNvSpPr/>
              <p:nvPr/>
            </p:nvSpPr>
            <p:spPr>
              <a:xfrm>
                <a:off x="7887568" y="4140150"/>
                <a:ext cx="619500" cy="6603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6"/>
              <p:cNvSpPr/>
              <p:nvPr/>
            </p:nvSpPr>
            <p:spPr>
              <a:xfrm>
                <a:off x="8270025" y="4383300"/>
                <a:ext cx="651600" cy="6948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6"/>
              <p:cNvSpPr/>
              <p:nvPr/>
            </p:nvSpPr>
            <p:spPr>
              <a:xfrm>
                <a:off x="8644650" y="4260024"/>
                <a:ext cx="713100" cy="7602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8" name="Google Shape;68;p8"/>
          <p:cNvGrpSpPr/>
          <p:nvPr/>
        </p:nvGrpSpPr>
        <p:grpSpPr>
          <a:xfrm>
            <a:off x="7662500" y="-404738"/>
            <a:ext cx="1262262" cy="808184"/>
            <a:chOff x="7981650" y="-363163"/>
            <a:chExt cx="1262262" cy="808184"/>
          </a:xfrm>
        </p:grpSpPr>
        <p:sp>
          <p:nvSpPr>
            <p:cNvPr id="69" name="Google Shape;69;p8"/>
            <p:cNvSpPr/>
            <p:nvPr/>
          </p:nvSpPr>
          <p:spPr>
            <a:xfrm>
              <a:off x="8673911" y="-363163"/>
              <a:ext cx="570000" cy="607800"/>
            </a:xfrm>
            <a:prstGeom prst="rect">
              <a:avLst/>
            </a:prstGeom>
            <a:solidFill>
              <a:srgbClr val="1C4587">
                <a:alpha val="67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8283074" y="-110579"/>
              <a:ext cx="521100" cy="555600"/>
            </a:xfrm>
            <a:prstGeom prst="rect">
              <a:avLst/>
            </a:prstGeom>
            <a:solidFill>
              <a:srgbClr val="FFFFFF">
                <a:alpha val="43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7981650" y="-205802"/>
              <a:ext cx="495300" cy="528000"/>
            </a:xfrm>
            <a:prstGeom prst="rect">
              <a:avLst/>
            </a:prstGeom>
            <a:solidFill>
              <a:srgbClr val="1C4587">
                <a:alpha val="41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-334996" y="-313530"/>
            <a:ext cx="9559790" cy="5545302"/>
            <a:chOff x="-2746" y="-313530"/>
            <a:chExt cx="9559790" cy="5545302"/>
          </a:xfrm>
        </p:grpSpPr>
        <p:grpSp>
          <p:nvGrpSpPr>
            <p:cNvPr id="76" name="Google Shape;76;p9"/>
            <p:cNvGrpSpPr/>
            <p:nvPr/>
          </p:nvGrpSpPr>
          <p:grpSpPr>
            <a:xfrm rot="10800000">
              <a:off x="-2746" y="-313530"/>
              <a:ext cx="1262262" cy="808184"/>
              <a:chOff x="7981650" y="-286963"/>
              <a:chExt cx="1262262" cy="808184"/>
            </a:xfrm>
          </p:grpSpPr>
          <p:sp>
            <p:nvSpPr>
              <p:cNvPr id="77" name="Google Shape;77;p9"/>
              <p:cNvSpPr/>
              <p:nvPr/>
            </p:nvSpPr>
            <p:spPr>
              <a:xfrm>
                <a:off x="8673911" y="-2869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9"/>
              <p:cNvSpPr/>
              <p:nvPr/>
            </p:nvSpPr>
            <p:spPr>
              <a:xfrm>
                <a:off x="8283074" y="-343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9"/>
              <p:cNvSpPr/>
              <p:nvPr/>
            </p:nvSpPr>
            <p:spPr>
              <a:xfrm>
                <a:off x="7981650" y="-1296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80;p9"/>
            <p:cNvGrpSpPr/>
            <p:nvPr/>
          </p:nvGrpSpPr>
          <p:grpSpPr>
            <a:xfrm>
              <a:off x="8718420" y="4056486"/>
              <a:ext cx="838623" cy="1175287"/>
              <a:chOff x="8718420" y="4056486"/>
              <a:chExt cx="838623" cy="1175287"/>
            </a:xfrm>
          </p:grpSpPr>
          <p:sp>
            <p:nvSpPr>
              <p:cNvPr id="81" name="Google Shape;81;p9"/>
              <p:cNvSpPr/>
              <p:nvPr/>
            </p:nvSpPr>
            <p:spPr>
              <a:xfrm rot="-5400000" flipH="1">
                <a:off x="8833159" y="464287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9"/>
              <p:cNvSpPr/>
              <p:nvPr/>
            </p:nvSpPr>
            <p:spPr>
              <a:xfrm rot="-5400000" flipH="1">
                <a:off x="8734770" y="4040136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9"/>
              <p:cNvSpPr/>
              <p:nvPr/>
            </p:nvSpPr>
            <p:spPr>
              <a:xfrm rot="-5400000" flipH="1">
                <a:off x="9018694" y="4345010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24" name="Google Shape;124;p14"/>
          <p:cNvGrpSpPr/>
          <p:nvPr/>
        </p:nvGrpSpPr>
        <p:grpSpPr>
          <a:xfrm rot="10800000">
            <a:off x="-282983" y="-220534"/>
            <a:ext cx="9647720" cy="5750018"/>
            <a:chOff x="-206783" y="-220534"/>
            <a:chExt cx="9647720" cy="5750018"/>
          </a:xfrm>
        </p:grpSpPr>
        <p:grpSp>
          <p:nvGrpSpPr>
            <p:cNvPr id="125" name="Google Shape;125;p14"/>
            <p:cNvGrpSpPr/>
            <p:nvPr/>
          </p:nvGrpSpPr>
          <p:grpSpPr>
            <a:xfrm rot="5400000" flipH="1">
              <a:off x="8337629" y="-57954"/>
              <a:ext cx="1265887" cy="940727"/>
              <a:chOff x="6430424" y="2391409"/>
              <a:chExt cx="1265887" cy="940727"/>
            </a:xfrm>
          </p:grpSpPr>
          <p:sp>
            <p:nvSpPr>
              <p:cNvPr id="126" name="Google Shape;126;p14"/>
              <p:cNvSpPr/>
              <p:nvPr/>
            </p:nvSpPr>
            <p:spPr>
              <a:xfrm>
                <a:off x="6853837" y="2804135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7175211" y="239140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6430424" y="2448649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14"/>
            <p:cNvGrpSpPr/>
            <p:nvPr/>
          </p:nvGrpSpPr>
          <p:grpSpPr>
            <a:xfrm flipH="1">
              <a:off x="-206783" y="4721299"/>
              <a:ext cx="1262262" cy="808184"/>
              <a:chOff x="7981650" y="-363163"/>
              <a:chExt cx="1262262" cy="808184"/>
            </a:xfrm>
          </p:grpSpPr>
          <p:sp>
            <p:nvSpPr>
              <p:cNvPr id="130" name="Google Shape;130;p14"/>
              <p:cNvSpPr/>
              <p:nvPr/>
            </p:nvSpPr>
            <p:spPr>
              <a:xfrm>
                <a:off x="8673911" y="-3631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8283074" y="-1105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7981650" y="-2058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35" name="Google Shape;135;p15"/>
          <p:cNvGrpSpPr/>
          <p:nvPr/>
        </p:nvGrpSpPr>
        <p:grpSpPr>
          <a:xfrm>
            <a:off x="-91646" y="-313530"/>
            <a:ext cx="9623290" cy="5545302"/>
            <a:chOff x="-91646" y="-313530"/>
            <a:chExt cx="9623290" cy="5545302"/>
          </a:xfrm>
        </p:grpSpPr>
        <p:grpSp>
          <p:nvGrpSpPr>
            <p:cNvPr id="136" name="Google Shape;136;p15"/>
            <p:cNvGrpSpPr/>
            <p:nvPr/>
          </p:nvGrpSpPr>
          <p:grpSpPr>
            <a:xfrm rot="10800000">
              <a:off x="-91646" y="-313530"/>
              <a:ext cx="1262262" cy="808184"/>
              <a:chOff x="8070550" y="-286963"/>
              <a:chExt cx="1262262" cy="808184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8762811" y="-2869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8371974" y="-343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8070550" y="-1296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" name="Google Shape;140;p15"/>
            <p:cNvGrpSpPr/>
            <p:nvPr/>
          </p:nvGrpSpPr>
          <p:grpSpPr>
            <a:xfrm>
              <a:off x="8788859" y="4056486"/>
              <a:ext cx="742784" cy="1175287"/>
              <a:chOff x="8788859" y="4056486"/>
              <a:chExt cx="742784" cy="1175287"/>
            </a:xfrm>
          </p:grpSpPr>
          <p:sp>
            <p:nvSpPr>
              <p:cNvPr id="141" name="Google Shape;141;p15"/>
              <p:cNvSpPr/>
              <p:nvPr/>
            </p:nvSpPr>
            <p:spPr>
              <a:xfrm rot="-5400000" flipH="1">
                <a:off x="8807759" y="464287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 rot="-5400000" flipH="1">
                <a:off x="8861770" y="4040136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 rot="-5400000" flipH="1">
                <a:off x="8993294" y="4345010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subTitle" idx="1"/>
          </p:nvPr>
        </p:nvSpPr>
        <p:spPr>
          <a:xfrm>
            <a:off x="796200" y="2244398"/>
            <a:ext cx="2175300" cy="166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2"/>
          </p:nvPr>
        </p:nvSpPr>
        <p:spPr>
          <a:xfrm>
            <a:off x="3522450" y="2244400"/>
            <a:ext cx="2175300" cy="166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subTitle" idx="3"/>
          </p:nvPr>
        </p:nvSpPr>
        <p:spPr>
          <a:xfrm>
            <a:off x="6248700" y="2244398"/>
            <a:ext cx="2175300" cy="166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subTitle" idx="4"/>
          </p:nvPr>
        </p:nvSpPr>
        <p:spPr>
          <a:xfrm>
            <a:off x="796200" y="1812002"/>
            <a:ext cx="2175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5"/>
          </p:nvPr>
        </p:nvSpPr>
        <p:spPr>
          <a:xfrm>
            <a:off x="3522450" y="1812002"/>
            <a:ext cx="2175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6"/>
          </p:nvPr>
        </p:nvSpPr>
        <p:spPr>
          <a:xfrm>
            <a:off x="6248700" y="1812002"/>
            <a:ext cx="21753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grpSp>
        <p:nvGrpSpPr>
          <p:cNvPr id="152" name="Google Shape;152;p16"/>
          <p:cNvGrpSpPr/>
          <p:nvPr/>
        </p:nvGrpSpPr>
        <p:grpSpPr>
          <a:xfrm flipH="1">
            <a:off x="-307083" y="-144334"/>
            <a:ext cx="9647720" cy="5673818"/>
            <a:chOff x="-206783" y="-144334"/>
            <a:chExt cx="9647720" cy="5673818"/>
          </a:xfrm>
        </p:grpSpPr>
        <p:grpSp>
          <p:nvGrpSpPr>
            <p:cNvPr id="153" name="Google Shape;153;p16"/>
            <p:cNvGrpSpPr/>
            <p:nvPr/>
          </p:nvGrpSpPr>
          <p:grpSpPr>
            <a:xfrm rot="5400000" flipH="1">
              <a:off x="8337629" y="18246"/>
              <a:ext cx="1265887" cy="940727"/>
              <a:chOff x="6354224" y="2391409"/>
              <a:chExt cx="1265887" cy="940727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6777637" y="2804135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7099011" y="239140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6354224" y="2448649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16"/>
            <p:cNvGrpSpPr/>
            <p:nvPr/>
          </p:nvGrpSpPr>
          <p:grpSpPr>
            <a:xfrm flipH="1">
              <a:off x="-206783" y="4721299"/>
              <a:ext cx="1262262" cy="808184"/>
              <a:chOff x="7981650" y="-363163"/>
              <a:chExt cx="1262262" cy="808184"/>
            </a:xfrm>
          </p:grpSpPr>
          <p:sp>
            <p:nvSpPr>
              <p:cNvPr id="158" name="Google Shape;158;p16"/>
              <p:cNvSpPr/>
              <p:nvPr/>
            </p:nvSpPr>
            <p:spPr>
              <a:xfrm>
                <a:off x="8673911" y="-3631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8283074" y="-1105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7981650" y="-2058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1"/>
          <p:cNvGrpSpPr/>
          <p:nvPr/>
        </p:nvGrpSpPr>
        <p:grpSpPr>
          <a:xfrm>
            <a:off x="-206783" y="-144334"/>
            <a:ext cx="9571520" cy="5673818"/>
            <a:chOff x="-206783" y="-144334"/>
            <a:chExt cx="9571520" cy="5673818"/>
          </a:xfrm>
        </p:grpSpPr>
        <p:grpSp>
          <p:nvGrpSpPr>
            <p:cNvPr id="218" name="Google Shape;218;p21"/>
            <p:cNvGrpSpPr/>
            <p:nvPr/>
          </p:nvGrpSpPr>
          <p:grpSpPr>
            <a:xfrm rot="5400000" flipH="1">
              <a:off x="8261429" y="18246"/>
              <a:ext cx="1265887" cy="940727"/>
              <a:chOff x="6354224" y="2467609"/>
              <a:chExt cx="1265887" cy="940727"/>
            </a:xfrm>
          </p:grpSpPr>
          <p:sp>
            <p:nvSpPr>
              <p:cNvPr id="219" name="Google Shape;219;p21"/>
              <p:cNvSpPr/>
              <p:nvPr/>
            </p:nvSpPr>
            <p:spPr>
              <a:xfrm>
                <a:off x="6777637" y="2880335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1"/>
              <p:cNvSpPr/>
              <p:nvPr/>
            </p:nvSpPr>
            <p:spPr>
              <a:xfrm>
                <a:off x="7099011" y="246760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1"/>
              <p:cNvSpPr/>
              <p:nvPr/>
            </p:nvSpPr>
            <p:spPr>
              <a:xfrm>
                <a:off x="6354224" y="2524849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21"/>
            <p:cNvGrpSpPr/>
            <p:nvPr/>
          </p:nvGrpSpPr>
          <p:grpSpPr>
            <a:xfrm flipH="1">
              <a:off x="-206783" y="4721299"/>
              <a:ext cx="1262262" cy="808184"/>
              <a:chOff x="7981650" y="-363163"/>
              <a:chExt cx="1262262" cy="808184"/>
            </a:xfrm>
          </p:grpSpPr>
          <p:sp>
            <p:nvSpPr>
              <p:cNvPr id="223" name="Google Shape;223;p21"/>
              <p:cNvSpPr/>
              <p:nvPr/>
            </p:nvSpPr>
            <p:spPr>
              <a:xfrm>
                <a:off x="8673911" y="-3631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1"/>
              <p:cNvSpPr/>
              <p:nvPr/>
            </p:nvSpPr>
            <p:spPr>
              <a:xfrm>
                <a:off x="8283074" y="-1105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7981650" y="-2058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2"/>
          <p:cNvGrpSpPr/>
          <p:nvPr/>
        </p:nvGrpSpPr>
        <p:grpSpPr>
          <a:xfrm>
            <a:off x="-334996" y="-313530"/>
            <a:ext cx="9534390" cy="5456402"/>
            <a:chOff x="-2746" y="-313530"/>
            <a:chExt cx="9534390" cy="5456402"/>
          </a:xfrm>
        </p:grpSpPr>
        <p:grpSp>
          <p:nvGrpSpPr>
            <p:cNvPr id="228" name="Google Shape;228;p22"/>
            <p:cNvGrpSpPr/>
            <p:nvPr/>
          </p:nvGrpSpPr>
          <p:grpSpPr>
            <a:xfrm rot="10800000">
              <a:off x="-2746" y="-313530"/>
              <a:ext cx="1262262" cy="808184"/>
              <a:chOff x="7981650" y="-286963"/>
              <a:chExt cx="1262262" cy="808184"/>
            </a:xfrm>
          </p:grpSpPr>
          <p:sp>
            <p:nvSpPr>
              <p:cNvPr id="229" name="Google Shape;229;p22"/>
              <p:cNvSpPr/>
              <p:nvPr/>
            </p:nvSpPr>
            <p:spPr>
              <a:xfrm>
                <a:off x="8673911" y="-28696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2"/>
              <p:cNvSpPr/>
              <p:nvPr/>
            </p:nvSpPr>
            <p:spPr>
              <a:xfrm>
                <a:off x="8283074" y="-34379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2"/>
              <p:cNvSpPr/>
              <p:nvPr/>
            </p:nvSpPr>
            <p:spPr>
              <a:xfrm>
                <a:off x="7981650" y="-129602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22"/>
            <p:cNvGrpSpPr/>
            <p:nvPr/>
          </p:nvGrpSpPr>
          <p:grpSpPr>
            <a:xfrm>
              <a:off x="8693020" y="3967586"/>
              <a:ext cx="838623" cy="1175287"/>
              <a:chOff x="8693020" y="3967586"/>
              <a:chExt cx="838623" cy="1175287"/>
            </a:xfrm>
          </p:grpSpPr>
          <p:sp>
            <p:nvSpPr>
              <p:cNvPr id="233" name="Google Shape;233;p22"/>
              <p:cNvSpPr/>
              <p:nvPr/>
            </p:nvSpPr>
            <p:spPr>
              <a:xfrm rot="-5400000" flipH="1">
                <a:off x="8807759" y="4553973"/>
                <a:ext cx="570000" cy="6078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2"/>
              <p:cNvSpPr/>
              <p:nvPr/>
            </p:nvSpPr>
            <p:spPr>
              <a:xfrm rot="-5400000" flipH="1">
                <a:off x="8709370" y="3951236"/>
                <a:ext cx="495300" cy="5280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2"/>
              <p:cNvSpPr/>
              <p:nvPr/>
            </p:nvSpPr>
            <p:spPr>
              <a:xfrm rot="-5400000" flipH="1">
                <a:off x="8993294" y="4256110"/>
                <a:ext cx="521100" cy="5556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1" r:id="rId9"/>
    <p:sldLayoutId id="2147483662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github.com/jaewonE/KorPatBERT-CenterLos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>
            <a:spLocks noGrp="1"/>
          </p:cNvSpPr>
          <p:nvPr>
            <p:ph type="ctrTitle"/>
          </p:nvPr>
        </p:nvSpPr>
        <p:spPr>
          <a:xfrm>
            <a:off x="1587925" y="1927411"/>
            <a:ext cx="6274122" cy="11098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KorPatBERT</a:t>
            </a:r>
            <a:r>
              <a:rPr lang="ko-KR" altLang="en-US" sz="2800" dirty="0">
                <a:solidFill>
                  <a:schemeClr val="accent1"/>
                </a:solidFill>
                <a:latin typeface="+mj-ea"/>
                <a:ea typeface="+mj-ea"/>
              </a:rPr>
              <a:t>와 </a:t>
            </a:r>
            <a:r>
              <a:rPr lang="en-US" altLang="ko-KR" sz="2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CenterLoss</a:t>
            </a:r>
            <a:r>
              <a:rPr lang="ko-KR" altLang="en-US" sz="2800" dirty="0">
                <a:solidFill>
                  <a:schemeClr val="accent1"/>
                </a:solidFill>
                <a:latin typeface="+mj-ea"/>
                <a:ea typeface="+mj-ea"/>
              </a:rPr>
              <a:t>를 활용한 </a:t>
            </a:r>
            <a:br>
              <a:rPr lang="en-US" altLang="ko-KR" sz="2800" dirty="0">
                <a:solidFill>
                  <a:schemeClr val="accent1"/>
                </a:solidFill>
                <a:latin typeface="+mj-ea"/>
                <a:ea typeface="+mj-ea"/>
              </a:rPr>
            </a:br>
            <a:r>
              <a:rPr lang="en-US" altLang="ko-KR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KNN</a:t>
            </a:r>
            <a:r>
              <a:rPr lang="en-US" altLang="ko-KR" sz="28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800" dirty="0">
                <a:solidFill>
                  <a:schemeClr val="accent1"/>
                </a:solidFill>
                <a:latin typeface="+mj-ea"/>
                <a:ea typeface="+mj-ea"/>
              </a:rPr>
              <a:t>기반 </a:t>
            </a:r>
            <a:r>
              <a:rPr lang="en-US" altLang="ko-KR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IPC</a:t>
            </a:r>
            <a:r>
              <a:rPr lang="en-US" altLang="ko-KR" sz="2800" dirty="0">
                <a:solidFill>
                  <a:schemeClr val="accent1"/>
                </a:solidFill>
                <a:latin typeface="+mj-ea"/>
                <a:ea typeface="+mj-ea"/>
              </a:rPr>
              <a:t> </a:t>
            </a:r>
            <a:r>
              <a:rPr lang="ko-KR" altLang="en-US" sz="2800" dirty="0">
                <a:solidFill>
                  <a:schemeClr val="accent1"/>
                </a:solidFill>
                <a:latin typeface="+mj-ea"/>
                <a:ea typeface="+mj-ea"/>
              </a:rPr>
              <a:t>자동분류 연구</a:t>
            </a:r>
            <a:endParaRPr sz="2000" b="0" dirty="0">
              <a:latin typeface="+mj-ea"/>
              <a:ea typeface="+mj-ea"/>
            </a:endParaRPr>
          </a:p>
        </p:txBody>
      </p:sp>
      <p:sp>
        <p:nvSpPr>
          <p:cNvPr id="248" name="Google Shape;248;p26"/>
          <p:cNvSpPr txBox="1">
            <a:spLocks noGrp="1"/>
          </p:cNvSpPr>
          <p:nvPr>
            <p:ph type="subTitle" idx="1"/>
          </p:nvPr>
        </p:nvSpPr>
        <p:spPr>
          <a:xfrm>
            <a:off x="2493361" y="3159598"/>
            <a:ext cx="42756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ea"/>
                <a:ea typeface="+mn-ea"/>
              </a:rPr>
              <a:t>201904008 </a:t>
            </a:r>
            <a:r>
              <a:rPr lang="ko-KR" altLang="en-US" b="1" dirty="0">
                <a:latin typeface="+mn-ea"/>
                <a:ea typeface="+mn-ea"/>
              </a:rPr>
              <a:t>곽재원 </a:t>
            </a:r>
            <a:r>
              <a:rPr lang="en-US" altLang="ko-KR" b="1" dirty="0">
                <a:latin typeface="+mn-ea"/>
                <a:ea typeface="+mn-ea"/>
              </a:rPr>
              <a:t>202104216 </a:t>
            </a:r>
            <a:r>
              <a:rPr lang="ko-KR" altLang="en-US" b="1" dirty="0">
                <a:latin typeface="+mn-ea"/>
                <a:ea typeface="+mn-ea"/>
              </a:rPr>
              <a:t>백종민</a:t>
            </a:r>
            <a:endParaRPr b="1" dirty="0">
              <a:latin typeface="+mn-ea"/>
              <a:ea typeface="+mn-ea"/>
            </a:endParaRPr>
          </a:p>
        </p:txBody>
      </p:sp>
      <p:grpSp>
        <p:nvGrpSpPr>
          <p:cNvPr id="250" name="Google Shape;250;p26"/>
          <p:cNvGrpSpPr/>
          <p:nvPr/>
        </p:nvGrpSpPr>
        <p:grpSpPr>
          <a:xfrm>
            <a:off x="7677950" y="-442138"/>
            <a:ext cx="1340535" cy="5970552"/>
            <a:chOff x="7677950" y="-442138"/>
            <a:chExt cx="1340535" cy="5970552"/>
          </a:xfrm>
        </p:grpSpPr>
        <p:grpSp>
          <p:nvGrpSpPr>
            <p:cNvPr id="251" name="Google Shape;251;p26"/>
            <p:cNvGrpSpPr/>
            <p:nvPr/>
          </p:nvGrpSpPr>
          <p:grpSpPr>
            <a:xfrm>
              <a:off x="7677950" y="-442138"/>
              <a:ext cx="1175410" cy="842137"/>
              <a:chOff x="7887568" y="3921875"/>
              <a:chExt cx="1470182" cy="1053329"/>
            </a:xfrm>
          </p:grpSpPr>
          <p:sp>
            <p:nvSpPr>
              <p:cNvPr id="252" name="Google Shape;252;p26"/>
              <p:cNvSpPr/>
              <p:nvPr/>
            </p:nvSpPr>
            <p:spPr>
              <a:xfrm>
                <a:off x="7887568" y="4140150"/>
                <a:ext cx="619500" cy="6603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6"/>
              <p:cNvSpPr/>
              <p:nvPr/>
            </p:nvSpPr>
            <p:spPr>
              <a:xfrm>
                <a:off x="8270027" y="4383304"/>
                <a:ext cx="651600" cy="5919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6"/>
              <p:cNvSpPr/>
              <p:nvPr/>
            </p:nvSpPr>
            <p:spPr>
              <a:xfrm>
                <a:off x="8644650" y="3921875"/>
                <a:ext cx="713100" cy="7602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26"/>
            <p:cNvGrpSpPr/>
            <p:nvPr/>
          </p:nvGrpSpPr>
          <p:grpSpPr>
            <a:xfrm>
              <a:off x="7843075" y="4604012"/>
              <a:ext cx="1175410" cy="924402"/>
              <a:chOff x="7887568" y="3921875"/>
              <a:chExt cx="1470182" cy="1156225"/>
            </a:xfrm>
          </p:grpSpPr>
          <p:sp>
            <p:nvSpPr>
              <p:cNvPr id="256" name="Google Shape;256;p26"/>
              <p:cNvSpPr/>
              <p:nvPr/>
            </p:nvSpPr>
            <p:spPr>
              <a:xfrm>
                <a:off x="7887568" y="4140150"/>
                <a:ext cx="619500" cy="660300"/>
              </a:xfrm>
              <a:prstGeom prst="rect">
                <a:avLst/>
              </a:prstGeom>
              <a:solidFill>
                <a:srgbClr val="1C4587">
                  <a:alpha val="411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6"/>
              <p:cNvSpPr/>
              <p:nvPr/>
            </p:nvSpPr>
            <p:spPr>
              <a:xfrm>
                <a:off x="8270025" y="4383300"/>
                <a:ext cx="651600" cy="694800"/>
              </a:xfrm>
              <a:prstGeom prst="rect">
                <a:avLst/>
              </a:prstGeom>
              <a:solidFill>
                <a:srgbClr val="FFFFFF">
                  <a:alpha val="43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6"/>
              <p:cNvSpPr/>
              <p:nvPr/>
            </p:nvSpPr>
            <p:spPr>
              <a:xfrm>
                <a:off x="8644650" y="3921875"/>
                <a:ext cx="713100" cy="760200"/>
              </a:xfrm>
              <a:prstGeom prst="rect">
                <a:avLst/>
              </a:prstGeom>
              <a:solidFill>
                <a:srgbClr val="1C4587">
                  <a:alpha val="670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DA755BC3-A292-AC7B-029F-FE833F6F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>
            <a:extLst>
              <a:ext uri="{FF2B5EF4-FFF2-40B4-BE49-F238E27FC236}">
                <a16:creationId xmlns:a16="http://schemas.microsoft.com/office/drawing/2014/main" id="{A3CDEDE3-4C63-0DF0-DDBE-B8B7B8B9B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2976" y="3431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>
                <a:latin typeface="+mj-ea"/>
                <a:ea typeface="+mj-ea"/>
              </a:rPr>
              <a:t>데이터의 주요 쟁점</a:t>
            </a:r>
            <a:endParaRPr sz="2800" dirty="0">
              <a:latin typeface="+mj-ea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15D8A3-B756-1A6B-8D85-3ADC56CEE66A}"/>
              </a:ext>
            </a:extLst>
          </p:cNvPr>
          <p:cNvGrpSpPr/>
          <p:nvPr/>
        </p:nvGrpSpPr>
        <p:grpSpPr>
          <a:xfrm>
            <a:off x="442293" y="1268556"/>
            <a:ext cx="2526940" cy="3272622"/>
            <a:chOff x="442293" y="1268556"/>
            <a:chExt cx="2526940" cy="3272622"/>
          </a:xfrm>
        </p:grpSpPr>
        <p:sp>
          <p:nvSpPr>
            <p:cNvPr id="442" name="Google Shape;442;p39">
              <a:extLst>
                <a:ext uri="{FF2B5EF4-FFF2-40B4-BE49-F238E27FC236}">
                  <a16:creationId xmlns:a16="http://schemas.microsoft.com/office/drawing/2014/main" id="{51412C0C-ED15-910A-A891-1D0413ED1E7E}"/>
                </a:ext>
              </a:extLst>
            </p:cNvPr>
            <p:cNvSpPr txBox="1"/>
            <p:nvPr/>
          </p:nvSpPr>
          <p:spPr>
            <a:xfrm>
              <a:off x="452061" y="1417834"/>
              <a:ext cx="2486347" cy="918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도메인에 </a:t>
              </a:r>
              <a:r>
                <a:rPr lang="ko-KR" altLang="en-US" sz="1800" b="1" dirty="0">
                  <a:solidFill>
                    <a:srgbClr val="C00000"/>
                  </a:solidFill>
                  <a:latin typeface="+mj-ea"/>
                  <a:ea typeface="+mj-ea"/>
                  <a:cs typeface="Poppins Medium"/>
                  <a:sym typeface="Poppins Medium"/>
                </a:rPr>
                <a:t>특화된</a:t>
              </a:r>
              <a:endParaRPr lang="en-US" altLang="ko-KR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전문 용어 다수 포함</a:t>
              </a:r>
              <a:endParaRPr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</p:txBody>
        </p:sp>
        <p:sp>
          <p:nvSpPr>
            <p:cNvPr id="448" name="Google Shape;448;p39">
              <a:extLst>
                <a:ext uri="{FF2B5EF4-FFF2-40B4-BE49-F238E27FC236}">
                  <a16:creationId xmlns:a16="http://schemas.microsoft.com/office/drawing/2014/main" id="{05C1FD04-65D5-295A-C04E-E125AD91403E}"/>
                </a:ext>
              </a:extLst>
            </p:cNvPr>
            <p:cNvSpPr txBox="1"/>
            <p:nvPr/>
          </p:nvSpPr>
          <p:spPr>
            <a:xfrm>
              <a:off x="463172" y="3379086"/>
              <a:ext cx="2506061" cy="116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전문 용어와 긴 문장 구조로 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1" u="sng" dirty="0">
                  <a:solidFill>
                    <a:srgbClr val="C00000"/>
                  </a:solidFill>
                  <a:latin typeface="+mn-ea"/>
                  <a:ea typeface="+mn-ea"/>
                  <a:cs typeface="Work Sans"/>
                  <a:sym typeface="Work Sans"/>
                </a:rPr>
                <a:t>특징 추출 어렵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기에</a:t>
              </a:r>
              <a:r>
                <a:rPr lang="ko-KR" altLang="en-US" sz="1200" b="1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전통적인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Bag-of-Words/TF-IDF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기법 한계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</p:txBody>
        </p:sp>
        <p:grpSp>
          <p:nvGrpSpPr>
            <p:cNvPr id="487" name="Google Shape;487;p39">
              <a:extLst>
                <a:ext uri="{FF2B5EF4-FFF2-40B4-BE49-F238E27FC236}">
                  <a16:creationId xmlns:a16="http://schemas.microsoft.com/office/drawing/2014/main" id="{FA4F7DD2-2B49-AF55-F32F-AFEAFB7DD7B3}"/>
                </a:ext>
              </a:extLst>
            </p:cNvPr>
            <p:cNvGrpSpPr/>
            <p:nvPr/>
          </p:nvGrpSpPr>
          <p:grpSpPr>
            <a:xfrm>
              <a:off x="1284737" y="2491676"/>
              <a:ext cx="693313" cy="693307"/>
              <a:chOff x="4213225" y="3521403"/>
              <a:chExt cx="399800" cy="399797"/>
            </a:xfrm>
            <a:solidFill>
              <a:srgbClr val="EE4B3B"/>
            </a:solidFill>
          </p:grpSpPr>
          <p:sp>
            <p:nvSpPr>
              <p:cNvPr id="488" name="Google Shape;488;p39">
                <a:extLst>
                  <a:ext uri="{FF2B5EF4-FFF2-40B4-BE49-F238E27FC236}">
                    <a16:creationId xmlns:a16="http://schemas.microsoft.com/office/drawing/2014/main" id="{C9CDFCB7-B6A3-3B9D-DD35-4B7797F2FFB8}"/>
                  </a:ext>
                </a:extLst>
              </p:cNvPr>
              <p:cNvSpPr/>
              <p:nvPr/>
            </p:nvSpPr>
            <p:spPr>
              <a:xfrm>
                <a:off x="4261325" y="3591500"/>
                <a:ext cx="351700" cy="329700"/>
              </a:xfrm>
              <a:custGeom>
                <a:avLst/>
                <a:gdLst/>
                <a:ahLst/>
                <a:cxnLst/>
                <a:rect l="l" t="t" r="r" b="b"/>
                <a:pathLst>
                  <a:path w="14068" h="13188" extrusionOk="0">
                    <a:moveTo>
                      <a:pt x="12608" y="1"/>
                    </a:moveTo>
                    <a:lnTo>
                      <a:pt x="12608" y="10383"/>
                    </a:lnTo>
                    <a:cubicBezTo>
                      <a:pt x="12608" y="11148"/>
                      <a:pt x="11959" y="11774"/>
                      <a:pt x="11194" y="11774"/>
                    </a:cubicBezTo>
                    <a:lnTo>
                      <a:pt x="0" y="11774"/>
                    </a:lnTo>
                    <a:lnTo>
                      <a:pt x="0" y="12724"/>
                    </a:lnTo>
                    <a:cubicBezTo>
                      <a:pt x="0" y="12979"/>
                      <a:pt x="209" y="13187"/>
                      <a:pt x="487" y="13187"/>
                    </a:cubicBezTo>
                    <a:lnTo>
                      <a:pt x="13604" y="13187"/>
                    </a:lnTo>
                    <a:cubicBezTo>
                      <a:pt x="13859" y="13187"/>
                      <a:pt x="14068" y="12979"/>
                      <a:pt x="14068" y="12724"/>
                    </a:cubicBezTo>
                    <a:lnTo>
                      <a:pt x="14068" y="464"/>
                    </a:lnTo>
                    <a:cubicBezTo>
                      <a:pt x="14068" y="209"/>
                      <a:pt x="13859" y="1"/>
                      <a:pt x="1360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89" name="Google Shape;489;p39">
                <a:extLst>
                  <a:ext uri="{FF2B5EF4-FFF2-40B4-BE49-F238E27FC236}">
                    <a16:creationId xmlns:a16="http://schemas.microsoft.com/office/drawing/2014/main" id="{8805EDE1-F9CD-7390-CC75-00C437068816}"/>
                  </a:ext>
                </a:extLst>
              </p:cNvPr>
              <p:cNvSpPr/>
              <p:nvPr/>
            </p:nvSpPr>
            <p:spPr>
              <a:xfrm>
                <a:off x="4482650" y="3815150"/>
                <a:ext cx="469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14" extrusionOk="0">
                    <a:moveTo>
                      <a:pt x="0" y="0"/>
                    </a:moveTo>
                    <a:lnTo>
                      <a:pt x="0" y="1414"/>
                    </a:lnTo>
                    <a:lnTo>
                      <a:pt x="187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0" name="Google Shape;490;p39">
                <a:extLst>
                  <a:ext uri="{FF2B5EF4-FFF2-40B4-BE49-F238E27FC236}">
                    <a16:creationId xmlns:a16="http://schemas.microsoft.com/office/drawing/2014/main" id="{F31175E9-0148-B26F-E54A-2F7672801DF0}"/>
                  </a:ext>
                </a:extLst>
              </p:cNvPr>
              <p:cNvSpPr/>
              <p:nvPr/>
            </p:nvSpPr>
            <p:spPr>
              <a:xfrm>
                <a:off x="4505825" y="3826725"/>
                <a:ext cx="46950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38" extrusionOk="0">
                    <a:moveTo>
                      <a:pt x="1878" y="1"/>
                    </a:moveTo>
                    <a:lnTo>
                      <a:pt x="0" y="1438"/>
                    </a:lnTo>
                    <a:lnTo>
                      <a:pt x="1414" y="1438"/>
                    </a:lnTo>
                    <a:cubicBezTo>
                      <a:pt x="1669" y="1438"/>
                      <a:pt x="1878" y="1229"/>
                      <a:pt x="1878" y="974"/>
                    </a:cubicBezTo>
                    <a:lnTo>
                      <a:pt x="187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1" name="Google Shape;491;p39">
                <a:extLst>
                  <a:ext uri="{FF2B5EF4-FFF2-40B4-BE49-F238E27FC236}">
                    <a16:creationId xmlns:a16="http://schemas.microsoft.com/office/drawing/2014/main" id="{307B9D9E-74A1-7DDD-EFC0-ACA54D836AF4}"/>
                  </a:ext>
                </a:extLst>
              </p:cNvPr>
              <p:cNvSpPr/>
              <p:nvPr/>
            </p:nvSpPr>
            <p:spPr>
              <a:xfrm>
                <a:off x="4424125" y="3569500"/>
                <a:ext cx="23200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2782" extrusionOk="0">
                    <a:moveTo>
                      <a:pt x="1" y="0"/>
                    </a:moveTo>
                    <a:lnTo>
                      <a:pt x="1" y="2318"/>
                    </a:lnTo>
                    <a:cubicBezTo>
                      <a:pt x="1" y="2572"/>
                      <a:pt x="209" y="2781"/>
                      <a:pt x="464" y="2781"/>
                    </a:cubicBezTo>
                    <a:cubicBezTo>
                      <a:pt x="719" y="2781"/>
                      <a:pt x="928" y="2572"/>
                      <a:pt x="928" y="2318"/>
                    </a:cubicBezTo>
                    <a:lnTo>
                      <a:pt x="9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2" name="Google Shape;492;p39">
                <a:extLst>
                  <a:ext uri="{FF2B5EF4-FFF2-40B4-BE49-F238E27FC236}">
                    <a16:creationId xmlns:a16="http://schemas.microsoft.com/office/drawing/2014/main" id="{5C7751D7-22C9-FCC4-9766-1FEB95A141B2}"/>
                  </a:ext>
                </a:extLst>
              </p:cNvPr>
              <p:cNvSpPr/>
              <p:nvPr/>
            </p:nvSpPr>
            <p:spPr>
              <a:xfrm>
                <a:off x="4213225" y="3521403"/>
                <a:ext cx="339550" cy="341275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3651" extrusionOk="0">
                    <a:moveTo>
                      <a:pt x="10777" y="7069"/>
                    </a:moveTo>
                    <a:cubicBezTo>
                      <a:pt x="11032" y="7069"/>
                      <a:pt x="11241" y="7277"/>
                      <a:pt x="11241" y="7532"/>
                    </a:cubicBezTo>
                    <a:cubicBezTo>
                      <a:pt x="11241" y="7787"/>
                      <a:pt x="11032" y="7996"/>
                      <a:pt x="10777" y="7996"/>
                    </a:cubicBezTo>
                    <a:lnTo>
                      <a:pt x="3269" y="7996"/>
                    </a:lnTo>
                    <a:cubicBezTo>
                      <a:pt x="3014" y="7996"/>
                      <a:pt x="2805" y="7787"/>
                      <a:pt x="2805" y="7532"/>
                    </a:cubicBezTo>
                    <a:cubicBezTo>
                      <a:pt x="2805" y="7277"/>
                      <a:pt x="3014" y="7069"/>
                      <a:pt x="3269" y="7069"/>
                    </a:cubicBezTo>
                    <a:close/>
                    <a:moveTo>
                      <a:pt x="7023" y="8923"/>
                    </a:moveTo>
                    <a:cubicBezTo>
                      <a:pt x="7278" y="8923"/>
                      <a:pt x="7487" y="9132"/>
                      <a:pt x="7487" y="9410"/>
                    </a:cubicBezTo>
                    <a:cubicBezTo>
                      <a:pt x="7487" y="9665"/>
                      <a:pt x="7278" y="9873"/>
                      <a:pt x="7023" y="9873"/>
                    </a:cubicBezTo>
                    <a:lnTo>
                      <a:pt x="3269" y="9873"/>
                    </a:lnTo>
                    <a:cubicBezTo>
                      <a:pt x="3014" y="9873"/>
                      <a:pt x="2805" y="9665"/>
                      <a:pt x="2805" y="9410"/>
                    </a:cubicBezTo>
                    <a:cubicBezTo>
                      <a:pt x="2805" y="9132"/>
                      <a:pt x="3014" y="8923"/>
                      <a:pt x="3269" y="8923"/>
                    </a:cubicBezTo>
                    <a:close/>
                    <a:moveTo>
                      <a:pt x="10777" y="8923"/>
                    </a:moveTo>
                    <a:cubicBezTo>
                      <a:pt x="11032" y="8923"/>
                      <a:pt x="11241" y="9132"/>
                      <a:pt x="11241" y="9410"/>
                    </a:cubicBezTo>
                    <a:cubicBezTo>
                      <a:pt x="11241" y="9665"/>
                      <a:pt x="11032" y="9873"/>
                      <a:pt x="10777" y="9873"/>
                    </a:cubicBezTo>
                    <a:lnTo>
                      <a:pt x="8900" y="9873"/>
                    </a:lnTo>
                    <a:cubicBezTo>
                      <a:pt x="8645" y="9873"/>
                      <a:pt x="8437" y="9665"/>
                      <a:pt x="8437" y="9410"/>
                    </a:cubicBezTo>
                    <a:cubicBezTo>
                      <a:pt x="8437" y="9132"/>
                      <a:pt x="8645" y="8923"/>
                      <a:pt x="8900" y="8923"/>
                    </a:cubicBezTo>
                    <a:close/>
                    <a:moveTo>
                      <a:pt x="7973" y="10800"/>
                    </a:moveTo>
                    <a:cubicBezTo>
                      <a:pt x="8228" y="10800"/>
                      <a:pt x="8437" y="11009"/>
                      <a:pt x="8437" y="11264"/>
                    </a:cubicBezTo>
                    <a:cubicBezTo>
                      <a:pt x="8437" y="11542"/>
                      <a:pt x="8228" y="11750"/>
                      <a:pt x="7973" y="11750"/>
                    </a:cubicBezTo>
                    <a:lnTo>
                      <a:pt x="3269" y="11750"/>
                    </a:lnTo>
                    <a:cubicBezTo>
                      <a:pt x="3014" y="11750"/>
                      <a:pt x="2805" y="11542"/>
                      <a:pt x="2805" y="11264"/>
                    </a:cubicBezTo>
                    <a:cubicBezTo>
                      <a:pt x="2805" y="11009"/>
                      <a:pt x="3014" y="10800"/>
                      <a:pt x="3269" y="10800"/>
                    </a:cubicBezTo>
                    <a:close/>
                    <a:moveTo>
                      <a:pt x="9364" y="1"/>
                    </a:moveTo>
                    <a:cubicBezTo>
                      <a:pt x="8344" y="1"/>
                      <a:pt x="7487" y="835"/>
                      <a:pt x="7487" y="1878"/>
                    </a:cubicBezTo>
                    <a:lnTo>
                      <a:pt x="7487" y="1924"/>
                    </a:lnTo>
                    <a:lnTo>
                      <a:pt x="8437" y="1924"/>
                    </a:lnTo>
                    <a:lnTo>
                      <a:pt x="8437" y="1878"/>
                    </a:lnTo>
                    <a:cubicBezTo>
                      <a:pt x="8437" y="1345"/>
                      <a:pt x="8854" y="928"/>
                      <a:pt x="9364" y="928"/>
                    </a:cubicBezTo>
                    <a:cubicBezTo>
                      <a:pt x="9874" y="928"/>
                      <a:pt x="10291" y="1345"/>
                      <a:pt x="10291" y="1878"/>
                    </a:cubicBezTo>
                    <a:lnTo>
                      <a:pt x="10291" y="1924"/>
                    </a:lnTo>
                    <a:lnTo>
                      <a:pt x="10291" y="4242"/>
                    </a:lnTo>
                    <a:cubicBezTo>
                      <a:pt x="10291" y="5030"/>
                      <a:pt x="9665" y="5655"/>
                      <a:pt x="8900" y="5655"/>
                    </a:cubicBezTo>
                    <a:cubicBezTo>
                      <a:pt x="8112" y="5655"/>
                      <a:pt x="7487" y="5030"/>
                      <a:pt x="7487" y="4242"/>
                    </a:cubicBezTo>
                    <a:lnTo>
                      <a:pt x="7487" y="1924"/>
                    </a:lnTo>
                    <a:lnTo>
                      <a:pt x="464" y="1924"/>
                    </a:lnTo>
                    <a:cubicBezTo>
                      <a:pt x="210" y="1924"/>
                      <a:pt x="1" y="2133"/>
                      <a:pt x="1" y="2411"/>
                    </a:cubicBezTo>
                    <a:lnTo>
                      <a:pt x="1" y="13187"/>
                    </a:lnTo>
                    <a:cubicBezTo>
                      <a:pt x="1" y="13442"/>
                      <a:pt x="210" y="13651"/>
                      <a:pt x="464" y="13651"/>
                    </a:cubicBezTo>
                    <a:lnTo>
                      <a:pt x="9827" y="13651"/>
                    </a:lnTo>
                    <a:lnTo>
                      <a:pt x="9827" y="11264"/>
                    </a:lnTo>
                    <a:cubicBezTo>
                      <a:pt x="9827" y="11009"/>
                      <a:pt x="10036" y="10800"/>
                      <a:pt x="10314" y="10800"/>
                    </a:cubicBezTo>
                    <a:lnTo>
                      <a:pt x="13582" y="10800"/>
                    </a:lnTo>
                    <a:lnTo>
                      <a:pt x="13582" y="2411"/>
                    </a:lnTo>
                    <a:cubicBezTo>
                      <a:pt x="13582" y="2156"/>
                      <a:pt x="13373" y="1924"/>
                      <a:pt x="13118" y="1924"/>
                    </a:cubicBezTo>
                    <a:lnTo>
                      <a:pt x="11241" y="1924"/>
                    </a:lnTo>
                    <a:lnTo>
                      <a:pt x="11241" y="1878"/>
                    </a:lnTo>
                    <a:cubicBezTo>
                      <a:pt x="11241" y="835"/>
                      <a:pt x="10407" y="1"/>
                      <a:pt x="936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/>
              </a:p>
            </p:txBody>
          </p:sp>
        </p:grp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4E65CB46-9117-2211-99D9-5187C7F9D42B}"/>
                </a:ext>
              </a:extLst>
            </p:cNvPr>
            <p:cNvSpPr/>
            <p:nvPr/>
          </p:nvSpPr>
          <p:spPr>
            <a:xfrm>
              <a:off x="442293" y="1268556"/>
              <a:ext cx="2506391" cy="3252074"/>
            </a:xfrm>
            <a:prstGeom prst="roundRect">
              <a:avLst/>
            </a:prstGeom>
            <a:noFill/>
            <a:ln w="38100">
              <a:solidFill>
                <a:srgbClr val="C00000">
                  <a:alpha val="62742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465" name="Google Shape;442;p39">
            <a:extLst>
              <a:ext uri="{FF2B5EF4-FFF2-40B4-BE49-F238E27FC236}">
                <a16:creationId xmlns:a16="http://schemas.microsoft.com/office/drawing/2014/main" id="{8507D94F-6F07-FE3D-8353-6D7875D79491}"/>
              </a:ext>
            </a:extLst>
          </p:cNvPr>
          <p:cNvSpPr txBox="1"/>
          <p:nvPr/>
        </p:nvSpPr>
        <p:spPr>
          <a:xfrm>
            <a:off x="6189824" y="1417834"/>
            <a:ext cx="2486347" cy="918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내 변동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큼</a:t>
            </a:r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,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간 차이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작음</a:t>
            </a:r>
            <a:endParaRPr sz="1800" b="1" dirty="0">
              <a:solidFill>
                <a:srgbClr val="C00000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466" name="Google Shape;448;p39">
            <a:extLst>
              <a:ext uri="{FF2B5EF4-FFF2-40B4-BE49-F238E27FC236}">
                <a16:creationId xmlns:a16="http://schemas.microsoft.com/office/drawing/2014/main" id="{C026437C-99CF-3BB4-6E55-890EAFDA749C}"/>
              </a:ext>
            </a:extLst>
          </p:cNvPr>
          <p:cNvSpPr txBox="1"/>
          <p:nvPr/>
        </p:nvSpPr>
        <p:spPr>
          <a:xfrm>
            <a:off x="6200935" y="3379086"/>
            <a:ext cx="2506061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클래스 내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다양한 분야 용어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를 포함하며 클래스 간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동일한 용어와 표현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이 다수 중복됨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.</a:t>
            </a:r>
          </a:p>
        </p:txBody>
      </p:sp>
      <p:sp>
        <p:nvSpPr>
          <p:cNvPr id="473" name="모서리가 둥근 직사각형 472">
            <a:extLst>
              <a:ext uri="{FF2B5EF4-FFF2-40B4-BE49-F238E27FC236}">
                <a16:creationId xmlns:a16="http://schemas.microsoft.com/office/drawing/2014/main" id="{83057074-9882-5028-E91B-A08C3A5ED327}"/>
              </a:ext>
            </a:extLst>
          </p:cNvPr>
          <p:cNvSpPr/>
          <p:nvPr/>
        </p:nvSpPr>
        <p:spPr>
          <a:xfrm>
            <a:off x="6180056" y="1268556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480" name="Google Shape;453;p39">
            <a:extLst>
              <a:ext uri="{FF2B5EF4-FFF2-40B4-BE49-F238E27FC236}">
                <a16:creationId xmlns:a16="http://schemas.microsoft.com/office/drawing/2014/main" id="{01F12593-4E43-12D8-B1FC-19254BDBB08D}"/>
              </a:ext>
            </a:extLst>
          </p:cNvPr>
          <p:cNvGrpSpPr/>
          <p:nvPr/>
        </p:nvGrpSpPr>
        <p:grpSpPr>
          <a:xfrm>
            <a:off x="7110602" y="2514388"/>
            <a:ext cx="645500" cy="645500"/>
            <a:chOff x="5763075" y="1451275"/>
            <a:chExt cx="399800" cy="399800"/>
          </a:xfrm>
          <a:solidFill>
            <a:srgbClr val="C00000"/>
          </a:solidFill>
        </p:grpSpPr>
        <p:sp>
          <p:nvSpPr>
            <p:cNvPr id="481" name="Google Shape;454;p39">
              <a:extLst>
                <a:ext uri="{FF2B5EF4-FFF2-40B4-BE49-F238E27FC236}">
                  <a16:creationId xmlns:a16="http://schemas.microsoft.com/office/drawing/2014/main" id="{0CD7D9CF-58C0-8648-A069-D5FBCCDC0226}"/>
                </a:ext>
              </a:extLst>
            </p:cNvPr>
            <p:cNvSpPr/>
            <p:nvPr/>
          </p:nvSpPr>
          <p:spPr>
            <a:xfrm>
              <a:off x="6034225" y="1462875"/>
              <a:ext cx="128650" cy="165150"/>
            </a:xfrm>
            <a:custGeom>
              <a:avLst/>
              <a:gdLst/>
              <a:ahLst/>
              <a:cxnLst/>
              <a:rect l="l" t="t" r="r" b="b"/>
              <a:pathLst>
                <a:path w="5146" h="6606" extrusionOk="0">
                  <a:moveTo>
                    <a:pt x="3732" y="0"/>
                  </a:moveTo>
                  <a:cubicBezTo>
                    <a:pt x="3106" y="0"/>
                    <a:pt x="2573" y="394"/>
                    <a:pt x="2388" y="950"/>
                  </a:cubicBezTo>
                  <a:lnTo>
                    <a:pt x="1" y="950"/>
                  </a:lnTo>
                  <a:lnTo>
                    <a:pt x="1" y="2596"/>
                  </a:lnTo>
                  <a:cubicBezTo>
                    <a:pt x="1553" y="3407"/>
                    <a:pt x="2689" y="4867"/>
                    <a:pt x="3106" y="6605"/>
                  </a:cubicBezTo>
                  <a:lnTo>
                    <a:pt x="4056" y="6605"/>
                  </a:lnTo>
                  <a:cubicBezTo>
                    <a:pt x="3662" y="4566"/>
                    <a:pt x="2364" y="2874"/>
                    <a:pt x="673" y="1901"/>
                  </a:cubicBezTo>
                  <a:lnTo>
                    <a:pt x="2388" y="1901"/>
                  </a:lnTo>
                  <a:cubicBezTo>
                    <a:pt x="2573" y="2457"/>
                    <a:pt x="3106" y="2851"/>
                    <a:pt x="3732" y="2851"/>
                  </a:cubicBezTo>
                  <a:cubicBezTo>
                    <a:pt x="4520" y="2851"/>
                    <a:pt x="5145" y="2202"/>
                    <a:pt x="5145" y="1414"/>
                  </a:cubicBezTo>
                  <a:cubicBezTo>
                    <a:pt x="5145" y="649"/>
                    <a:pt x="4520" y="0"/>
                    <a:pt x="37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2" name="Google Shape;455;p39">
              <a:extLst>
                <a:ext uri="{FF2B5EF4-FFF2-40B4-BE49-F238E27FC236}">
                  <a16:creationId xmlns:a16="http://schemas.microsoft.com/office/drawing/2014/main" id="{BDFCD57F-2E2A-9677-2151-72BF9151915F}"/>
                </a:ext>
              </a:extLst>
            </p:cNvPr>
            <p:cNvSpPr/>
            <p:nvPr/>
          </p:nvSpPr>
          <p:spPr>
            <a:xfrm>
              <a:off x="5763075" y="1462875"/>
              <a:ext cx="129225" cy="165150"/>
            </a:xfrm>
            <a:custGeom>
              <a:avLst/>
              <a:gdLst/>
              <a:ahLst/>
              <a:cxnLst/>
              <a:rect l="l" t="t" r="r" b="b"/>
              <a:pathLst>
                <a:path w="5169" h="6606" extrusionOk="0">
                  <a:moveTo>
                    <a:pt x="1437" y="0"/>
                  </a:moveTo>
                  <a:cubicBezTo>
                    <a:pt x="649" y="0"/>
                    <a:pt x="1" y="649"/>
                    <a:pt x="1" y="1414"/>
                  </a:cubicBezTo>
                  <a:cubicBezTo>
                    <a:pt x="1" y="2202"/>
                    <a:pt x="649" y="2851"/>
                    <a:pt x="1437" y="2851"/>
                  </a:cubicBezTo>
                  <a:cubicBezTo>
                    <a:pt x="2040" y="2851"/>
                    <a:pt x="2573" y="2457"/>
                    <a:pt x="2758" y="1901"/>
                  </a:cubicBezTo>
                  <a:lnTo>
                    <a:pt x="4473" y="1901"/>
                  </a:lnTo>
                  <a:cubicBezTo>
                    <a:pt x="2782" y="2874"/>
                    <a:pt x="1507" y="4566"/>
                    <a:pt x="1090" y="6605"/>
                  </a:cubicBezTo>
                  <a:lnTo>
                    <a:pt x="2063" y="6605"/>
                  </a:lnTo>
                  <a:cubicBezTo>
                    <a:pt x="2457" y="4867"/>
                    <a:pt x="3616" y="3407"/>
                    <a:pt x="5169" y="2596"/>
                  </a:cubicBezTo>
                  <a:lnTo>
                    <a:pt x="5169" y="950"/>
                  </a:lnTo>
                  <a:lnTo>
                    <a:pt x="2782" y="950"/>
                  </a:lnTo>
                  <a:cubicBezTo>
                    <a:pt x="2573" y="394"/>
                    <a:pt x="2040" y="0"/>
                    <a:pt x="14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3" name="Google Shape;456;p39">
              <a:extLst>
                <a:ext uri="{FF2B5EF4-FFF2-40B4-BE49-F238E27FC236}">
                  <a16:creationId xmlns:a16="http://schemas.microsoft.com/office/drawing/2014/main" id="{3B1AAC50-422C-49B5-6A49-E9DC83E9CCFF}"/>
                </a:ext>
              </a:extLst>
            </p:cNvPr>
            <p:cNvSpPr/>
            <p:nvPr/>
          </p:nvSpPr>
          <p:spPr>
            <a:xfrm>
              <a:off x="5763075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4" name="Google Shape;457;p39">
              <a:extLst>
                <a:ext uri="{FF2B5EF4-FFF2-40B4-BE49-F238E27FC236}">
                  <a16:creationId xmlns:a16="http://schemas.microsoft.com/office/drawing/2014/main" id="{B66A678C-AC01-F82E-2BD9-761030B9B5FB}"/>
                </a:ext>
              </a:extLst>
            </p:cNvPr>
            <p:cNvSpPr/>
            <p:nvPr/>
          </p:nvSpPr>
          <p:spPr>
            <a:xfrm>
              <a:off x="6091000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5" name="Google Shape;458;p39">
              <a:extLst>
                <a:ext uri="{FF2B5EF4-FFF2-40B4-BE49-F238E27FC236}">
                  <a16:creationId xmlns:a16="http://schemas.microsoft.com/office/drawing/2014/main" id="{C040EB24-A8F2-D7AC-CECC-418E96690938}"/>
                </a:ext>
              </a:extLst>
            </p:cNvPr>
            <p:cNvSpPr/>
            <p:nvPr/>
          </p:nvSpPr>
          <p:spPr>
            <a:xfrm>
              <a:off x="5915450" y="1451275"/>
              <a:ext cx="95625" cy="95625"/>
            </a:xfrm>
            <a:custGeom>
              <a:avLst/>
              <a:gdLst/>
              <a:ahLst/>
              <a:cxnLst/>
              <a:rect l="l" t="t" r="r" b="b"/>
              <a:pathLst>
                <a:path w="3825" h="3825" extrusionOk="0">
                  <a:moveTo>
                    <a:pt x="464" y="1"/>
                  </a:moveTo>
                  <a:cubicBezTo>
                    <a:pt x="209" y="1"/>
                    <a:pt x="1" y="209"/>
                    <a:pt x="1" y="487"/>
                  </a:cubicBezTo>
                  <a:lnTo>
                    <a:pt x="1" y="3361"/>
                  </a:lnTo>
                  <a:cubicBezTo>
                    <a:pt x="1" y="3616"/>
                    <a:pt x="209" y="3825"/>
                    <a:pt x="464" y="3825"/>
                  </a:cubicBezTo>
                  <a:lnTo>
                    <a:pt x="3338" y="3825"/>
                  </a:lnTo>
                  <a:cubicBezTo>
                    <a:pt x="3593" y="3825"/>
                    <a:pt x="3825" y="3616"/>
                    <a:pt x="3825" y="3361"/>
                  </a:cubicBezTo>
                  <a:lnTo>
                    <a:pt x="3825" y="487"/>
                  </a:lnTo>
                  <a:cubicBezTo>
                    <a:pt x="3825" y="232"/>
                    <a:pt x="3593" y="1"/>
                    <a:pt x="33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6" name="Google Shape;459;p39">
              <a:extLst>
                <a:ext uri="{FF2B5EF4-FFF2-40B4-BE49-F238E27FC236}">
                  <a16:creationId xmlns:a16="http://schemas.microsoft.com/office/drawing/2014/main" id="{AC65316A-07DF-FDB9-7AD5-33FF87EC5DE9}"/>
                </a:ext>
              </a:extLst>
            </p:cNvPr>
            <p:cNvSpPr/>
            <p:nvPr/>
          </p:nvSpPr>
          <p:spPr>
            <a:xfrm>
              <a:off x="5885900" y="1568900"/>
              <a:ext cx="155300" cy="164550"/>
            </a:xfrm>
            <a:custGeom>
              <a:avLst/>
              <a:gdLst/>
              <a:ahLst/>
              <a:cxnLst/>
              <a:rect l="l" t="t" r="r" b="b"/>
              <a:pathLst>
                <a:path w="6212" h="6582" extrusionOk="0">
                  <a:moveTo>
                    <a:pt x="1206" y="0"/>
                  </a:moveTo>
                  <a:cubicBezTo>
                    <a:pt x="951" y="0"/>
                    <a:pt x="742" y="209"/>
                    <a:pt x="742" y="464"/>
                  </a:cubicBezTo>
                  <a:cubicBezTo>
                    <a:pt x="742" y="719"/>
                    <a:pt x="951" y="927"/>
                    <a:pt x="1206" y="927"/>
                  </a:cubicBezTo>
                  <a:lnTo>
                    <a:pt x="1206" y="4172"/>
                  </a:lnTo>
                  <a:lnTo>
                    <a:pt x="1" y="6582"/>
                  </a:lnTo>
                  <a:lnTo>
                    <a:pt x="6212" y="6582"/>
                  </a:lnTo>
                  <a:lnTo>
                    <a:pt x="5030" y="4125"/>
                  </a:lnTo>
                  <a:lnTo>
                    <a:pt x="5030" y="927"/>
                  </a:lnTo>
                  <a:cubicBezTo>
                    <a:pt x="5261" y="904"/>
                    <a:pt x="5424" y="695"/>
                    <a:pt x="5424" y="464"/>
                  </a:cubicBezTo>
                  <a:cubicBezTo>
                    <a:pt x="5424" y="209"/>
                    <a:pt x="5215" y="0"/>
                    <a:pt x="49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3" name="Google Shape;460;p39">
              <a:extLst>
                <a:ext uri="{FF2B5EF4-FFF2-40B4-BE49-F238E27FC236}">
                  <a16:creationId xmlns:a16="http://schemas.microsoft.com/office/drawing/2014/main" id="{36F5B3E3-6FBD-D3B5-9672-0359B287DEBB}"/>
                </a:ext>
              </a:extLst>
            </p:cNvPr>
            <p:cNvSpPr/>
            <p:nvPr/>
          </p:nvSpPr>
          <p:spPr>
            <a:xfrm>
              <a:off x="5831450" y="1756600"/>
              <a:ext cx="263050" cy="94475"/>
            </a:xfrm>
            <a:custGeom>
              <a:avLst/>
              <a:gdLst/>
              <a:ahLst/>
              <a:cxnLst/>
              <a:rect l="l" t="t" r="r" b="b"/>
              <a:pathLst>
                <a:path w="10522" h="3779" extrusionOk="0">
                  <a:moveTo>
                    <a:pt x="8853" y="1"/>
                  </a:moveTo>
                  <a:lnTo>
                    <a:pt x="8853" y="24"/>
                  </a:lnTo>
                  <a:lnTo>
                    <a:pt x="1715" y="24"/>
                  </a:lnTo>
                  <a:lnTo>
                    <a:pt x="162" y="3106"/>
                  </a:lnTo>
                  <a:cubicBezTo>
                    <a:pt x="0" y="3431"/>
                    <a:pt x="232" y="3779"/>
                    <a:pt x="580" y="3779"/>
                  </a:cubicBezTo>
                  <a:lnTo>
                    <a:pt x="9942" y="3779"/>
                  </a:lnTo>
                  <a:cubicBezTo>
                    <a:pt x="10290" y="3779"/>
                    <a:pt x="10522" y="3431"/>
                    <a:pt x="10383" y="3106"/>
                  </a:cubicBezTo>
                  <a:lnTo>
                    <a:pt x="88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62" name="Google Shape;442;p39">
            <a:extLst>
              <a:ext uri="{FF2B5EF4-FFF2-40B4-BE49-F238E27FC236}">
                <a16:creationId xmlns:a16="http://schemas.microsoft.com/office/drawing/2014/main" id="{8383EB9A-F24E-ED6A-09DC-A65BEF09884B}"/>
              </a:ext>
            </a:extLst>
          </p:cNvPr>
          <p:cNvSpPr txBox="1"/>
          <p:nvPr/>
        </p:nvSpPr>
        <p:spPr>
          <a:xfrm>
            <a:off x="3306987" y="1562581"/>
            <a:ext cx="2486347" cy="55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불균형</a:t>
            </a: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 심각</a:t>
            </a:r>
            <a:endParaRPr sz="1800" b="1" dirty="0">
              <a:solidFill>
                <a:schemeClr val="tx1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63" name="Google Shape;448;p39">
            <a:extLst>
              <a:ext uri="{FF2B5EF4-FFF2-40B4-BE49-F238E27FC236}">
                <a16:creationId xmlns:a16="http://schemas.microsoft.com/office/drawing/2014/main" id="{5ABC41C4-3B79-AA1A-10E7-2F56208CB215}"/>
              </a:ext>
            </a:extLst>
          </p:cNvPr>
          <p:cNvSpPr txBox="1"/>
          <p:nvPr/>
        </p:nvSpPr>
        <p:spPr>
          <a:xfrm>
            <a:off x="3250243" y="3355936"/>
            <a:ext cx="2615878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n-ea"/>
                <a:ea typeface="+mn-ea"/>
              </a:rPr>
              <a:t>G06F</a:t>
            </a:r>
            <a:r>
              <a:rPr lang="en-US" altLang="ko-KR" sz="1100" dirty="0">
                <a:latin typeface="+mn-ea"/>
                <a:ea typeface="+mn-ea"/>
              </a:rPr>
              <a:t>: 398,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G06Q</a:t>
            </a:r>
            <a:r>
              <a:rPr lang="en-US" altLang="ko-KR" sz="1100" dirty="0">
                <a:latin typeface="+mn-ea"/>
                <a:ea typeface="+mn-ea"/>
              </a:rPr>
              <a:t>: 1,791,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G16H</a:t>
            </a:r>
            <a:r>
              <a:rPr lang="en-US" altLang="ko-KR" sz="1100" dirty="0">
                <a:latin typeface="+mn-ea"/>
                <a:ea typeface="+mn-ea"/>
              </a:rPr>
              <a:t>: 215</a:t>
            </a:r>
            <a:r>
              <a:rPr lang="ko-KR" altLang="en-US" sz="1100" dirty="0">
                <a:latin typeface="+mn-ea"/>
                <a:ea typeface="+mn-ea"/>
              </a:rPr>
              <a:t>개</a:t>
            </a:r>
            <a:endParaRPr lang="en-US" altLang="ko-KR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</a:rPr>
              <a:t>소수 클래스에 대한 예측 성능 저조 </a:t>
            </a:r>
            <a:r>
              <a:rPr lang="ko-KR" altLang="en-US" sz="1200" dirty="0">
                <a:latin typeface="+mn-ea"/>
                <a:ea typeface="+mn-ea"/>
              </a:rPr>
              <a:t>및 다수 클래스로의 </a:t>
            </a:r>
            <a:r>
              <a:rPr lang="ko-KR" altLang="en-US" sz="1200" dirty="0" err="1">
                <a:latin typeface="+mn-ea"/>
                <a:ea typeface="+mn-ea"/>
              </a:rPr>
              <a:t>오분류</a:t>
            </a:r>
            <a:r>
              <a:rPr lang="ko-KR" altLang="en-US" sz="1200" dirty="0">
                <a:latin typeface="+mn-ea"/>
                <a:ea typeface="+mn-ea"/>
              </a:rPr>
              <a:t> 증가</a:t>
            </a:r>
          </a:p>
        </p:txBody>
      </p:sp>
      <p:sp>
        <p:nvSpPr>
          <p:cNvPr id="464" name="모서리가 둥근 직사각형 463">
            <a:extLst>
              <a:ext uri="{FF2B5EF4-FFF2-40B4-BE49-F238E27FC236}">
                <a16:creationId xmlns:a16="http://schemas.microsoft.com/office/drawing/2014/main" id="{3AB3B38B-DC37-5AD3-6788-CC77BCE163A2}"/>
              </a:ext>
            </a:extLst>
          </p:cNvPr>
          <p:cNvSpPr/>
          <p:nvPr/>
        </p:nvSpPr>
        <p:spPr>
          <a:xfrm>
            <a:off x="3297219" y="1268556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494" name="Google Shape;474;p39">
            <a:extLst>
              <a:ext uri="{FF2B5EF4-FFF2-40B4-BE49-F238E27FC236}">
                <a16:creationId xmlns:a16="http://schemas.microsoft.com/office/drawing/2014/main" id="{09E5C4F1-34FF-7C66-CC4E-611A5EE06E58}"/>
              </a:ext>
            </a:extLst>
          </p:cNvPr>
          <p:cNvGrpSpPr/>
          <p:nvPr/>
        </p:nvGrpSpPr>
        <p:grpSpPr>
          <a:xfrm>
            <a:off x="4142914" y="2525863"/>
            <a:ext cx="657134" cy="657175"/>
            <a:chOff x="2490750" y="3544575"/>
            <a:chExt cx="399775" cy="399800"/>
          </a:xfrm>
          <a:solidFill>
            <a:srgbClr val="C00000"/>
          </a:solidFill>
        </p:grpSpPr>
        <p:sp>
          <p:nvSpPr>
            <p:cNvPr id="495" name="Google Shape;475;p39">
              <a:extLst>
                <a:ext uri="{FF2B5EF4-FFF2-40B4-BE49-F238E27FC236}">
                  <a16:creationId xmlns:a16="http://schemas.microsoft.com/office/drawing/2014/main" id="{CBEEC84B-A422-E766-8FC4-6C9E00BE085D}"/>
                </a:ext>
              </a:extLst>
            </p:cNvPr>
            <p:cNvSpPr/>
            <p:nvPr/>
          </p:nvSpPr>
          <p:spPr>
            <a:xfrm>
              <a:off x="27265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10" y="1878"/>
                  </a:moveTo>
                  <a:cubicBezTo>
                    <a:pt x="4328" y="1878"/>
                    <a:pt x="4450" y="1924"/>
                    <a:pt x="4543" y="2017"/>
                  </a:cubicBezTo>
                  <a:cubicBezTo>
                    <a:pt x="4728" y="2179"/>
                    <a:pt x="4728" y="2480"/>
                    <a:pt x="4543" y="2666"/>
                  </a:cubicBezTo>
                  <a:lnTo>
                    <a:pt x="3940" y="3291"/>
                  </a:lnTo>
                  <a:lnTo>
                    <a:pt x="4543" y="3894"/>
                  </a:lnTo>
                  <a:cubicBezTo>
                    <a:pt x="4728" y="4079"/>
                    <a:pt x="4728" y="4381"/>
                    <a:pt x="4543" y="4566"/>
                  </a:cubicBezTo>
                  <a:cubicBezTo>
                    <a:pt x="4450" y="4659"/>
                    <a:pt x="4328" y="4705"/>
                    <a:pt x="4210" y="4705"/>
                  </a:cubicBezTo>
                  <a:cubicBezTo>
                    <a:pt x="4091" y="4705"/>
                    <a:pt x="3975" y="4659"/>
                    <a:pt x="3894" y="4566"/>
                  </a:cubicBezTo>
                  <a:lnTo>
                    <a:pt x="3268" y="3940"/>
                  </a:lnTo>
                  <a:lnTo>
                    <a:pt x="2666" y="4566"/>
                  </a:lnTo>
                  <a:cubicBezTo>
                    <a:pt x="2573" y="4659"/>
                    <a:pt x="2451" y="4705"/>
                    <a:pt x="2330" y="4705"/>
                  </a:cubicBezTo>
                  <a:cubicBezTo>
                    <a:pt x="2208" y="4705"/>
                    <a:pt x="2086" y="4659"/>
                    <a:pt x="1993" y="4566"/>
                  </a:cubicBezTo>
                  <a:cubicBezTo>
                    <a:pt x="1808" y="4381"/>
                    <a:pt x="1808" y="4079"/>
                    <a:pt x="1993" y="3894"/>
                  </a:cubicBezTo>
                  <a:lnTo>
                    <a:pt x="2596" y="3291"/>
                  </a:lnTo>
                  <a:lnTo>
                    <a:pt x="1993" y="2666"/>
                  </a:lnTo>
                  <a:cubicBezTo>
                    <a:pt x="1808" y="2480"/>
                    <a:pt x="1808" y="2179"/>
                    <a:pt x="1993" y="2017"/>
                  </a:cubicBezTo>
                  <a:cubicBezTo>
                    <a:pt x="2086" y="1924"/>
                    <a:pt x="2208" y="1878"/>
                    <a:pt x="2330" y="1878"/>
                  </a:cubicBezTo>
                  <a:cubicBezTo>
                    <a:pt x="2451" y="1878"/>
                    <a:pt x="2573" y="1924"/>
                    <a:pt x="2666" y="2017"/>
                  </a:cubicBezTo>
                  <a:lnTo>
                    <a:pt x="3268" y="2619"/>
                  </a:lnTo>
                  <a:lnTo>
                    <a:pt x="3894" y="2017"/>
                  </a:lnTo>
                  <a:cubicBezTo>
                    <a:pt x="3975" y="1924"/>
                    <a:pt x="4091" y="1878"/>
                    <a:pt x="4210" y="1878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6" y="6559"/>
                    <a:pt x="6559" y="5099"/>
                    <a:pt x="6559" y="3291"/>
                  </a:cubicBezTo>
                  <a:cubicBezTo>
                    <a:pt x="6559" y="1484"/>
                    <a:pt x="5076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6" name="Google Shape;476;p39">
              <a:extLst>
                <a:ext uri="{FF2B5EF4-FFF2-40B4-BE49-F238E27FC236}">
                  <a16:creationId xmlns:a16="http://schemas.microsoft.com/office/drawing/2014/main" id="{F19D74AE-B49A-8B81-197C-3CCEB47C6904}"/>
                </a:ext>
              </a:extLst>
            </p:cNvPr>
            <p:cNvSpPr/>
            <p:nvPr/>
          </p:nvSpPr>
          <p:spPr>
            <a:xfrm>
              <a:off x="24907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53" y="2202"/>
                  </a:moveTo>
                  <a:cubicBezTo>
                    <a:pt x="4374" y="2202"/>
                    <a:pt x="4496" y="2248"/>
                    <a:pt x="4589" y="2341"/>
                  </a:cubicBezTo>
                  <a:cubicBezTo>
                    <a:pt x="4751" y="2503"/>
                    <a:pt x="4751" y="2805"/>
                    <a:pt x="4589" y="2990"/>
                  </a:cubicBezTo>
                  <a:lnTo>
                    <a:pt x="4566" y="2990"/>
                  </a:lnTo>
                  <a:lnTo>
                    <a:pt x="3291" y="4265"/>
                  </a:lnTo>
                  <a:cubicBezTo>
                    <a:pt x="3198" y="4357"/>
                    <a:pt x="3077" y="4404"/>
                    <a:pt x="2958" y="4404"/>
                  </a:cubicBezTo>
                  <a:cubicBezTo>
                    <a:pt x="2839" y="4404"/>
                    <a:pt x="2723" y="4357"/>
                    <a:pt x="2642" y="4265"/>
                  </a:cubicBezTo>
                  <a:lnTo>
                    <a:pt x="2040" y="3685"/>
                  </a:lnTo>
                  <a:cubicBezTo>
                    <a:pt x="1854" y="3500"/>
                    <a:pt x="1854" y="3199"/>
                    <a:pt x="2040" y="3013"/>
                  </a:cubicBezTo>
                  <a:cubicBezTo>
                    <a:pt x="2132" y="2921"/>
                    <a:pt x="2254" y="2874"/>
                    <a:pt x="2376" y="2874"/>
                  </a:cubicBezTo>
                  <a:cubicBezTo>
                    <a:pt x="2497" y="2874"/>
                    <a:pt x="2619" y="2921"/>
                    <a:pt x="2712" y="3013"/>
                  </a:cubicBezTo>
                  <a:lnTo>
                    <a:pt x="2967" y="3291"/>
                  </a:lnTo>
                  <a:lnTo>
                    <a:pt x="3917" y="2341"/>
                  </a:lnTo>
                  <a:cubicBezTo>
                    <a:pt x="4009" y="2248"/>
                    <a:pt x="4131" y="2202"/>
                    <a:pt x="4253" y="2202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5" y="6559"/>
                    <a:pt x="6559" y="5099"/>
                    <a:pt x="6559" y="3291"/>
                  </a:cubicBezTo>
                  <a:cubicBezTo>
                    <a:pt x="6559" y="1484"/>
                    <a:pt x="5075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9" name="Google Shape;477;p39">
              <a:extLst>
                <a:ext uri="{FF2B5EF4-FFF2-40B4-BE49-F238E27FC236}">
                  <a16:creationId xmlns:a16="http://schemas.microsoft.com/office/drawing/2014/main" id="{B405BC4C-FA8B-B1F6-C46E-E06BB7259FDB}"/>
                </a:ext>
              </a:extLst>
            </p:cNvPr>
            <p:cNvSpPr/>
            <p:nvPr/>
          </p:nvSpPr>
          <p:spPr>
            <a:xfrm>
              <a:off x="2590975" y="3665075"/>
              <a:ext cx="227150" cy="232375"/>
            </a:xfrm>
            <a:custGeom>
              <a:avLst/>
              <a:gdLst/>
              <a:ahLst/>
              <a:cxnLst/>
              <a:rect l="l" t="t" r="r" b="b"/>
              <a:pathLst>
                <a:path w="9086" h="9295" extrusionOk="0">
                  <a:moveTo>
                    <a:pt x="3940" y="1"/>
                  </a:moveTo>
                  <a:cubicBezTo>
                    <a:pt x="3361" y="1"/>
                    <a:pt x="2897" y="464"/>
                    <a:pt x="2897" y="1021"/>
                  </a:cubicBezTo>
                  <a:lnTo>
                    <a:pt x="2897" y="6119"/>
                  </a:lnTo>
                  <a:lnTo>
                    <a:pt x="1924" y="5308"/>
                  </a:lnTo>
                  <a:cubicBezTo>
                    <a:pt x="1717" y="5134"/>
                    <a:pt x="1458" y="5046"/>
                    <a:pt x="1199" y="5046"/>
                  </a:cubicBezTo>
                  <a:cubicBezTo>
                    <a:pt x="908" y="5046"/>
                    <a:pt x="615" y="5157"/>
                    <a:pt x="394" y="5378"/>
                  </a:cubicBezTo>
                  <a:cubicBezTo>
                    <a:pt x="0" y="5772"/>
                    <a:pt x="24" y="6397"/>
                    <a:pt x="464" y="6768"/>
                  </a:cubicBezTo>
                  <a:lnTo>
                    <a:pt x="2897" y="8807"/>
                  </a:lnTo>
                  <a:lnTo>
                    <a:pt x="2897" y="9294"/>
                  </a:lnTo>
                  <a:lnTo>
                    <a:pt x="9085" y="9294"/>
                  </a:lnTo>
                  <a:lnTo>
                    <a:pt x="9085" y="5076"/>
                  </a:lnTo>
                  <a:cubicBezTo>
                    <a:pt x="9085" y="4566"/>
                    <a:pt x="8691" y="4126"/>
                    <a:pt x="8181" y="4057"/>
                  </a:cubicBezTo>
                  <a:lnTo>
                    <a:pt x="4960" y="3663"/>
                  </a:lnTo>
                  <a:lnTo>
                    <a:pt x="4960" y="1021"/>
                  </a:lnTo>
                  <a:cubicBezTo>
                    <a:pt x="4960" y="464"/>
                    <a:pt x="4496" y="1"/>
                    <a:pt x="3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0" name="Google Shape;478;p39">
              <a:extLst>
                <a:ext uri="{FF2B5EF4-FFF2-40B4-BE49-F238E27FC236}">
                  <a16:creationId xmlns:a16="http://schemas.microsoft.com/office/drawing/2014/main" id="{177EE040-7134-49FB-5C9B-7AD73515471B}"/>
                </a:ext>
              </a:extLst>
            </p:cNvPr>
            <p:cNvSpPr/>
            <p:nvPr/>
          </p:nvSpPr>
          <p:spPr>
            <a:xfrm>
              <a:off x="2663400" y="3921175"/>
              <a:ext cx="154725" cy="23200"/>
            </a:xfrm>
            <a:custGeom>
              <a:avLst/>
              <a:gdLst/>
              <a:ahLst/>
              <a:cxnLst/>
              <a:rect l="l" t="t" r="r" b="b"/>
              <a:pathLst>
                <a:path w="6189" h="928" extrusionOk="0">
                  <a:moveTo>
                    <a:pt x="0" y="0"/>
                  </a:moveTo>
                  <a:lnTo>
                    <a:pt x="0" y="927"/>
                  </a:lnTo>
                  <a:lnTo>
                    <a:pt x="6188" y="927"/>
                  </a:lnTo>
                  <a:lnTo>
                    <a:pt x="6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1AE47EB-3CF6-0D9E-193F-CE1E1EDEED61}"/>
              </a:ext>
            </a:extLst>
          </p:cNvPr>
          <p:cNvSpPr txBox="1"/>
          <p:nvPr/>
        </p:nvSpPr>
        <p:spPr>
          <a:xfrm>
            <a:off x="349435" y="4928056"/>
            <a:ext cx="83888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경진대회 시작 전 경진대회와 데이터셋에 대한 설명이 충분히 진행되었기에 </a:t>
            </a:r>
            <a:r>
              <a:rPr kumimoji="1"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IPC</a:t>
            </a:r>
            <a:r>
              <a:rPr kumimoji="1"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정의와 선행연구</a:t>
            </a:r>
            <a:r>
              <a:rPr kumimoji="1"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,</a:t>
            </a:r>
            <a:r>
              <a:rPr kumimoji="1"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그리고 경진대회 데이터셋에 대한 설명은 생략되어 있습니다</a:t>
            </a:r>
            <a:r>
              <a:rPr kumimoji="1"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r>
              <a:rPr kumimoji="1"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양해부탁드립니다</a:t>
            </a:r>
            <a:r>
              <a:rPr kumimoji="1"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1502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D3A624BA-3438-5418-F7B2-8BB5C462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F29FB0B-D27C-05C5-4956-8648B360DB0D}"/>
              </a:ext>
            </a:extLst>
          </p:cNvPr>
          <p:cNvGrpSpPr/>
          <p:nvPr/>
        </p:nvGrpSpPr>
        <p:grpSpPr>
          <a:xfrm>
            <a:off x="-3019364" y="1268556"/>
            <a:ext cx="2526940" cy="3272622"/>
            <a:chOff x="442293" y="1268556"/>
            <a:chExt cx="2526940" cy="3272622"/>
          </a:xfrm>
        </p:grpSpPr>
        <p:sp>
          <p:nvSpPr>
            <p:cNvPr id="442" name="Google Shape;442;p39">
              <a:extLst>
                <a:ext uri="{FF2B5EF4-FFF2-40B4-BE49-F238E27FC236}">
                  <a16:creationId xmlns:a16="http://schemas.microsoft.com/office/drawing/2014/main" id="{0520EB40-854B-E8C6-B860-5FC6545BA5C3}"/>
                </a:ext>
              </a:extLst>
            </p:cNvPr>
            <p:cNvSpPr txBox="1"/>
            <p:nvPr/>
          </p:nvSpPr>
          <p:spPr>
            <a:xfrm>
              <a:off x="452061" y="1417834"/>
              <a:ext cx="2486347" cy="918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도메인에 </a:t>
              </a:r>
              <a:r>
                <a:rPr lang="ko-KR" altLang="en-US" sz="1800" b="1" dirty="0">
                  <a:solidFill>
                    <a:srgbClr val="C00000"/>
                  </a:solidFill>
                  <a:latin typeface="+mj-ea"/>
                  <a:ea typeface="+mj-ea"/>
                  <a:cs typeface="Poppins Medium"/>
                  <a:sym typeface="Poppins Medium"/>
                </a:rPr>
                <a:t>특화된</a:t>
              </a:r>
              <a:endParaRPr lang="en-US" altLang="ko-KR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전문 용어 다수 포함</a:t>
              </a:r>
              <a:endParaRPr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</p:txBody>
        </p:sp>
        <p:sp>
          <p:nvSpPr>
            <p:cNvPr id="448" name="Google Shape;448;p39">
              <a:extLst>
                <a:ext uri="{FF2B5EF4-FFF2-40B4-BE49-F238E27FC236}">
                  <a16:creationId xmlns:a16="http://schemas.microsoft.com/office/drawing/2014/main" id="{FF5E0FF5-6791-9DD4-44FC-258BEDF3516B}"/>
                </a:ext>
              </a:extLst>
            </p:cNvPr>
            <p:cNvSpPr txBox="1"/>
            <p:nvPr/>
          </p:nvSpPr>
          <p:spPr>
            <a:xfrm>
              <a:off x="463172" y="3379086"/>
              <a:ext cx="2506061" cy="116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전문 용어와 긴 문장 구조로 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1" u="sng" dirty="0">
                  <a:solidFill>
                    <a:srgbClr val="C00000"/>
                  </a:solidFill>
                  <a:latin typeface="+mn-ea"/>
                  <a:ea typeface="+mn-ea"/>
                  <a:cs typeface="Work Sans"/>
                  <a:sym typeface="Work Sans"/>
                </a:rPr>
                <a:t>특징 추출 어렵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기에</a:t>
              </a:r>
              <a:r>
                <a:rPr lang="ko-KR" altLang="en-US" sz="1200" b="1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전통적인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Bag-of-Words/TF-IDF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기법 한계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</p:txBody>
        </p:sp>
        <p:grpSp>
          <p:nvGrpSpPr>
            <p:cNvPr id="487" name="Google Shape;487;p39">
              <a:extLst>
                <a:ext uri="{FF2B5EF4-FFF2-40B4-BE49-F238E27FC236}">
                  <a16:creationId xmlns:a16="http://schemas.microsoft.com/office/drawing/2014/main" id="{11ADA400-1C48-B147-F03A-49F344488171}"/>
                </a:ext>
              </a:extLst>
            </p:cNvPr>
            <p:cNvGrpSpPr/>
            <p:nvPr/>
          </p:nvGrpSpPr>
          <p:grpSpPr>
            <a:xfrm>
              <a:off x="1284737" y="2491676"/>
              <a:ext cx="693313" cy="693307"/>
              <a:chOff x="4213225" y="3521403"/>
              <a:chExt cx="399800" cy="399797"/>
            </a:xfrm>
            <a:solidFill>
              <a:srgbClr val="EE4B3B"/>
            </a:solidFill>
          </p:grpSpPr>
          <p:sp>
            <p:nvSpPr>
              <p:cNvPr id="488" name="Google Shape;488;p39">
                <a:extLst>
                  <a:ext uri="{FF2B5EF4-FFF2-40B4-BE49-F238E27FC236}">
                    <a16:creationId xmlns:a16="http://schemas.microsoft.com/office/drawing/2014/main" id="{E1581385-3BD1-A00F-2CCF-B2EE38D464F5}"/>
                  </a:ext>
                </a:extLst>
              </p:cNvPr>
              <p:cNvSpPr/>
              <p:nvPr/>
            </p:nvSpPr>
            <p:spPr>
              <a:xfrm>
                <a:off x="4261325" y="3591500"/>
                <a:ext cx="351700" cy="329700"/>
              </a:xfrm>
              <a:custGeom>
                <a:avLst/>
                <a:gdLst/>
                <a:ahLst/>
                <a:cxnLst/>
                <a:rect l="l" t="t" r="r" b="b"/>
                <a:pathLst>
                  <a:path w="14068" h="13188" extrusionOk="0">
                    <a:moveTo>
                      <a:pt x="12608" y="1"/>
                    </a:moveTo>
                    <a:lnTo>
                      <a:pt x="12608" y="10383"/>
                    </a:lnTo>
                    <a:cubicBezTo>
                      <a:pt x="12608" y="11148"/>
                      <a:pt x="11959" y="11774"/>
                      <a:pt x="11194" y="11774"/>
                    </a:cubicBezTo>
                    <a:lnTo>
                      <a:pt x="0" y="11774"/>
                    </a:lnTo>
                    <a:lnTo>
                      <a:pt x="0" y="12724"/>
                    </a:lnTo>
                    <a:cubicBezTo>
                      <a:pt x="0" y="12979"/>
                      <a:pt x="209" y="13187"/>
                      <a:pt x="487" y="13187"/>
                    </a:cubicBezTo>
                    <a:lnTo>
                      <a:pt x="13604" y="13187"/>
                    </a:lnTo>
                    <a:cubicBezTo>
                      <a:pt x="13859" y="13187"/>
                      <a:pt x="14068" y="12979"/>
                      <a:pt x="14068" y="12724"/>
                    </a:cubicBezTo>
                    <a:lnTo>
                      <a:pt x="14068" y="464"/>
                    </a:lnTo>
                    <a:cubicBezTo>
                      <a:pt x="14068" y="209"/>
                      <a:pt x="13859" y="1"/>
                      <a:pt x="1360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89" name="Google Shape;489;p39">
                <a:extLst>
                  <a:ext uri="{FF2B5EF4-FFF2-40B4-BE49-F238E27FC236}">
                    <a16:creationId xmlns:a16="http://schemas.microsoft.com/office/drawing/2014/main" id="{AA0A2B2B-1812-D685-9F2B-94CDFFD3F6FD}"/>
                  </a:ext>
                </a:extLst>
              </p:cNvPr>
              <p:cNvSpPr/>
              <p:nvPr/>
            </p:nvSpPr>
            <p:spPr>
              <a:xfrm>
                <a:off x="4482650" y="3815150"/>
                <a:ext cx="469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14" extrusionOk="0">
                    <a:moveTo>
                      <a:pt x="0" y="0"/>
                    </a:moveTo>
                    <a:lnTo>
                      <a:pt x="0" y="1414"/>
                    </a:lnTo>
                    <a:lnTo>
                      <a:pt x="187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0" name="Google Shape;490;p39">
                <a:extLst>
                  <a:ext uri="{FF2B5EF4-FFF2-40B4-BE49-F238E27FC236}">
                    <a16:creationId xmlns:a16="http://schemas.microsoft.com/office/drawing/2014/main" id="{C6E6C33F-2711-E432-EDBC-41970C3B62B5}"/>
                  </a:ext>
                </a:extLst>
              </p:cNvPr>
              <p:cNvSpPr/>
              <p:nvPr/>
            </p:nvSpPr>
            <p:spPr>
              <a:xfrm>
                <a:off x="4505825" y="3826725"/>
                <a:ext cx="46950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38" extrusionOk="0">
                    <a:moveTo>
                      <a:pt x="1878" y="1"/>
                    </a:moveTo>
                    <a:lnTo>
                      <a:pt x="0" y="1438"/>
                    </a:lnTo>
                    <a:lnTo>
                      <a:pt x="1414" y="1438"/>
                    </a:lnTo>
                    <a:cubicBezTo>
                      <a:pt x="1669" y="1438"/>
                      <a:pt x="1878" y="1229"/>
                      <a:pt x="1878" y="974"/>
                    </a:cubicBezTo>
                    <a:lnTo>
                      <a:pt x="187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1" name="Google Shape;491;p39">
                <a:extLst>
                  <a:ext uri="{FF2B5EF4-FFF2-40B4-BE49-F238E27FC236}">
                    <a16:creationId xmlns:a16="http://schemas.microsoft.com/office/drawing/2014/main" id="{653DFB2E-B803-0231-BB08-22E436EBB061}"/>
                  </a:ext>
                </a:extLst>
              </p:cNvPr>
              <p:cNvSpPr/>
              <p:nvPr/>
            </p:nvSpPr>
            <p:spPr>
              <a:xfrm>
                <a:off x="4424125" y="3569500"/>
                <a:ext cx="23200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2782" extrusionOk="0">
                    <a:moveTo>
                      <a:pt x="1" y="0"/>
                    </a:moveTo>
                    <a:lnTo>
                      <a:pt x="1" y="2318"/>
                    </a:lnTo>
                    <a:cubicBezTo>
                      <a:pt x="1" y="2572"/>
                      <a:pt x="209" y="2781"/>
                      <a:pt x="464" y="2781"/>
                    </a:cubicBezTo>
                    <a:cubicBezTo>
                      <a:pt x="719" y="2781"/>
                      <a:pt x="928" y="2572"/>
                      <a:pt x="928" y="2318"/>
                    </a:cubicBezTo>
                    <a:lnTo>
                      <a:pt x="9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492" name="Google Shape;492;p39">
                <a:extLst>
                  <a:ext uri="{FF2B5EF4-FFF2-40B4-BE49-F238E27FC236}">
                    <a16:creationId xmlns:a16="http://schemas.microsoft.com/office/drawing/2014/main" id="{989CCDCD-6FC2-2A44-A097-92454A8B9CCA}"/>
                  </a:ext>
                </a:extLst>
              </p:cNvPr>
              <p:cNvSpPr/>
              <p:nvPr/>
            </p:nvSpPr>
            <p:spPr>
              <a:xfrm>
                <a:off x="4213225" y="3521403"/>
                <a:ext cx="339550" cy="341275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3651" extrusionOk="0">
                    <a:moveTo>
                      <a:pt x="10777" y="7069"/>
                    </a:moveTo>
                    <a:cubicBezTo>
                      <a:pt x="11032" y="7069"/>
                      <a:pt x="11241" y="7277"/>
                      <a:pt x="11241" y="7532"/>
                    </a:cubicBezTo>
                    <a:cubicBezTo>
                      <a:pt x="11241" y="7787"/>
                      <a:pt x="11032" y="7996"/>
                      <a:pt x="10777" y="7996"/>
                    </a:cubicBezTo>
                    <a:lnTo>
                      <a:pt x="3269" y="7996"/>
                    </a:lnTo>
                    <a:cubicBezTo>
                      <a:pt x="3014" y="7996"/>
                      <a:pt x="2805" y="7787"/>
                      <a:pt x="2805" y="7532"/>
                    </a:cubicBezTo>
                    <a:cubicBezTo>
                      <a:pt x="2805" y="7277"/>
                      <a:pt x="3014" y="7069"/>
                      <a:pt x="3269" y="7069"/>
                    </a:cubicBezTo>
                    <a:close/>
                    <a:moveTo>
                      <a:pt x="7023" y="8923"/>
                    </a:moveTo>
                    <a:cubicBezTo>
                      <a:pt x="7278" y="8923"/>
                      <a:pt x="7487" y="9132"/>
                      <a:pt x="7487" y="9410"/>
                    </a:cubicBezTo>
                    <a:cubicBezTo>
                      <a:pt x="7487" y="9665"/>
                      <a:pt x="7278" y="9873"/>
                      <a:pt x="7023" y="9873"/>
                    </a:cubicBezTo>
                    <a:lnTo>
                      <a:pt x="3269" y="9873"/>
                    </a:lnTo>
                    <a:cubicBezTo>
                      <a:pt x="3014" y="9873"/>
                      <a:pt x="2805" y="9665"/>
                      <a:pt x="2805" y="9410"/>
                    </a:cubicBezTo>
                    <a:cubicBezTo>
                      <a:pt x="2805" y="9132"/>
                      <a:pt x="3014" y="8923"/>
                      <a:pt x="3269" y="8923"/>
                    </a:cubicBezTo>
                    <a:close/>
                    <a:moveTo>
                      <a:pt x="10777" y="8923"/>
                    </a:moveTo>
                    <a:cubicBezTo>
                      <a:pt x="11032" y="8923"/>
                      <a:pt x="11241" y="9132"/>
                      <a:pt x="11241" y="9410"/>
                    </a:cubicBezTo>
                    <a:cubicBezTo>
                      <a:pt x="11241" y="9665"/>
                      <a:pt x="11032" y="9873"/>
                      <a:pt x="10777" y="9873"/>
                    </a:cubicBezTo>
                    <a:lnTo>
                      <a:pt x="8900" y="9873"/>
                    </a:lnTo>
                    <a:cubicBezTo>
                      <a:pt x="8645" y="9873"/>
                      <a:pt x="8437" y="9665"/>
                      <a:pt x="8437" y="9410"/>
                    </a:cubicBezTo>
                    <a:cubicBezTo>
                      <a:pt x="8437" y="9132"/>
                      <a:pt x="8645" y="8923"/>
                      <a:pt x="8900" y="8923"/>
                    </a:cubicBezTo>
                    <a:close/>
                    <a:moveTo>
                      <a:pt x="7973" y="10800"/>
                    </a:moveTo>
                    <a:cubicBezTo>
                      <a:pt x="8228" y="10800"/>
                      <a:pt x="8437" y="11009"/>
                      <a:pt x="8437" y="11264"/>
                    </a:cubicBezTo>
                    <a:cubicBezTo>
                      <a:pt x="8437" y="11542"/>
                      <a:pt x="8228" y="11750"/>
                      <a:pt x="7973" y="11750"/>
                    </a:cubicBezTo>
                    <a:lnTo>
                      <a:pt x="3269" y="11750"/>
                    </a:lnTo>
                    <a:cubicBezTo>
                      <a:pt x="3014" y="11750"/>
                      <a:pt x="2805" y="11542"/>
                      <a:pt x="2805" y="11264"/>
                    </a:cubicBezTo>
                    <a:cubicBezTo>
                      <a:pt x="2805" y="11009"/>
                      <a:pt x="3014" y="10800"/>
                      <a:pt x="3269" y="10800"/>
                    </a:cubicBezTo>
                    <a:close/>
                    <a:moveTo>
                      <a:pt x="9364" y="1"/>
                    </a:moveTo>
                    <a:cubicBezTo>
                      <a:pt x="8344" y="1"/>
                      <a:pt x="7487" y="835"/>
                      <a:pt x="7487" y="1878"/>
                    </a:cubicBezTo>
                    <a:lnTo>
                      <a:pt x="7487" y="1924"/>
                    </a:lnTo>
                    <a:lnTo>
                      <a:pt x="8437" y="1924"/>
                    </a:lnTo>
                    <a:lnTo>
                      <a:pt x="8437" y="1878"/>
                    </a:lnTo>
                    <a:cubicBezTo>
                      <a:pt x="8437" y="1345"/>
                      <a:pt x="8854" y="928"/>
                      <a:pt x="9364" y="928"/>
                    </a:cubicBezTo>
                    <a:cubicBezTo>
                      <a:pt x="9874" y="928"/>
                      <a:pt x="10291" y="1345"/>
                      <a:pt x="10291" y="1878"/>
                    </a:cubicBezTo>
                    <a:lnTo>
                      <a:pt x="10291" y="1924"/>
                    </a:lnTo>
                    <a:lnTo>
                      <a:pt x="10291" y="4242"/>
                    </a:lnTo>
                    <a:cubicBezTo>
                      <a:pt x="10291" y="5030"/>
                      <a:pt x="9665" y="5655"/>
                      <a:pt x="8900" y="5655"/>
                    </a:cubicBezTo>
                    <a:cubicBezTo>
                      <a:pt x="8112" y="5655"/>
                      <a:pt x="7487" y="5030"/>
                      <a:pt x="7487" y="4242"/>
                    </a:cubicBezTo>
                    <a:lnTo>
                      <a:pt x="7487" y="1924"/>
                    </a:lnTo>
                    <a:lnTo>
                      <a:pt x="464" y="1924"/>
                    </a:lnTo>
                    <a:cubicBezTo>
                      <a:pt x="210" y="1924"/>
                      <a:pt x="1" y="2133"/>
                      <a:pt x="1" y="2411"/>
                    </a:cubicBezTo>
                    <a:lnTo>
                      <a:pt x="1" y="13187"/>
                    </a:lnTo>
                    <a:cubicBezTo>
                      <a:pt x="1" y="13442"/>
                      <a:pt x="210" y="13651"/>
                      <a:pt x="464" y="13651"/>
                    </a:cubicBezTo>
                    <a:lnTo>
                      <a:pt x="9827" y="13651"/>
                    </a:lnTo>
                    <a:lnTo>
                      <a:pt x="9827" y="11264"/>
                    </a:lnTo>
                    <a:cubicBezTo>
                      <a:pt x="9827" y="11009"/>
                      <a:pt x="10036" y="10800"/>
                      <a:pt x="10314" y="10800"/>
                    </a:cubicBezTo>
                    <a:lnTo>
                      <a:pt x="13582" y="10800"/>
                    </a:lnTo>
                    <a:lnTo>
                      <a:pt x="13582" y="2411"/>
                    </a:lnTo>
                    <a:cubicBezTo>
                      <a:pt x="13582" y="2156"/>
                      <a:pt x="13373" y="1924"/>
                      <a:pt x="13118" y="1924"/>
                    </a:cubicBezTo>
                    <a:lnTo>
                      <a:pt x="11241" y="1924"/>
                    </a:lnTo>
                    <a:lnTo>
                      <a:pt x="11241" y="1878"/>
                    </a:lnTo>
                    <a:cubicBezTo>
                      <a:pt x="11241" y="835"/>
                      <a:pt x="10407" y="1"/>
                      <a:pt x="936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/>
              </a:p>
            </p:txBody>
          </p:sp>
        </p:grp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116D0C88-1CD9-7BF8-363C-3A9DF28390A8}"/>
                </a:ext>
              </a:extLst>
            </p:cNvPr>
            <p:cNvSpPr/>
            <p:nvPr/>
          </p:nvSpPr>
          <p:spPr>
            <a:xfrm>
              <a:off x="442293" y="1268556"/>
              <a:ext cx="2506391" cy="3252074"/>
            </a:xfrm>
            <a:prstGeom prst="roundRect">
              <a:avLst/>
            </a:prstGeom>
            <a:noFill/>
            <a:ln w="38100">
              <a:solidFill>
                <a:srgbClr val="C00000">
                  <a:alpha val="62742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465" name="Google Shape;442;p39">
            <a:extLst>
              <a:ext uri="{FF2B5EF4-FFF2-40B4-BE49-F238E27FC236}">
                <a16:creationId xmlns:a16="http://schemas.microsoft.com/office/drawing/2014/main" id="{425040FC-1CB2-FFF5-D407-BBA59C1CCDE9}"/>
              </a:ext>
            </a:extLst>
          </p:cNvPr>
          <p:cNvSpPr txBox="1"/>
          <p:nvPr/>
        </p:nvSpPr>
        <p:spPr>
          <a:xfrm>
            <a:off x="6189824" y="-3944467"/>
            <a:ext cx="2486347" cy="918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내 변동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큼</a:t>
            </a:r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,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간 차이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작음</a:t>
            </a:r>
            <a:endParaRPr sz="1800" b="1" dirty="0">
              <a:solidFill>
                <a:srgbClr val="C00000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466" name="Google Shape;448;p39">
            <a:extLst>
              <a:ext uri="{FF2B5EF4-FFF2-40B4-BE49-F238E27FC236}">
                <a16:creationId xmlns:a16="http://schemas.microsoft.com/office/drawing/2014/main" id="{1D15CC87-EC61-7A59-AA8B-C4A12BF4C4E1}"/>
              </a:ext>
            </a:extLst>
          </p:cNvPr>
          <p:cNvSpPr txBox="1"/>
          <p:nvPr/>
        </p:nvSpPr>
        <p:spPr>
          <a:xfrm>
            <a:off x="6200935" y="-1983215"/>
            <a:ext cx="2506061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클래스 내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다양한 분야 용어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를 포함하며 클래스 간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동일한 용어와 표현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이 다수 중복됨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.</a:t>
            </a:r>
          </a:p>
        </p:txBody>
      </p:sp>
      <p:sp>
        <p:nvSpPr>
          <p:cNvPr id="473" name="모서리가 둥근 직사각형 472">
            <a:extLst>
              <a:ext uri="{FF2B5EF4-FFF2-40B4-BE49-F238E27FC236}">
                <a16:creationId xmlns:a16="http://schemas.microsoft.com/office/drawing/2014/main" id="{ED969272-975D-D944-2411-A605E8416634}"/>
              </a:ext>
            </a:extLst>
          </p:cNvPr>
          <p:cNvSpPr/>
          <p:nvPr/>
        </p:nvSpPr>
        <p:spPr>
          <a:xfrm>
            <a:off x="6180056" y="-4093745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480" name="Google Shape;453;p39">
            <a:extLst>
              <a:ext uri="{FF2B5EF4-FFF2-40B4-BE49-F238E27FC236}">
                <a16:creationId xmlns:a16="http://schemas.microsoft.com/office/drawing/2014/main" id="{1527183A-EF50-E389-949C-C2A836F1507B}"/>
              </a:ext>
            </a:extLst>
          </p:cNvPr>
          <p:cNvGrpSpPr/>
          <p:nvPr/>
        </p:nvGrpSpPr>
        <p:grpSpPr>
          <a:xfrm>
            <a:off x="7110602" y="-2847913"/>
            <a:ext cx="645500" cy="645500"/>
            <a:chOff x="5763075" y="1451275"/>
            <a:chExt cx="399800" cy="399800"/>
          </a:xfrm>
          <a:solidFill>
            <a:srgbClr val="C00000"/>
          </a:solidFill>
        </p:grpSpPr>
        <p:sp>
          <p:nvSpPr>
            <p:cNvPr id="481" name="Google Shape;454;p39">
              <a:extLst>
                <a:ext uri="{FF2B5EF4-FFF2-40B4-BE49-F238E27FC236}">
                  <a16:creationId xmlns:a16="http://schemas.microsoft.com/office/drawing/2014/main" id="{06ABDD7B-BD9E-513F-13AB-37841F6D64ED}"/>
                </a:ext>
              </a:extLst>
            </p:cNvPr>
            <p:cNvSpPr/>
            <p:nvPr/>
          </p:nvSpPr>
          <p:spPr>
            <a:xfrm>
              <a:off x="6034225" y="1462875"/>
              <a:ext cx="128650" cy="165150"/>
            </a:xfrm>
            <a:custGeom>
              <a:avLst/>
              <a:gdLst/>
              <a:ahLst/>
              <a:cxnLst/>
              <a:rect l="l" t="t" r="r" b="b"/>
              <a:pathLst>
                <a:path w="5146" h="6606" extrusionOk="0">
                  <a:moveTo>
                    <a:pt x="3732" y="0"/>
                  </a:moveTo>
                  <a:cubicBezTo>
                    <a:pt x="3106" y="0"/>
                    <a:pt x="2573" y="394"/>
                    <a:pt x="2388" y="950"/>
                  </a:cubicBezTo>
                  <a:lnTo>
                    <a:pt x="1" y="950"/>
                  </a:lnTo>
                  <a:lnTo>
                    <a:pt x="1" y="2596"/>
                  </a:lnTo>
                  <a:cubicBezTo>
                    <a:pt x="1553" y="3407"/>
                    <a:pt x="2689" y="4867"/>
                    <a:pt x="3106" y="6605"/>
                  </a:cubicBezTo>
                  <a:lnTo>
                    <a:pt x="4056" y="6605"/>
                  </a:lnTo>
                  <a:cubicBezTo>
                    <a:pt x="3662" y="4566"/>
                    <a:pt x="2364" y="2874"/>
                    <a:pt x="673" y="1901"/>
                  </a:cubicBezTo>
                  <a:lnTo>
                    <a:pt x="2388" y="1901"/>
                  </a:lnTo>
                  <a:cubicBezTo>
                    <a:pt x="2573" y="2457"/>
                    <a:pt x="3106" y="2851"/>
                    <a:pt x="3732" y="2851"/>
                  </a:cubicBezTo>
                  <a:cubicBezTo>
                    <a:pt x="4520" y="2851"/>
                    <a:pt x="5145" y="2202"/>
                    <a:pt x="5145" y="1414"/>
                  </a:cubicBezTo>
                  <a:cubicBezTo>
                    <a:pt x="5145" y="649"/>
                    <a:pt x="4520" y="0"/>
                    <a:pt x="37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2" name="Google Shape;455;p39">
              <a:extLst>
                <a:ext uri="{FF2B5EF4-FFF2-40B4-BE49-F238E27FC236}">
                  <a16:creationId xmlns:a16="http://schemas.microsoft.com/office/drawing/2014/main" id="{FC07DB9C-9CA1-6510-AE64-53F84C0B2087}"/>
                </a:ext>
              </a:extLst>
            </p:cNvPr>
            <p:cNvSpPr/>
            <p:nvPr/>
          </p:nvSpPr>
          <p:spPr>
            <a:xfrm>
              <a:off x="5763075" y="1462875"/>
              <a:ext cx="129225" cy="165150"/>
            </a:xfrm>
            <a:custGeom>
              <a:avLst/>
              <a:gdLst/>
              <a:ahLst/>
              <a:cxnLst/>
              <a:rect l="l" t="t" r="r" b="b"/>
              <a:pathLst>
                <a:path w="5169" h="6606" extrusionOk="0">
                  <a:moveTo>
                    <a:pt x="1437" y="0"/>
                  </a:moveTo>
                  <a:cubicBezTo>
                    <a:pt x="649" y="0"/>
                    <a:pt x="1" y="649"/>
                    <a:pt x="1" y="1414"/>
                  </a:cubicBezTo>
                  <a:cubicBezTo>
                    <a:pt x="1" y="2202"/>
                    <a:pt x="649" y="2851"/>
                    <a:pt x="1437" y="2851"/>
                  </a:cubicBezTo>
                  <a:cubicBezTo>
                    <a:pt x="2040" y="2851"/>
                    <a:pt x="2573" y="2457"/>
                    <a:pt x="2758" y="1901"/>
                  </a:cubicBezTo>
                  <a:lnTo>
                    <a:pt x="4473" y="1901"/>
                  </a:lnTo>
                  <a:cubicBezTo>
                    <a:pt x="2782" y="2874"/>
                    <a:pt x="1507" y="4566"/>
                    <a:pt x="1090" y="6605"/>
                  </a:cubicBezTo>
                  <a:lnTo>
                    <a:pt x="2063" y="6605"/>
                  </a:lnTo>
                  <a:cubicBezTo>
                    <a:pt x="2457" y="4867"/>
                    <a:pt x="3616" y="3407"/>
                    <a:pt x="5169" y="2596"/>
                  </a:cubicBezTo>
                  <a:lnTo>
                    <a:pt x="5169" y="950"/>
                  </a:lnTo>
                  <a:lnTo>
                    <a:pt x="2782" y="950"/>
                  </a:lnTo>
                  <a:cubicBezTo>
                    <a:pt x="2573" y="394"/>
                    <a:pt x="2040" y="0"/>
                    <a:pt x="14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3" name="Google Shape;456;p39">
              <a:extLst>
                <a:ext uri="{FF2B5EF4-FFF2-40B4-BE49-F238E27FC236}">
                  <a16:creationId xmlns:a16="http://schemas.microsoft.com/office/drawing/2014/main" id="{C2F420B2-FA9A-D5AF-6EAE-91CE6C86C5F9}"/>
                </a:ext>
              </a:extLst>
            </p:cNvPr>
            <p:cNvSpPr/>
            <p:nvPr/>
          </p:nvSpPr>
          <p:spPr>
            <a:xfrm>
              <a:off x="5763075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4" name="Google Shape;457;p39">
              <a:extLst>
                <a:ext uri="{FF2B5EF4-FFF2-40B4-BE49-F238E27FC236}">
                  <a16:creationId xmlns:a16="http://schemas.microsoft.com/office/drawing/2014/main" id="{2B54BCD6-EF93-E717-A589-4653BB5A411B}"/>
                </a:ext>
              </a:extLst>
            </p:cNvPr>
            <p:cNvSpPr/>
            <p:nvPr/>
          </p:nvSpPr>
          <p:spPr>
            <a:xfrm>
              <a:off x="6091000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5" name="Google Shape;458;p39">
              <a:extLst>
                <a:ext uri="{FF2B5EF4-FFF2-40B4-BE49-F238E27FC236}">
                  <a16:creationId xmlns:a16="http://schemas.microsoft.com/office/drawing/2014/main" id="{77811CED-140C-5098-7A52-66A6B72A4CEB}"/>
                </a:ext>
              </a:extLst>
            </p:cNvPr>
            <p:cNvSpPr/>
            <p:nvPr/>
          </p:nvSpPr>
          <p:spPr>
            <a:xfrm>
              <a:off x="5915450" y="1451275"/>
              <a:ext cx="95625" cy="95625"/>
            </a:xfrm>
            <a:custGeom>
              <a:avLst/>
              <a:gdLst/>
              <a:ahLst/>
              <a:cxnLst/>
              <a:rect l="l" t="t" r="r" b="b"/>
              <a:pathLst>
                <a:path w="3825" h="3825" extrusionOk="0">
                  <a:moveTo>
                    <a:pt x="464" y="1"/>
                  </a:moveTo>
                  <a:cubicBezTo>
                    <a:pt x="209" y="1"/>
                    <a:pt x="1" y="209"/>
                    <a:pt x="1" y="487"/>
                  </a:cubicBezTo>
                  <a:lnTo>
                    <a:pt x="1" y="3361"/>
                  </a:lnTo>
                  <a:cubicBezTo>
                    <a:pt x="1" y="3616"/>
                    <a:pt x="209" y="3825"/>
                    <a:pt x="464" y="3825"/>
                  </a:cubicBezTo>
                  <a:lnTo>
                    <a:pt x="3338" y="3825"/>
                  </a:lnTo>
                  <a:cubicBezTo>
                    <a:pt x="3593" y="3825"/>
                    <a:pt x="3825" y="3616"/>
                    <a:pt x="3825" y="3361"/>
                  </a:cubicBezTo>
                  <a:lnTo>
                    <a:pt x="3825" y="487"/>
                  </a:lnTo>
                  <a:cubicBezTo>
                    <a:pt x="3825" y="232"/>
                    <a:pt x="3593" y="1"/>
                    <a:pt x="33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6" name="Google Shape;459;p39">
              <a:extLst>
                <a:ext uri="{FF2B5EF4-FFF2-40B4-BE49-F238E27FC236}">
                  <a16:creationId xmlns:a16="http://schemas.microsoft.com/office/drawing/2014/main" id="{24EEC31B-AC94-3807-D045-C9E2693ABA3D}"/>
                </a:ext>
              </a:extLst>
            </p:cNvPr>
            <p:cNvSpPr/>
            <p:nvPr/>
          </p:nvSpPr>
          <p:spPr>
            <a:xfrm>
              <a:off x="5885900" y="1568900"/>
              <a:ext cx="155300" cy="164550"/>
            </a:xfrm>
            <a:custGeom>
              <a:avLst/>
              <a:gdLst/>
              <a:ahLst/>
              <a:cxnLst/>
              <a:rect l="l" t="t" r="r" b="b"/>
              <a:pathLst>
                <a:path w="6212" h="6582" extrusionOk="0">
                  <a:moveTo>
                    <a:pt x="1206" y="0"/>
                  </a:moveTo>
                  <a:cubicBezTo>
                    <a:pt x="951" y="0"/>
                    <a:pt x="742" y="209"/>
                    <a:pt x="742" y="464"/>
                  </a:cubicBezTo>
                  <a:cubicBezTo>
                    <a:pt x="742" y="719"/>
                    <a:pt x="951" y="927"/>
                    <a:pt x="1206" y="927"/>
                  </a:cubicBezTo>
                  <a:lnTo>
                    <a:pt x="1206" y="4172"/>
                  </a:lnTo>
                  <a:lnTo>
                    <a:pt x="1" y="6582"/>
                  </a:lnTo>
                  <a:lnTo>
                    <a:pt x="6212" y="6582"/>
                  </a:lnTo>
                  <a:lnTo>
                    <a:pt x="5030" y="4125"/>
                  </a:lnTo>
                  <a:lnTo>
                    <a:pt x="5030" y="927"/>
                  </a:lnTo>
                  <a:cubicBezTo>
                    <a:pt x="5261" y="904"/>
                    <a:pt x="5424" y="695"/>
                    <a:pt x="5424" y="464"/>
                  </a:cubicBezTo>
                  <a:cubicBezTo>
                    <a:pt x="5424" y="209"/>
                    <a:pt x="5215" y="0"/>
                    <a:pt x="49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3" name="Google Shape;460;p39">
              <a:extLst>
                <a:ext uri="{FF2B5EF4-FFF2-40B4-BE49-F238E27FC236}">
                  <a16:creationId xmlns:a16="http://schemas.microsoft.com/office/drawing/2014/main" id="{F272BC06-EB4B-C8D1-9221-E68E7CFDBD12}"/>
                </a:ext>
              </a:extLst>
            </p:cNvPr>
            <p:cNvSpPr/>
            <p:nvPr/>
          </p:nvSpPr>
          <p:spPr>
            <a:xfrm>
              <a:off x="5831450" y="1756600"/>
              <a:ext cx="263050" cy="94475"/>
            </a:xfrm>
            <a:custGeom>
              <a:avLst/>
              <a:gdLst/>
              <a:ahLst/>
              <a:cxnLst/>
              <a:rect l="l" t="t" r="r" b="b"/>
              <a:pathLst>
                <a:path w="10522" h="3779" extrusionOk="0">
                  <a:moveTo>
                    <a:pt x="8853" y="1"/>
                  </a:moveTo>
                  <a:lnTo>
                    <a:pt x="8853" y="24"/>
                  </a:lnTo>
                  <a:lnTo>
                    <a:pt x="1715" y="24"/>
                  </a:lnTo>
                  <a:lnTo>
                    <a:pt x="162" y="3106"/>
                  </a:lnTo>
                  <a:cubicBezTo>
                    <a:pt x="0" y="3431"/>
                    <a:pt x="232" y="3779"/>
                    <a:pt x="580" y="3779"/>
                  </a:cubicBezTo>
                  <a:lnTo>
                    <a:pt x="9942" y="3779"/>
                  </a:lnTo>
                  <a:cubicBezTo>
                    <a:pt x="10290" y="3779"/>
                    <a:pt x="10522" y="3431"/>
                    <a:pt x="10383" y="3106"/>
                  </a:cubicBezTo>
                  <a:lnTo>
                    <a:pt x="88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62" name="Google Shape;442;p39">
            <a:extLst>
              <a:ext uri="{FF2B5EF4-FFF2-40B4-BE49-F238E27FC236}">
                <a16:creationId xmlns:a16="http://schemas.microsoft.com/office/drawing/2014/main" id="{21DD9B7B-5EE8-71B5-44A3-C01C97E4317F}"/>
              </a:ext>
            </a:extLst>
          </p:cNvPr>
          <p:cNvSpPr txBox="1"/>
          <p:nvPr/>
        </p:nvSpPr>
        <p:spPr>
          <a:xfrm>
            <a:off x="3297656" y="6028891"/>
            <a:ext cx="2486347" cy="55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불균형</a:t>
            </a: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 심각</a:t>
            </a:r>
            <a:endParaRPr sz="1800" b="1" dirty="0">
              <a:solidFill>
                <a:schemeClr val="tx1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63" name="Google Shape;448;p39">
            <a:extLst>
              <a:ext uri="{FF2B5EF4-FFF2-40B4-BE49-F238E27FC236}">
                <a16:creationId xmlns:a16="http://schemas.microsoft.com/office/drawing/2014/main" id="{B6D376FB-B084-7131-0E4F-BF69B95A9821}"/>
              </a:ext>
            </a:extLst>
          </p:cNvPr>
          <p:cNvSpPr txBox="1"/>
          <p:nvPr/>
        </p:nvSpPr>
        <p:spPr>
          <a:xfrm>
            <a:off x="3240912" y="7822246"/>
            <a:ext cx="2615878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n-ea"/>
                <a:ea typeface="+mn-ea"/>
              </a:rPr>
              <a:t>G06F</a:t>
            </a:r>
            <a:r>
              <a:rPr lang="en-US" altLang="ko-KR" sz="1100" dirty="0">
                <a:latin typeface="+mn-ea"/>
                <a:ea typeface="+mn-ea"/>
              </a:rPr>
              <a:t>: 398,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G06Q</a:t>
            </a:r>
            <a:r>
              <a:rPr lang="en-US" altLang="ko-KR" sz="1100" dirty="0">
                <a:latin typeface="+mn-ea"/>
                <a:ea typeface="+mn-ea"/>
              </a:rPr>
              <a:t>: 1,791,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G16H</a:t>
            </a:r>
            <a:r>
              <a:rPr lang="en-US" altLang="ko-KR" sz="1100" dirty="0">
                <a:latin typeface="+mn-ea"/>
                <a:ea typeface="+mn-ea"/>
              </a:rPr>
              <a:t>: 215</a:t>
            </a:r>
            <a:r>
              <a:rPr lang="ko-KR" altLang="en-US" sz="1100" dirty="0">
                <a:latin typeface="+mn-ea"/>
                <a:ea typeface="+mn-ea"/>
              </a:rPr>
              <a:t>개</a:t>
            </a:r>
            <a:endParaRPr lang="en-US" altLang="ko-KR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</a:rPr>
              <a:t>소수 클래스에 대한 예측 성능 저조 </a:t>
            </a:r>
            <a:r>
              <a:rPr lang="ko-KR" altLang="en-US" sz="1200" dirty="0">
                <a:latin typeface="+mn-ea"/>
                <a:ea typeface="+mn-ea"/>
              </a:rPr>
              <a:t>및 다수 클래스로의 </a:t>
            </a:r>
            <a:r>
              <a:rPr lang="ko-KR" altLang="en-US" sz="1200" dirty="0" err="1">
                <a:latin typeface="+mn-ea"/>
                <a:ea typeface="+mn-ea"/>
              </a:rPr>
              <a:t>오분류</a:t>
            </a:r>
            <a:r>
              <a:rPr lang="ko-KR" altLang="en-US" sz="1200" dirty="0">
                <a:latin typeface="+mn-ea"/>
                <a:ea typeface="+mn-ea"/>
              </a:rPr>
              <a:t> 증가</a:t>
            </a:r>
          </a:p>
        </p:txBody>
      </p:sp>
      <p:sp>
        <p:nvSpPr>
          <p:cNvPr id="464" name="모서리가 둥근 직사각형 463">
            <a:extLst>
              <a:ext uri="{FF2B5EF4-FFF2-40B4-BE49-F238E27FC236}">
                <a16:creationId xmlns:a16="http://schemas.microsoft.com/office/drawing/2014/main" id="{2529AECC-8076-0F81-6EB3-8E30E9D4DDC7}"/>
              </a:ext>
            </a:extLst>
          </p:cNvPr>
          <p:cNvSpPr/>
          <p:nvPr/>
        </p:nvSpPr>
        <p:spPr>
          <a:xfrm>
            <a:off x="3287888" y="5734866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494" name="Google Shape;474;p39">
            <a:extLst>
              <a:ext uri="{FF2B5EF4-FFF2-40B4-BE49-F238E27FC236}">
                <a16:creationId xmlns:a16="http://schemas.microsoft.com/office/drawing/2014/main" id="{F19829DB-2574-39D2-E933-BC0590D755E9}"/>
              </a:ext>
            </a:extLst>
          </p:cNvPr>
          <p:cNvGrpSpPr/>
          <p:nvPr/>
        </p:nvGrpSpPr>
        <p:grpSpPr>
          <a:xfrm>
            <a:off x="4133583" y="6992173"/>
            <a:ext cx="657134" cy="657175"/>
            <a:chOff x="2490750" y="3544575"/>
            <a:chExt cx="399775" cy="399800"/>
          </a:xfrm>
          <a:solidFill>
            <a:srgbClr val="C00000"/>
          </a:solidFill>
        </p:grpSpPr>
        <p:sp>
          <p:nvSpPr>
            <p:cNvPr id="495" name="Google Shape;475;p39">
              <a:extLst>
                <a:ext uri="{FF2B5EF4-FFF2-40B4-BE49-F238E27FC236}">
                  <a16:creationId xmlns:a16="http://schemas.microsoft.com/office/drawing/2014/main" id="{BC8CA97F-F19A-01B4-5D05-C837B2870B0A}"/>
                </a:ext>
              </a:extLst>
            </p:cNvPr>
            <p:cNvSpPr/>
            <p:nvPr/>
          </p:nvSpPr>
          <p:spPr>
            <a:xfrm>
              <a:off x="27265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10" y="1878"/>
                  </a:moveTo>
                  <a:cubicBezTo>
                    <a:pt x="4328" y="1878"/>
                    <a:pt x="4450" y="1924"/>
                    <a:pt x="4543" y="2017"/>
                  </a:cubicBezTo>
                  <a:cubicBezTo>
                    <a:pt x="4728" y="2179"/>
                    <a:pt x="4728" y="2480"/>
                    <a:pt x="4543" y="2666"/>
                  </a:cubicBezTo>
                  <a:lnTo>
                    <a:pt x="3940" y="3291"/>
                  </a:lnTo>
                  <a:lnTo>
                    <a:pt x="4543" y="3894"/>
                  </a:lnTo>
                  <a:cubicBezTo>
                    <a:pt x="4728" y="4079"/>
                    <a:pt x="4728" y="4381"/>
                    <a:pt x="4543" y="4566"/>
                  </a:cubicBezTo>
                  <a:cubicBezTo>
                    <a:pt x="4450" y="4659"/>
                    <a:pt x="4328" y="4705"/>
                    <a:pt x="4210" y="4705"/>
                  </a:cubicBezTo>
                  <a:cubicBezTo>
                    <a:pt x="4091" y="4705"/>
                    <a:pt x="3975" y="4659"/>
                    <a:pt x="3894" y="4566"/>
                  </a:cubicBezTo>
                  <a:lnTo>
                    <a:pt x="3268" y="3940"/>
                  </a:lnTo>
                  <a:lnTo>
                    <a:pt x="2666" y="4566"/>
                  </a:lnTo>
                  <a:cubicBezTo>
                    <a:pt x="2573" y="4659"/>
                    <a:pt x="2451" y="4705"/>
                    <a:pt x="2330" y="4705"/>
                  </a:cubicBezTo>
                  <a:cubicBezTo>
                    <a:pt x="2208" y="4705"/>
                    <a:pt x="2086" y="4659"/>
                    <a:pt x="1993" y="4566"/>
                  </a:cubicBezTo>
                  <a:cubicBezTo>
                    <a:pt x="1808" y="4381"/>
                    <a:pt x="1808" y="4079"/>
                    <a:pt x="1993" y="3894"/>
                  </a:cubicBezTo>
                  <a:lnTo>
                    <a:pt x="2596" y="3291"/>
                  </a:lnTo>
                  <a:lnTo>
                    <a:pt x="1993" y="2666"/>
                  </a:lnTo>
                  <a:cubicBezTo>
                    <a:pt x="1808" y="2480"/>
                    <a:pt x="1808" y="2179"/>
                    <a:pt x="1993" y="2017"/>
                  </a:cubicBezTo>
                  <a:cubicBezTo>
                    <a:pt x="2086" y="1924"/>
                    <a:pt x="2208" y="1878"/>
                    <a:pt x="2330" y="1878"/>
                  </a:cubicBezTo>
                  <a:cubicBezTo>
                    <a:pt x="2451" y="1878"/>
                    <a:pt x="2573" y="1924"/>
                    <a:pt x="2666" y="2017"/>
                  </a:cubicBezTo>
                  <a:lnTo>
                    <a:pt x="3268" y="2619"/>
                  </a:lnTo>
                  <a:lnTo>
                    <a:pt x="3894" y="2017"/>
                  </a:lnTo>
                  <a:cubicBezTo>
                    <a:pt x="3975" y="1924"/>
                    <a:pt x="4091" y="1878"/>
                    <a:pt x="4210" y="1878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6" y="6559"/>
                    <a:pt x="6559" y="5099"/>
                    <a:pt x="6559" y="3291"/>
                  </a:cubicBezTo>
                  <a:cubicBezTo>
                    <a:pt x="6559" y="1484"/>
                    <a:pt x="5076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6" name="Google Shape;476;p39">
              <a:extLst>
                <a:ext uri="{FF2B5EF4-FFF2-40B4-BE49-F238E27FC236}">
                  <a16:creationId xmlns:a16="http://schemas.microsoft.com/office/drawing/2014/main" id="{BD13B896-6F55-EA6F-0A4B-305DF1FD4642}"/>
                </a:ext>
              </a:extLst>
            </p:cNvPr>
            <p:cNvSpPr/>
            <p:nvPr/>
          </p:nvSpPr>
          <p:spPr>
            <a:xfrm>
              <a:off x="24907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53" y="2202"/>
                  </a:moveTo>
                  <a:cubicBezTo>
                    <a:pt x="4374" y="2202"/>
                    <a:pt x="4496" y="2248"/>
                    <a:pt x="4589" y="2341"/>
                  </a:cubicBezTo>
                  <a:cubicBezTo>
                    <a:pt x="4751" y="2503"/>
                    <a:pt x="4751" y="2805"/>
                    <a:pt x="4589" y="2990"/>
                  </a:cubicBezTo>
                  <a:lnTo>
                    <a:pt x="4566" y="2990"/>
                  </a:lnTo>
                  <a:lnTo>
                    <a:pt x="3291" y="4265"/>
                  </a:lnTo>
                  <a:cubicBezTo>
                    <a:pt x="3198" y="4357"/>
                    <a:pt x="3077" y="4404"/>
                    <a:pt x="2958" y="4404"/>
                  </a:cubicBezTo>
                  <a:cubicBezTo>
                    <a:pt x="2839" y="4404"/>
                    <a:pt x="2723" y="4357"/>
                    <a:pt x="2642" y="4265"/>
                  </a:cubicBezTo>
                  <a:lnTo>
                    <a:pt x="2040" y="3685"/>
                  </a:lnTo>
                  <a:cubicBezTo>
                    <a:pt x="1854" y="3500"/>
                    <a:pt x="1854" y="3199"/>
                    <a:pt x="2040" y="3013"/>
                  </a:cubicBezTo>
                  <a:cubicBezTo>
                    <a:pt x="2132" y="2921"/>
                    <a:pt x="2254" y="2874"/>
                    <a:pt x="2376" y="2874"/>
                  </a:cubicBezTo>
                  <a:cubicBezTo>
                    <a:pt x="2497" y="2874"/>
                    <a:pt x="2619" y="2921"/>
                    <a:pt x="2712" y="3013"/>
                  </a:cubicBezTo>
                  <a:lnTo>
                    <a:pt x="2967" y="3291"/>
                  </a:lnTo>
                  <a:lnTo>
                    <a:pt x="3917" y="2341"/>
                  </a:lnTo>
                  <a:cubicBezTo>
                    <a:pt x="4009" y="2248"/>
                    <a:pt x="4131" y="2202"/>
                    <a:pt x="4253" y="2202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5" y="6559"/>
                    <a:pt x="6559" y="5099"/>
                    <a:pt x="6559" y="3291"/>
                  </a:cubicBezTo>
                  <a:cubicBezTo>
                    <a:pt x="6559" y="1484"/>
                    <a:pt x="5075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9" name="Google Shape;477;p39">
              <a:extLst>
                <a:ext uri="{FF2B5EF4-FFF2-40B4-BE49-F238E27FC236}">
                  <a16:creationId xmlns:a16="http://schemas.microsoft.com/office/drawing/2014/main" id="{CAEEB10A-8A50-7FA5-F4C2-3408BB7BD85F}"/>
                </a:ext>
              </a:extLst>
            </p:cNvPr>
            <p:cNvSpPr/>
            <p:nvPr/>
          </p:nvSpPr>
          <p:spPr>
            <a:xfrm>
              <a:off x="2590975" y="3665075"/>
              <a:ext cx="227150" cy="232375"/>
            </a:xfrm>
            <a:custGeom>
              <a:avLst/>
              <a:gdLst/>
              <a:ahLst/>
              <a:cxnLst/>
              <a:rect l="l" t="t" r="r" b="b"/>
              <a:pathLst>
                <a:path w="9086" h="9295" extrusionOk="0">
                  <a:moveTo>
                    <a:pt x="3940" y="1"/>
                  </a:moveTo>
                  <a:cubicBezTo>
                    <a:pt x="3361" y="1"/>
                    <a:pt x="2897" y="464"/>
                    <a:pt x="2897" y="1021"/>
                  </a:cubicBezTo>
                  <a:lnTo>
                    <a:pt x="2897" y="6119"/>
                  </a:lnTo>
                  <a:lnTo>
                    <a:pt x="1924" y="5308"/>
                  </a:lnTo>
                  <a:cubicBezTo>
                    <a:pt x="1717" y="5134"/>
                    <a:pt x="1458" y="5046"/>
                    <a:pt x="1199" y="5046"/>
                  </a:cubicBezTo>
                  <a:cubicBezTo>
                    <a:pt x="908" y="5046"/>
                    <a:pt x="615" y="5157"/>
                    <a:pt x="394" y="5378"/>
                  </a:cubicBezTo>
                  <a:cubicBezTo>
                    <a:pt x="0" y="5772"/>
                    <a:pt x="24" y="6397"/>
                    <a:pt x="464" y="6768"/>
                  </a:cubicBezTo>
                  <a:lnTo>
                    <a:pt x="2897" y="8807"/>
                  </a:lnTo>
                  <a:lnTo>
                    <a:pt x="2897" y="9294"/>
                  </a:lnTo>
                  <a:lnTo>
                    <a:pt x="9085" y="9294"/>
                  </a:lnTo>
                  <a:lnTo>
                    <a:pt x="9085" y="5076"/>
                  </a:lnTo>
                  <a:cubicBezTo>
                    <a:pt x="9085" y="4566"/>
                    <a:pt x="8691" y="4126"/>
                    <a:pt x="8181" y="4057"/>
                  </a:cubicBezTo>
                  <a:lnTo>
                    <a:pt x="4960" y="3663"/>
                  </a:lnTo>
                  <a:lnTo>
                    <a:pt x="4960" y="1021"/>
                  </a:lnTo>
                  <a:cubicBezTo>
                    <a:pt x="4960" y="464"/>
                    <a:pt x="4496" y="1"/>
                    <a:pt x="3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0" name="Google Shape;478;p39">
              <a:extLst>
                <a:ext uri="{FF2B5EF4-FFF2-40B4-BE49-F238E27FC236}">
                  <a16:creationId xmlns:a16="http://schemas.microsoft.com/office/drawing/2014/main" id="{F20F1B5A-6B90-F6B7-5EAB-7A131C954A0A}"/>
                </a:ext>
              </a:extLst>
            </p:cNvPr>
            <p:cNvSpPr/>
            <p:nvPr/>
          </p:nvSpPr>
          <p:spPr>
            <a:xfrm>
              <a:off x="2663400" y="3921175"/>
              <a:ext cx="154725" cy="23200"/>
            </a:xfrm>
            <a:custGeom>
              <a:avLst/>
              <a:gdLst/>
              <a:ahLst/>
              <a:cxnLst/>
              <a:rect l="l" t="t" r="r" b="b"/>
              <a:pathLst>
                <a:path w="6189" h="928" extrusionOk="0">
                  <a:moveTo>
                    <a:pt x="0" y="0"/>
                  </a:moveTo>
                  <a:lnTo>
                    <a:pt x="0" y="927"/>
                  </a:lnTo>
                  <a:lnTo>
                    <a:pt x="6188" y="927"/>
                  </a:lnTo>
                  <a:lnTo>
                    <a:pt x="6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EB97A95A-07B5-76EE-BDA6-0A8346011935}"/>
              </a:ext>
            </a:extLst>
          </p:cNvPr>
          <p:cNvSpPr txBox="1">
            <a:spLocks/>
          </p:cNvSpPr>
          <p:nvPr/>
        </p:nvSpPr>
        <p:spPr>
          <a:xfrm>
            <a:off x="1284000" y="2000604"/>
            <a:ext cx="6576000" cy="1438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3200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3200">
                <a:latin typeface="+mj-ea"/>
                <a:ea typeface="+mj-ea"/>
              </a:rPr>
              <a:t>와 </a:t>
            </a:r>
            <a:r>
              <a:rPr lang="en-US" altLang="ko-KR" sz="3200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ko-KR" altLang="en-US" sz="3200">
                <a:latin typeface="+mj-ea"/>
                <a:ea typeface="+mj-ea"/>
              </a:rPr>
              <a:t>를 활용한 </a:t>
            </a:r>
            <a:r>
              <a:rPr lang="en-US" altLang="ko-KR" sz="3200">
                <a:solidFill>
                  <a:srgbClr val="437ED5"/>
                </a:solidFill>
                <a:latin typeface="+mj-ea"/>
                <a:ea typeface="+mj-ea"/>
              </a:rPr>
              <a:t>KNN </a:t>
            </a:r>
            <a:r>
              <a:rPr lang="ko-KR" altLang="en-US" sz="3200">
                <a:solidFill>
                  <a:schemeClr val="tx1"/>
                </a:solidFill>
                <a:latin typeface="+mj-ea"/>
                <a:ea typeface="+mj-ea"/>
              </a:rPr>
              <a:t>기반</a:t>
            </a:r>
            <a:r>
              <a:rPr lang="ko-KR" altLang="en-US" sz="320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en-US" altLang="ko-KR" sz="3200">
                <a:latin typeface="+mj-ea"/>
                <a:ea typeface="+mj-ea"/>
              </a:rPr>
              <a:t>IPC </a:t>
            </a:r>
            <a:r>
              <a:rPr lang="ko-KR" altLang="en-US" sz="3200">
                <a:latin typeface="+mj-ea"/>
                <a:ea typeface="+mj-ea"/>
              </a:rPr>
              <a:t>자동분류</a:t>
            </a:r>
            <a:endParaRPr lang="ko-KR" altLang="en-US" sz="3200" dirty="0">
              <a:latin typeface="+mj-ea"/>
              <a:ea typeface="+mj-ea"/>
            </a:endParaRPr>
          </a:p>
        </p:txBody>
      </p:sp>
      <p:sp>
        <p:nvSpPr>
          <p:cNvPr id="3" name="Google Shape;405;p36">
            <a:extLst>
              <a:ext uri="{FF2B5EF4-FFF2-40B4-BE49-F238E27FC236}">
                <a16:creationId xmlns:a16="http://schemas.microsoft.com/office/drawing/2014/main" id="{DD67D20E-8397-8442-17D9-76C71206A271}"/>
              </a:ext>
            </a:extLst>
          </p:cNvPr>
          <p:cNvSpPr txBox="1">
            <a:spLocks/>
          </p:cNvSpPr>
          <p:nvPr/>
        </p:nvSpPr>
        <p:spPr>
          <a:xfrm>
            <a:off x="1284000" y="1788954"/>
            <a:ext cx="65760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ko-KR" altLang="en-US" dirty="0">
                <a:latin typeface="+mj-ea"/>
                <a:ea typeface="+mj-ea"/>
              </a:rPr>
              <a:t>선행연구의 </a:t>
            </a:r>
            <a:r>
              <a:rPr lang="ko-KR" altLang="en-US" b="1" dirty="0">
                <a:latin typeface="+mj-ea"/>
                <a:ea typeface="+mj-ea"/>
              </a:rPr>
              <a:t>한계를 보완</a:t>
            </a:r>
            <a:r>
              <a:rPr lang="ko-KR" altLang="en-US" dirty="0">
                <a:latin typeface="+mj-ea"/>
                <a:ea typeface="+mj-ea"/>
              </a:rPr>
              <a:t>하고 </a:t>
            </a:r>
            <a:r>
              <a:rPr lang="ko-KR" altLang="en-US" b="1" dirty="0">
                <a:solidFill>
                  <a:srgbClr val="EE4B3B"/>
                </a:solidFill>
                <a:latin typeface="+mj-ea"/>
                <a:ea typeface="+mj-ea"/>
              </a:rPr>
              <a:t>데이터의 주요 쟁점 해결</a:t>
            </a:r>
            <a:r>
              <a:rPr lang="ko-KR" altLang="en-US" dirty="0">
                <a:latin typeface="+mj-ea"/>
                <a:ea typeface="+mj-ea"/>
              </a:rPr>
              <a:t>을 위한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565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1EEDF2A2-20CD-3442-F49C-2800659B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D69E659-A1B7-19E5-7487-E0EF66D8B13D}"/>
              </a:ext>
            </a:extLst>
          </p:cNvPr>
          <p:cNvGrpSpPr/>
          <p:nvPr/>
        </p:nvGrpSpPr>
        <p:grpSpPr>
          <a:xfrm>
            <a:off x="5771939" y="1268556"/>
            <a:ext cx="2526940" cy="3272622"/>
            <a:chOff x="442293" y="1268556"/>
            <a:chExt cx="2526940" cy="3272622"/>
          </a:xfrm>
        </p:grpSpPr>
        <p:sp>
          <p:nvSpPr>
            <p:cNvPr id="103" name="Google Shape;442;p39">
              <a:extLst>
                <a:ext uri="{FF2B5EF4-FFF2-40B4-BE49-F238E27FC236}">
                  <a16:creationId xmlns:a16="http://schemas.microsoft.com/office/drawing/2014/main" id="{F9E02EF6-D0DC-30E7-DDE9-07956EF09129}"/>
                </a:ext>
              </a:extLst>
            </p:cNvPr>
            <p:cNvSpPr txBox="1"/>
            <p:nvPr/>
          </p:nvSpPr>
          <p:spPr>
            <a:xfrm>
              <a:off x="452061" y="1417834"/>
              <a:ext cx="2486347" cy="918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도메인에 </a:t>
              </a:r>
              <a:r>
                <a:rPr lang="ko-KR" altLang="en-US" sz="1800" b="1" dirty="0">
                  <a:solidFill>
                    <a:srgbClr val="C00000"/>
                  </a:solidFill>
                  <a:latin typeface="+mj-ea"/>
                  <a:ea typeface="+mj-ea"/>
                  <a:cs typeface="Poppins Medium"/>
                  <a:sym typeface="Poppins Medium"/>
                </a:rPr>
                <a:t>특화된</a:t>
              </a:r>
              <a:endParaRPr lang="en-US" altLang="ko-KR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전문 용어 다수 포함</a:t>
              </a:r>
              <a:endParaRPr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</p:txBody>
        </p:sp>
        <p:sp>
          <p:nvSpPr>
            <p:cNvPr id="104" name="Google Shape;448;p39">
              <a:extLst>
                <a:ext uri="{FF2B5EF4-FFF2-40B4-BE49-F238E27FC236}">
                  <a16:creationId xmlns:a16="http://schemas.microsoft.com/office/drawing/2014/main" id="{9405C655-F3C3-C4A4-3678-B2955CE89399}"/>
                </a:ext>
              </a:extLst>
            </p:cNvPr>
            <p:cNvSpPr txBox="1"/>
            <p:nvPr/>
          </p:nvSpPr>
          <p:spPr>
            <a:xfrm>
              <a:off x="463172" y="3379086"/>
              <a:ext cx="2506061" cy="116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전문 용어와 긴 문장 구조로 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1" u="sng" dirty="0">
                  <a:solidFill>
                    <a:srgbClr val="C00000"/>
                  </a:solidFill>
                  <a:latin typeface="+mn-ea"/>
                  <a:ea typeface="+mn-ea"/>
                  <a:cs typeface="Work Sans"/>
                  <a:sym typeface="Work Sans"/>
                </a:rPr>
                <a:t>특징 추출 어렵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기에</a:t>
              </a:r>
              <a:r>
                <a:rPr lang="ko-KR" altLang="en-US" sz="1200" b="1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전통적인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Bag-of-Words/TF-IDF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기법 한계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</p:txBody>
        </p:sp>
        <p:grpSp>
          <p:nvGrpSpPr>
            <p:cNvPr id="105" name="Google Shape;487;p39">
              <a:extLst>
                <a:ext uri="{FF2B5EF4-FFF2-40B4-BE49-F238E27FC236}">
                  <a16:creationId xmlns:a16="http://schemas.microsoft.com/office/drawing/2014/main" id="{55B95B71-8ACB-3405-FA07-11B643A70785}"/>
                </a:ext>
              </a:extLst>
            </p:cNvPr>
            <p:cNvGrpSpPr/>
            <p:nvPr/>
          </p:nvGrpSpPr>
          <p:grpSpPr>
            <a:xfrm>
              <a:off x="1284737" y="2491676"/>
              <a:ext cx="693313" cy="693307"/>
              <a:chOff x="4213225" y="3521403"/>
              <a:chExt cx="399800" cy="399797"/>
            </a:xfrm>
            <a:solidFill>
              <a:srgbClr val="EE4B3B"/>
            </a:solidFill>
          </p:grpSpPr>
          <p:sp>
            <p:nvSpPr>
              <p:cNvPr id="107" name="Google Shape;488;p39">
                <a:extLst>
                  <a:ext uri="{FF2B5EF4-FFF2-40B4-BE49-F238E27FC236}">
                    <a16:creationId xmlns:a16="http://schemas.microsoft.com/office/drawing/2014/main" id="{98988681-8F53-9890-338A-6FFD89424F64}"/>
                  </a:ext>
                </a:extLst>
              </p:cNvPr>
              <p:cNvSpPr/>
              <p:nvPr/>
            </p:nvSpPr>
            <p:spPr>
              <a:xfrm>
                <a:off x="4261325" y="3591500"/>
                <a:ext cx="351700" cy="329700"/>
              </a:xfrm>
              <a:custGeom>
                <a:avLst/>
                <a:gdLst/>
                <a:ahLst/>
                <a:cxnLst/>
                <a:rect l="l" t="t" r="r" b="b"/>
                <a:pathLst>
                  <a:path w="14068" h="13188" extrusionOk="0">
                    <a:moveTo>
                      <a:pt x="12608" y="1"/>
                    </a:moveTo>
                    <a:lnTo>
                      <a:pt x="12608" y="10383"/>
                    </a:lnTo>
                    <a:cubicBezTo>
                      <a:pt x="12608" y="11148"/>
                      <a:pt x="11959" y="11774"/>
                      <a:pt x="11194" y="11774"/>
                    </a:cubicBezTo>
                    <a:lnTo>
                      <a:pt x="0" y="11774"/>
                    </a:lnTo>
                    <a:lnTo>
                      <a:pt x="0" y="12724"/>
                    </a:lnTo>
                    <a:cubicBezTo>
                      <a:pt x="0" y="12979"/>
                      <a:pt x="209" y="13187"/>
                      <a:pt x="487" y="13187"/>
                    </a:cubicBezTo>
                    <a:lnTo>
                      <a:pt x="13604" y="13187"/>
                    </a:lnTo>
                    <a:cubicBezTo>
                      <a:pt x="13859" y="13187"/>
                      <a:pt x="14068" y="12979"/>
                      <a:pt x="14068" y="12724"/>
                    </a:cubicBezTo>
                    <a:lnTo>
                      <a:pt x="14068" y="464"/>
                    </a:lnTo>
                    <a:cubicBezTo>
                      <a:pt x="14068" y="209"/>
                      <a:pt x="13859" y="1"/>
                      <a:pt x="1360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108" name="Google Shape;489;p39">
                <a:extLst>
                  <a:ext uri="{FF2B5EF4-FFF2-40B4-BE49-F238E27FC236}">
                    <a16:creationId xmlns:a16="http://schemas.microsoft.com/office/drawing/2014/main" id="{1C197380-96B2-AFA8-E5FC-FDA19B88DF00}"/>
                  </a:ext>
                </a:extLst>
              </p:cNvPr>
              <p:cNvSpPr/>
              <p:nvPr/>
            </p:nvSpPr>
            <p:spPr>
              <a:xfrm>
                <a:off x="4482650" y="3815150"/>
                <a:ext cx="469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14" extrusionOk="0">
                    <a:moveTo>
                      <a:pt x="0" y="0"/>
                    </a:moveTo>
                    <a:lnTo>
                      <a:pt x="0" y="1414"/>
                    </a:lnTo>
                    <a:lnTo>
                      <a:pt x="187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109" name="Google Shape;490;p39">
                <a:extLst>
                  <a:ext uri="{FF2B5EF4-FFF2-40B4-BE49-F238E27FC236}">
                    <a16:creationId xmlns:a16="http://schemas.microsoft.com/office/drawing/2014/main" id="{B3437FBE-04CF-55AB-9AFE-0905757904E7}"/>
                  </a:ext>
                </a:extLst>
              </p:cNvPr>
              <p:cNvSpPr/>
              <p:nvPr/>
            </p:nvSpPr>
            <p:spPr>
              <a:xfrm>
                <a:off x="4505825" y="3826725"/>
                <a:ext cx="46950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38" extrusionOk="0">
                    <a:moveTo>
                      <a:pt x="1878" y="1"/>
                    </a:moveTo>
                    <a:lnTo>
                      <a:pt x="0" y="1438"/>
                    </a:lnTo>
                    <a:lnTo>
                      <a:pt x="1414" y="1438"/>
                    </a:lnTo>
                    <a:cubicBezTo>
                      <a:pt x="1669" y="1438"/>
                      <a:pt x="1878" y="1229"/>
                      <a:pt x="1878" y="974"/>
                    </a:cubicBezTo>
                    <a:lnTo>
                      <a:pt x="187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110" name="Google Shape;491;p39">
                <a:extLst>
                  <a:ext uri="{FF2B5EF4-FFF2-40B4-BE49-F238E27FC236}">
                    <a16:creationId xmlns:a16="http://schemas.microsoft.com/office/drawing/2014/main" id="{F2357049-F0DF-DC8C-9866-5DF9D3D999CA}"/>
                  </a:ext>
                </a:extLst>
              </p:cNvPr>
              <p:cNvSpPr/>
              <p:nvPr/>
            </p:nvSpPr>
            <p:spPr>
              <a:xfrm>
                <a:off x="4424125" y="3569500"/>
                <a:ext cx="23200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2782" extrusionOk="0">
                    <a:moveTo>
                      <a:pt x="1" y="0"/>
                    </a:moveTo>
                    <a:lnTo>
                      <a:pt x="1" y="2318"/>
                    </a:lnTo>
                    <a:cubicBezTo>
                      <a:pt x="1" y="2572"/>
                      <a:pt x="209" y="2781"/>
                      <a:pt x="464" y="2781"/>
                    </a:cubicBezTo>
                    <a:cubicBezTo>
                      <a:pt x="719" y="2781"/>
                      <a:pt x="928" y="2572"/>
                      <a:pt x="928" y="2318"/>
                    </a:cubicBezTo>
                    <a:lnTo>
                      <a:pt x="9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111" name="Google Shape;492;p39">
                <a:extLst>
                  <a:ext uri="{FF2B5EF4-FFF2-40B4-BE49-F238E27FC236}">
                    <a16:creationId xmlns:a16="http://schemas.microsoft.com/office/drawing/2014/main" id="{ECB4DB54-657D-83DD-9035-2C83F9215E2B}"/>
                  </a:ext>
                </a:extLst>
              </p:cNvPr>
              <p:cNvSpPr/>
              <p:nvPr/>
            </p:nvSpPr>
            <p:spPr>
              <a:xfrm>
                <a:off x="4213225" y="3521403"/>
                <a:ext cx="339550" cy="341275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3651" extrusionOk="0">
                    <a:moveTo>
                      <a:pt x="10777" y="7069"/>
                    </a:moveTo>
                    <a:cubicBezTo>
                      <a:pt x="11032" y="7069"/>
                      <a:pt x="11241" y="7277"/>
                      <a:pt x="11241" y="7532"/>
                    </a:cubicBezTo>
                    <a:cubicBezTo>
                      <a:pt x="11241" y="7787"/>
                      <a:pt x="11032" y="7996"/>
                      <a:pt x="10777" y="7996"/>
                    </a:cubicBezTo>
                    <a:lnTo>
                      <a:pt x="3269" y="7996"/>
                    </a:lnTo>
                    <a:cubicBezTo>
                      <a:pt x="3014" y="7996"/>
                      <a:pt x="2805" y="7787"/>
                      <a:pt x="2805" y="7532"/>
                    </a:cubicBezTo>
                    <a:cubicBezTo>
                      <a:pt x="2805" y="7277"/>
                      <a:pt x="3014" y="7069"/>
                      <a:pt x="3269" y="7069"/>
                    </a:cubicBezTo>
                    <a:close/>
                    <a:moveTo>
                      <a:pt x="7023" y="8923"/>
                    </a:moveTo>
                    <a:cubicBezTo>
                      <a:pt x="7278" y="8923"/>
                      <a:pt x="7487" y="9132"/>
                      <a:pt x="7487" y="9410"/>
                    </a:cubicBezTo>
                    <a:cubicBezTo>
                      <a:pt x="7487" y="9665"/>
                      <a:pt x="7278" y="9873"/>
                      <a:pt x="7023" y="9873"/>
                    </a:cubicBezTo>
                    <a:lnTo>
                      <a:pt x="3269" y="9873"/>
                    </a:lnTo>
                    <a:cubicBezTo>
                      <a:pt x="3014" y="9873"/>
                      <a:pt x="2805" y="9665"/>
                      <a:pt x="2805" y="9410"/>
                    </a:cubicBezTo>
                    <a:cubicBezTo>
                      <a:pt x="2805" y="9132"/>
                      <a:pt x="3014" y="8923"/>
                      <a:pt x="3269" y="8923"/>
                    </a:cubicBezTo>
                    <a:close/>
                    <a:moveTo>
                      <a:pt x="10777" y="8923"/>
                    </a:moveTo>
                    <a:cubicBezTo>
                      <a:pt x="11032" y="8923"/>
                      <a:pt x="11241" y="9132"/>
                      <a:pt x="11241" y="9410"/>
                    </a:cubicBezTo>
                    <a:cubicBezTo>
                      <a:pt x="11241" y="9665"/>
                      <a:pt x="11032" y="9873"/>
                      <a:pt x="10777" y="9873"/>
                    </a:cubicBezTo>
                    <a:lnTo>
                      <a:pt x="8900" y="9873"/>
                    </a:lnTo>
                    <a:cubicBezTo>
                      <a:pt x="8645" y="9873"/>
                      <a:pt x="8437" y="9665"/>
                      <a:pt x="8437" y="9410"/>
                    </a:cubicBezTo>
                    <a:cubicBezTo>
                      <a:pt x="8437" y="9132"/>
                      <a:pt x="8645" y="8923"/>
                      <a:pt x="8900" y="8923"/>
                    </a:cubicBezTo>
                    <a:close/>
                    <a:moveTo>
                      <a:pt x="7973" y="10800"/>
                    </a:moveTo>
                    <a:cubicBezTo>
                      <a:pt x="8228" y="10800"/>
                      <a:pt x="8437" y="11009"/>
                      <a:pt x="8437" y="11264"/>
                    </a:cubicBezTo>
                    <a:cubicBezTo>
                      <a:pt x="8437" y="11542"/>
                      <a:pt x="8228" y="11750"/>
                      <a:pt x="7973" y="11750"/>
                    </a:cubicBezTo>
                    <a:lnTo>
                      <a:pt x="3269" y="11750"/>
                    </a:lnTo>
                    <a:cubicBezTo>
                      <a:pt x="3014" y="11750"/>
                      <a:pt x="2805" y="11542"/>
                      <a:pt x="2805" y="11264"/>
                    </a:cubicBezTo>
                    <a:cubicBezTo>
                      <a:pt x="2805" y="11009"/>
                      <a:pt x="3014" y="10800"/>
                      <a:pt x="3269" y="10800"/>
                    </a:cubicBezTo>
                    <a:close/>
                    <a:moveTo>
                      <a:pt x="9364" y="1"/>
                    </a:moveTo>
                    <a:cubicBezTo>
                      <a:pt x="8344" y="1"/>
                      <a:pt x="7487" y="835"/>
                      <a:pt x="7487" y="1878"/>
                    </a:cubicBezTo>
                    <a:lnTo>
                      <a:pt x="7487" y="1924"/>
                    </a:lnTo>
                    <a:lnTo>
                      <a:pt x="8437" y="1924"/>
                    </a:lnTo>
                    <a:lnTo>
                      <a:pt x="8437" y="1878"/>
                    </a:lnTo>
                    <a:cubicBezTo>
                      <a:pt x="8437" y="1345"/>
                      <a:pt x="8854" y="928"/>
                      <a:pt x="9364" y="928"/>
                    </a:cubicBezTo>
                    <a:cubicBezTo>
                      <a:pt x="9874" y="928"/>
                      <a:pt x="10291" y="1345"/>
                      <a:pt x="10291" y="1878"/>
                    </a:cubicBezTo>
                    <a:lnTo>
                      <a:pt x="10291" y="1924"/>
                    </a:lnTo>
                    <a:lnTo>
                      <a:pt x="10291" y="4242"/>
                    </a:lnTo>
                    <a:cubicBezTo>
                      <a:pt x="10291" y="5030"/>
                      <a:pt x="9665" y="5655"/>
                      <a:pt x="8900" y="5655"/>
                    </a:cubicBezTo>
                    <a:cubicBezTo>
                      <a:pt x="8112" y="5655"/>
                      <a:pt x="7487" y="5030"/>
                      <a:pt x="7487" y="4242"/>
                    </a:cubicBezTo>
                    <a:lnTo>
                      <a:pt x="7487" y="1924"/>
                    </a:lnTo>
                    <a:lnTo>
                      <a:pt x="464" y="1924"/>
                    </a:lnTo>
                    <a:cubicBezTo>
                      <a:pt x="210" y="1924"/>
                      <a:pt x="1" y="2133"/>
                      <a:pt x="1" y="2411"/>
                    </a:cubicBezTo>
                    <a:lnTo>
                      <a:pt x="1" y="13187"/>
                    </a:lnTo>
                    <a:cubicBezTo>
                      <a:pt x="1" y="13442"/>
                      <a:pt x="210" y="13651"/>
                      <a:pt x="464" y="13651"/>
                    </a:cubicBezTo>
                    <a:lnTo>
                      <a:pt x="9827" y="13651"/>
                    </a:lnTo>
                    <a:lnTo>
                      <a:pt x="9827" y="11264"/>
                    </a:lnTo>
                    <a:cubicBezTo>
                      <a:pt x="9827" y="11009"/>
                      <a:pt x="10036" y="10800"/>
                      <a:pt x="10314" y="10800"/>
                    </a:cubicBezTo>
                    <a:lnTo>
                      <a:pt x="13582" y="10800"/>
                    </a:lnTo>
                    <a:lnTo>
                      <a:pt x="13582" y="2411"/>
                    </a:lnTo>
                    <a:cubicBezTo>
                      <a:pt x="13582" y="2156"/>
                      <a:pt x="13373" y="1924"/>
                      <a:pt x="13118" y="1924"/>
                    </a:cubicBezTo>
                    <a:lnTo>
                      <a:pt x="11241" y="1924"/>
                    </a:lnTo>
                    <a:lnTo>
                      <a:pt x="11241" y="1878"/>
                    </a:lnTo>
                    <a:cubicBezTo>
                      <a:pt x="11241" y="835"/>
                      <a:pt x="10407" y="1"/>
                      <a:pt x="936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/>
              </a:p>
            </p:txBody>
          </p:sp>
        </p:grpSp>
        <p:sp>
          <p:nvSpPr>
            <p:cNvPr id="106" name="모서리가 둥근 직사각형 105">
              <a:extLst>
                <a:ext uri="{FF2B5EF4-FFF2-40B4-BE49-F238E27FC236}">
                  <a16:creationId xmlns:a16="http://schemas.microsoft.com/office/drawing/2014/main" id="{2DED4D65-7D4D-2632-2ECB-CBEE9227EB49}"/>
                </a:ext>
              </a:extLst>
            </p:cNvPr>
            <p:cNvSpPr/>
            <p:nvPr/>
          </p:nvSpPr>
          <p:spPr>
            <a:xfrm>
              <a:off x="442293" y="1268556"/>
              <a:ext cx="2506391" cy="3252074"/>
            </a:xfrm>
            <a:prstGeom prst="roundRect">
              <a:avLst/>
            </a:prstGeom>
            <a:noFill/>
            <a:ln w="38100">
              <a:solidFill>
                <a:srgbClr val="C00000">
                  <a:alpha val="62742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2" name="Google Shape;295;p29">
            <a:extLst>
              <a:ext uri="{FF2B5EF4-FFF2-40B4-BE49-F238E27FC236}">
                <a16:creationId xmlns:a16="http://schemas.microsoft.com/office/drawing/2014/main" id="{08E9549E-E900-869A-5B8E-55B6183E6EE2}"/>
              </a:ext>
            </a:extLst>
          </p:cNvPr>
          <p:cNvSpPr txBox="1">
            <a:spLocks/>
          </p:cNvSpPr>
          <p:nvPr/>
        </p:nvSpPr>
        <p:spPr>
          <a:xfrm>
            <a:off x="681535" y="688350"/>
            <a:ext cx="4458380" cy="42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</a:t>
            </a:r>
            <a:r>
              <a:rPr lang="ko-KR" altLang="en-US" sz="2400" dirty="0">
                <a:solidFill>
                  <a:schemeClr val="tx1"/>
                </a:solidFill>
                <a:latin typeface="+mj-ea"/>
                <a:ea typeface="+mj-ea"/>
              </a:rPr>
              <a:t> 소개</a:t>
            </a:r>
          </a:p>
        </p:txBody>
      </p:sp>
      <p:sp>
        <p:nvSpPr>
          <p:cNvPr id="3" name="Google Shape;296;p29">
            <a:extLst>
              <a:ext uri="{FF2B5EF4-FFF2-40B4-BE49-F238E27FC236}">
                <a16:creationId xmlns:a16="http://schemas.microsoft.com/office/drawing/2014/main" id="{C1B00ACF-AC8F-4007-B3B9-11F945DBE801}"/>
              </a:ext>
            </a:extLst>
          </p:cNvPr>
          <p:cNvSpPr txBox="1">
            <a:spLocks/>
          </p:cNvSpPr>
          <p:nvPr/>
        </p:nvSpPr>
        <p:spPr>
          <a:xfrm>
            <a:off x="689872" y="1058257"/>
            <a:ext cx="4528014" cy="3305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ko-KR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BERT</a:t>
            </a:r>
            <a:r>
              <a:rPr lang="ko-KR" alt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 기반의 특허 문헌 특화 자연어처리 모델  </a:t>
            </a:r>
            <a:endParaRPr lang="en-US" altLang="ko-KR" sz="800" b="1" dirty="0">
              <a:solidFill>
                <a:schemeClr val="accent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▶ </a:t>
            </a:r>
            <a:r>
              <a:rPr lang="ko-KR" altLang="en-US" b="1" dirty="0" err="1">
                <a:solidFill>
                  <a:schemeClr val="tx1"/>
                </a:solidFill>
                <a:latin typeface="+mn-ea"/>
                <a:ea typeface="+mn-ea"/>
              </a:rPr>
              <a:t>한국특허정보원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ea typeface="+mn-ea"/>
              </a:rPr>
              <a:t>에서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 제공한 모델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▶ </a:t>
            </a: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1000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만개 이상의 특허 문헌의 전문 용어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를 가지는 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ea typeface="+mn-ea"/>
              </a:rPr>
              <a:t>토크나이저를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 제공함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국내 특허 문헌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406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만개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(4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억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천만 문장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통해   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BERT</a:t>
            </a:r>
            <a:r>
              <a:rPr lang="ko-KR" altLang="en-US" b="1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사전학습한 모델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Google Shape;442;p39">
            <a:extLst>
              <a:ext uri="{FF2B5EF4-FFF2-40B4-BE49-F238E27FC236}">
                <a16:creationId xmlns:a16="http://schemas.microsoft.com/office/drawing/2014/main" id="{D851903B-6F01-E092-8314-06A317CA2CC2}"/>
              </a:ext>
            </a:extLst>
          </p:cNvPr>
          <p:cNvSpPr txBox="1"/>
          <p:nvPr/>
        </p:nvSpPr>
        <p:spPr>
          <a:xfrm>
            <a:off x="3297656" y="6039404"/>
            <a:ext cx="2486347" cy="55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불균형</a:t>
            </a: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 심각</a:t>
            </a:r>
            <a:endParaRPr sz="1800" b="1" dirty="0">
              <a:solidFill>
                <a:schemeClr val="tx1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6" name="Google Shape;448;p39">
            <a:extLst>
              <a:ext uri="{FF2B5EF4-FFF2-40B4-BE49-F238E27FC236}">
                <a16:creationId xmlns:a16="http://schemas.microsoft.com/office/drawing/2014/main" id="{6581F4F0-7C15-CE20-EC04-47131DDFF527}"/>
              </a:ext>
            </a:extLst>
          </p:cNvPr>
          <p:cNvSpPr txBox="1"/>
          <p:nvPr/>
        </p:nvSpPr>
        <p:spPr>
          <a:xfrm>
            <a:off x="3240912" y="7832759"/>
            <a:ext cx="2615878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n-ea"/>
                <a:ea typeface="+mn-ea"/>
              </a:rPr>
              <a:t>G06F</a:t>
            </a:r>
            <a:r>
              <a:rPr lang="en-US" altLang="ko-KR" sz="1100" dirty="0">
                <a:latin typeface="+mn-ea"/>
                <a:ea typeface="+mn-ea"/>
              </a:rPr>
              <a:t>: 398,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G06Q</a:t>
            </a:r>
            <a:r>
              <a:rPr lang="en-US" altLang="ko-KR" sz="1100" dirty="0">
                <a:latin typeface="+mn-ea"/>
                <a:ea typeface="+mn-ea"/>
              </a:rPr>
              <a:t>: 1,791,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G16H</a:t>
            </a:r>
            <a:r>
              <a:rPr lang="en-US" altLang="ko-KR" sz="1100" dirty="0">
                <a:latin typeface="+mn-ea"/>
                <a:ea typeface="+mn-ea"/>
              </a:rPr>
              <a:t>: 215</a:t>
            </a:r>
            <a:r>
              <a:rPr lang="ko-KR" altLang="en-US" sz="1100" dirty="0">
                <a:latin typeface="+mn-ea"/>
                <a:ea typeface="+mn-ea"/>
              </a:rPr>
              <a:t>개</a:t>
            </a:r>
            <a:endParaRPr lang="en-US" altLang="ko-KR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</a:rPr>
              <a:t>소수 클래스에 대한 예측 성능 저조 </a:t>
            </a:r>
            <a:r>
              <a:rPr lang="ko-KR" altLang="en-US" sz="1200" dirty="0">
                <a:latin typeface="+mn-ea"/>
                <a:ea typeface="+mn-ea"/>
              </a:rPr>
              <a:t>및 다수 클래스로의 </a:t>
            </a:r>
            <a:r>
              <a:rPr lang="ko-KR" altLang="en-US" sz="1200" dirty="0" err="1">
                <a:latin typeface="+mn-ea"/>
                <a:ea typeface="+mn-ea"/>
              </a:rPr>
              <a:t>오분류</a:t>
            </a:r>
            <a:r>
              <a:rPr lang="ko-KR" altLang="en-US" sz="1200" dirty="0">
                <a:latin typeface="+mn-ea"/>
                <a:ea typeface="+mn-ea"/>
              </a:rPr>
              <a:t> 증가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E734FE5-F0C5-4CA2-472F-CB2098D6D77A}"/>
              </a:ext>
            </a:extLst>
          </p:cNvPr>
          <p:cNvSpPr/>
          <p:nvPr/>
        </p:nvSpPr>
        <p:spPr>
          <a:xfrm>
            <a:off x="3287888" y="5745379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8" name="Google Shape;474;p39">
            <a:extLst>
              <a:ext uri="{FF2B5EF4-FFF2-40B4-BE49-F238E27FC236}">
                <a16:creationId xmlns:a16="http://schemas.microsoft.com/office/drawing/2014/main" id="{6788BF05-6F41-D802-F827-262C191A423D}"/>
              </a:ext>
            </a:extLst>
          </p:cNvPr>
          <p:cNvGrpSpPr/>
          <p:nvPr/>
        </p:nvGrpSpPr>
        <p:grpSpPr>
          <a:xfrm>
            <a:off x="4133583" y="7002686"/>
            <a:ext cx="657134" cy="657175"/>
            <a:chOff x="2490750" y="3544575"/>
            <a:chExt cx="399775" cy="399800"/>
          </a:xfrm>
          <a:solidFill>
            <a:srgbClr val="C00000"/>
          </a:solidFill>
        </p:grpSpPr>
        <p:sp>
          <p:nvSpPr>
            <p:cNvPr id="19" name="Google Shape;475;p39">
              <a:extLst>
                <a:ext uri="{FF2B5EF4-FFF2-40B4-BE49-F238E27FC236}">
                  <a16:creationId xmlns:a16="http://schemas.microsoft.com/office/drawing/2014/main" id="{7C703214-A626-EC2C-87A8-E156BA7B2EF5}"/>
                </a:ext>
              </a:extLst>
            </p:cNvPr>
            <p:cNvSpPr/>
            <p:nvPr/>
          </p:nvSpPr>
          <p:spPr>
            <a:xfrm>
              <a:off x="27265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10" y="1878"/>
                  </a:moveTo>
                  <a:cubicBezTo>
                    <a:pt x="4328" y="1878"/>
                    <a:pt x="4450" y="1924"/>
                    <a:pt x="4543" y="2017"/>
                  </a:cubicBezTo>
                  <a:cubicBezTo>
                    <a:pt x="4728" y="2179"/>
                    <a:pt x="4728" y="2480"/>
                    <a:pt x="4543" y="2666"/>
                  </a:cubicBezTo>
                  <a:lnTo>
                    <a:pt x="3940" y="3291"/>
                  </a:lnTo>
                  <a:lnTo>
                    <a:pt x="4543" y="3894"/>
                  </a:lnTo>
                  <a:cubicBezTo>
                    <a:pt x="4728" y="4079"/>
                    <a:pt x="4728" y="4381"/>
                    <a:pt x="4543" y="4566"/>
                  </a:cubicBezTo>
                  <a:cubicBezTo>
                    <a:pt x="4450" y="4659"/>
                    <a:pt x="4328" y="4705"/>
                    <a:pt x="4210" y="4705"/>
                  </a:cubicBezTo>
                  <a:cubicBezTo>
                    <a:pt x="4091" y="4705"/>
                    <a:pt x="3975" y="4659"/>
                    <a:pt x="3894" y="4566"/>
                  </a:cubicBezTo>
                  <a:lnTo>
                    <a:pt x="3268" y="3940"/>
                  </a:lnTo>
                  <a:lnTo>
                    <a:pt x="2666" y="4566"/>
                  </a:lnTo>
                  <a:cubicBezTo>
                    <a:pt x="2573" y="4659"/>
                    <a:pt x="2451" y="4705"/>
                    <a:pt x="2330" y="4705"/>
                  </a:cubicBezTo>
                  <a:cubicBezTo>
                    <a:pt x="2208" y="4705"/>
                    <a:pt x="2086" y="4659"/>
                    <a:pt x="1993" y="4566"/>
                  </a:cubicBezTo>
                  <a:cubicBezTo>
                    <a:pt x="1808" y="4381"/>
                    <a:pt x="1808" y="4079"/>
                    <a:pt x="1993" y="3894"/>
                  </a:cubicBezTo>
                  <a:lnTo>
                    <a:pt x="2596" y="3291"/>
                  </a:lnTo>
                  <a:lnTo>
                    <a:pt x="1993" y="2666"/>
                  </a:lnTo>
                  <a:cubicBezTo>
                    <a:pt x="1808" y="2480"/>
                    <a:pt x="1808" y="2179"/>
                    <a:pt x="1993" y="2017"/>
                  </a:cubicBezTo>
                  <a:cubicBezTo>
                    <a:pt x="2086" y="1924"/>
                    <a:pt x="2208" y="1878"/>
                    <a:pt x="2330" y="1878"/>
                  </a:cubicBezTo>
                  <a:cubicBezTo>
                    <a:pt x="2451" y="1878"/>
                    <a:pt x="2573" y="1924"/>
                    <a:pt x="2666" y="2017"/>
                  </a:cubicBezTo>
                  <a:lnTo>
                    <a:pt x="3268" y="2619"/>
                  </a:lnTo>
                  <a:lnTo>
                    <a:pt x="3894" y="2017"/>
                  </a:lnTo>
                  <a:cubicBezTo>
                    <a:pt x="3975" y="1924"/>
                    <a:pt x="4091" y="1878"/>
                    <a:pt x="4210" y="1878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6" y="6559"/>
                    <a:pt x="6559" y="5099"/>
                    <a:pt x="6559" y="3291"/>
                  </a:cubicBezTo>
                  <a:cubicBezTo>
                    <a:pt x="6559" y="1484"/>
                    <a:pt x="5076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" name="Google Shape;476;p39">
              <a:extLst>
                <a:ext uri="{FF2B5EF4-FFF2-40B4-BE49-F238E27FC236}">
                  <a16:creationId xmlns:a16="http://schemas.microsoft.com/office/drawing/2014/main" id="{8CF1621E-EFB0-FE6A-B6EE-F723A3ACB0AC}"/>
                </a:ext>
              </a:extLst>
            </p:cNvPr>
            <p:cNvSpPr/>
            <p:nvPr/>
          </p:nvSpPr>
          <p:spPr>
            <a:xfrm>
              <a:off x="2490750" y="3544575"/>
              <a:ext cx="163975" cy="164000"/>
            </a:xfrm>
            <a:custGeom>
              <a:avLst/>
              <a:gdLst/>
              <a:ahLst/>
              <a:cxnLst/>
              <a:rect l="l" t="t" r="r" b="b"/>
              <a:pathLst>
                <a:path w="6559" h="6560" extrusionOk="0">
                  <a:moveTo>
                    <a:pt x="4253" y="2202"/>
                  </a:moveTo>
                  <a:cubicBezTo>
                    <a:pt x="4374" y="2202"/>
                    <a:pt x="4496" y="2248"/>
                    <a:pt x="4589" y="2341"/>
                  </a:cubicBezTo>
                  <a:cubicBezTo>
                    <a:pt x="4751" y="2503"/>
                    <a:pt x="4751" y="2805"/>
                    <a:pt x="4589" y="2990"/>
                  </a:cubicBezTo>
                  <a:lnTo>
                    <a:pt x="4566" y="2990"/>
                  </a:lnTo>
                  <a:lnTo>
                    <a:pt x="3291" y="4265"/>
                  </a:lnTo>
                  <a:cubicBezTo>
                    <a:pt x="3198" y="4357"/>
                    <a:pt x="3077" y="4404"/>
                    <a:pt x="2958" y="4404"/>
                  </a:cubicBezTo>
                  <a:cubicBezTo>
                    <a:pt x="2839" y="4404"/>
                    <a:pt x="2723" y="4357"/>
                    <a:pt x="2642" y="4265"/>
                  </a:cubicBezTo>
                  <a:lnTo>
                    <a:pt x="2040" y="3685"/>
                  </a:lnTo>
                  <a:cubicBezTo>
                    <a:pt x="1854" y="3500"/>
                    <a:pt x="1854" y="3199"/>
                    <a:pt x="2040" y="3013"/>
                  </a:cubicBezTo>
                  <a:cubicBezTo>
                    <a:pt x="2132" y="2921"/>
                    <a:pt x="2254" y="2874"/>
                    <a:pt x="2376" y="2874"/>
                  </a:cubicBezTo>
                  <a:cubicBezTo>
                    <a:pt x="2497" y="2874"/>
                    <a:pt x="2619" y="2921"/>
                    <a:pt x="2712" y="3013"/>
                  </a:cubicBezTo>
                  <a:lnTo>
                    <a:pt x="2967" y="3291"/>
                  </a:lnTo>
                  <a:lnTo>
                    <a:pt x="3917" y="2341"/>
                  </a:lnTo>
                  <a:cubicBezTo>
                    <a:pt x="4009" y="2248"/>
                    <a:pt x="4131" y="2202"/>
                    <a:pt x="4253" y="2202"/>
                  </a:cubicBezTo>
                  <a:close/>
                  <a:moveTo>
                    <a:pt x="3268" y="1"/>
                  </a:moveTo>
                  <a:cubicBezTo>
                    <a:pt x="1460" y="1"/>
                    <a:pt x="0" y="1484"/>
                    <a:pt x="0" y="3291"/>
                  </a:cubicBezTo>
                  <a:cubicBezTo>
                    <a:pt x="0" y="5099"/>
                    <a:pt x="1460" y="6559"/>
                    <a:pt x="3268" y="6559"/>
                  </a:cubicBezTo>
                  <a:cubicBezTo>
                    <a:pt x="5075" y="6559"/>
                    <a:pt x="6559" y="5099"/>
                    <a:pt x="6559" y="3291"/>
                  </a:cubicBezTo>
                  <a:cubicBezTo>
                    <a:pt x="6559" y="1484"/>
                    <a:pt x="5075" y="1"/>
                    <a:pt x="32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" name="Google Shape;477;p39">
              <a:extLst>
                <a:ext uri="{FF2B5EF4-FFF2-40B4-BE49-F238E27FC236}">
                  <a16:creationId xmlns:a16="http://schemas.microsoft.com/office/drawing/2014/main" id="{E86A3955-B119-7A4E-AD15-6F0F95453969}"/>
                </a:ext>
              </a:extLst>
            </p:cNvPr>
            <p:cNvSpPr/>
            <p:nvPr/>
          </p:nvSpPr>
          <p:spPr>
            <a:xfrm>
              <a:off x="2590975" y="3665075"/>
              <a:ext cx="227150" cy="232375"/>
            </a:xfrm>
            <a:custGeom>
              <a:avLst/>
              <a:gdLst/>
              <a:ahLst/>
              <a:cxnLst/>
              <a:rect l="l" t="t" r="r" b="b"/>
              <a:pathLst>
                <a:path w="9086" h="9295" extrusionOk="0">
                  <a:moveTo>
                    <a:pt x="3940" y="1"/>
                  </a:moveTo>
                  <a:cubicBezTo>
                    <a:pt x="3361" y="1"/>
                    <a:pt x="2897" y="464"/>
                    <a:pt x="2897" y="1021"/>
                  </a:cubicBezTo>
                  <a:lnTo>
                    <a:pt x="2897" y="6119"/>
                  </a:lnTo>
                  <a:lnTo>
                    <a:pt x="1924" y="5308"/>
                  </a:lnTo>
                  <a:cubicBezTo>
                    <a:pt x="1717" y="5134"/>
                    <a:pt x="1458" y="5046"/>
                    <a:pt x="1199" y="5046"/>
                  </a:cubicBezTo>
                  <a:cubicBezTo>
                    <a:pt x="908" y="5046"/>
                    <a:pt x="615" y="5157"/>
                    <a:pt x="394" y="5378"/>
                  </a:cubicBezTo>
                  <a:cubicBezTo>
                    <a:pt x="0" y="5772"/>
                    <a:pt x="24" y="6397"/>
                    <a:pt x="464" y="6768"/>
                  </a:cubicBezTo>
                  <a:lnTo>
                    <a:pt x="2897" y="8807"/>
                  </a:lnTo>
                  <a:lnTo>
                    <a:pt x="2897" y="9294"/>
                  </a:lnTo>
                  <a:lnTo>
                    <a:pt x="9085" y="9294"/>
                  </a:lnTo>
                  <a:lnTo>
                    <a:pt x="9085" y="5076"/>
                  </a:lnTo>
                  <a:cubicBezTo>
                    <a:pt x="9085" y="4566"/>
                    <a:pt x="8691" y="4126"/>
                    <a:pt x="8181" y="4057"/>
                  </a:cubicBezTo>
                  <a:lnTo>
                    <a:pt x="4960" y="3663"/>
                  </a:lnTo>
                  <a:lnTo>
                    <a:pt x="4960" y="1021"/>
                  </a:lnTo>
                  <a:cubicBezTo>
                    <a:pt x="4960" y="464"/>
                    <a:pt x="4496" y="1"/>
                    <a:pt x="3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" name="Google Shape;478;p39">
              <a:extLst>
                <a:ext uri="{FF2B5EF4-FFF2-40B4-BE49-F238E27FC236}">
                  <a16:creationId xmlns:a16="http://schemas.microsoft.com/office/drawing/2014/main" id="{5FF6087B-6A00-2215-2C87-08946D847290}"/>
                </a:ext>
              </a:extLst>
            </p:cNvPr>
            <p:cNvSpPr/>
            <p:nvPr/>
          </p:nvSpPr>
          <p:spPr>
            <a:xfrm>
              <a:off x="2663400" y="3921175"/>
              <a:ext cx="154725" cy="23200"/>
            </a:xfrm>
            <a:custGeom>
              <a:avLst/>
              <a:gdLst/>
              <a:ahLst/>
              <a:cxnLst/>
              <a:rect l="l" t="t" r="r" b="b"/>
              <a:pathLst>
                <a:path w="6189" h="928" extrusionOk="0">
                  <a:moveTo>
                    <a:pt x="0" y="0"/>
                  </a:moveTo>
                  <a:lnTo>
                    <a:pt x="0" y="927"/>
                  </a:lnTo>
                  <a:lnTo>
                    <a:pt x="6188" y="927"/>
                  </a:lnTo>
                  <a:lnTo>
                    <a:pt x="6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24" name="Google Shape;442;p39">
            <a:extLst>
              <a:ext uri="{FF2B5EF4-FFF2-40B4-BE49-F238E27FC236}">
                <a16:creationId xmlns:a16="http://schemas.microsoft.com/office/drawing/2014/main" id="{62D0FF3D-7ADA-3942-A43D-662BF7EFAE6E}"/>
              </a:ext>
            </a:extLst>
          </p:cNvPr>
          <p:cNvSpPr txBox="1"/>
          <p:nvPr/>
        </p:nvSpPr>
        <p:spPr>
          <a:xfrm>
            <a:off x="6189824" y="-3851156"/>
            <a:ext cx="2486347" cy="918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내 변동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큼</a:t>
            </a:r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,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간 차이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작음</a:t>
            </a:r>
            <a:endParaRPr sz="1800" b="1" dirty="0">
              <a:solidFill>
                <a:srgbClr val="C00000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25" name="Google Shape;448;p39">
            <a:extLst>
              <a:ext uri="{FF2B5EF4-FFF2-40B4-BE49-F238E27FC236}">
                <a16:creationId xmlns:a16="http://schemas.microsoft.com/office/drawing/2014/main" id="{9D81B7F0-A860-F227-D6D9-B2E55E5B0583}"/>
              </a:ext>
            </a:extLst>
          </p:cNvPr>
          <p:cNvSpPr txBox="1"/>
          <p:nvPr/>
        </p:nvSpPr>
        <p:spPr>
          <a:xfrm>
            <a:off x="6200935" y="-1889904"/>
            <a:ext cx="2506061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클래스 내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다양한 분야 용어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를 포함하며 클래스 간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동일한 용어와 표현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이 다수 중복됨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.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E0B86B0-DD35-9876-26A3-CFE4F525D334}"/>
              </a:ext>
            </a:extLst>
          </p:cNvPr>
          <p:cNvSpPr/>
          <p:nvPr/>
        </p:nvSpPr>
        <p:spPr>
          <a:xfrm>
            <a:off x="6180056" y="-4000434"/>
            <a:ext cx="2506391" cy="325207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27" name="Google Shape;453;p39">
            <a:extLst>
              <a:ext uri="{FF2B5EF4-FFF2-40B4-BE49-F238E27FC236}">
                <a16:creationId xmlns:a16="http://schemas.microsoft.com/office/drawing/2014/main" id="{8FFC6408-342D-0FA9-4252-ED8E3FAEBBDC}"/>
              </a:ext>
            </a:extLst>
          </p:cNvPr>
          <p:cNvGrpSpPr/>
          <p:nvPr/>
        </p:nvGrpSpPr>
        <p:grpSpPr>
          <a:xfrm>
            <a:off x="7110602" y="-2754602"/>
            <a:ext cx="645500" cy="645500"/>
            <a:chOff x="5763075" y="1451275"/>
            <a:chExt cx="399800" cy="399800"/>
          </a:xfrm>
          <a:solidFill>
            <a:srgbClr val="C00000"/>
          </a:solidFill>
        </p:grpSpPr>
        <p:sp>
          <p:nvSpPr>
            <p:cNvPr id="28" name="Google Shape;454;p39">
              <a:extLst>
                <a:ext uri="{FF2B5EF4-FFF2-40B4-BE49-F238E27FC236}">
                  <a16:creationId xmlns:a16="http://schemas.microsoft.com/office/drawing/2014/main" id="{A92ADB2A-2124-FEDC-61DB-7D470F223129}"/>
                </a:ext>
              </a:extLst>
            </p:cNvPr>
            <p:cNvSpPr/>
            <p:nvPr/>
          </p:nvSpPr>
          <p:spPr>
            <a:xfrm>
              <a:off x="6034225" y="1462875"/>
              <a:ext cx="128650" cy="165150"/>
            </a:xfrm>
            <a:custGeom>
              <a:avLst/>
              <a:gdLst/>
              <a:ahLst/>
              <a:cxnLst/>
              <a:rect l="l" t="t" r="r" b="b"/>
              <a:pathLst>
                <a:path w="5146" h="6606" extrusionOk="0">
                  <a:moveTo>
                    <a:pt x="3732" y="0"/>
                  </a:moveTo>
                  <a:cubicBezTo>
                    <a:pt x="3106" y="0"/>
                    <a:pt x="2573" y="394"/>
                    <a:pt x="2388" y="950"/>
                  </a:cubicBezTo>
                  <a:lnTo>
                    <a:pt x="1" y="950"/>
                  </a:lnTo>
                  <a:lnTo>
                    <a:pt x="1" y="2596"/>
                  </a:lnTo>
                  <a:cubicBezTo>
                    <a:pt x="1553" y="3407"/>
                    <a:pt x="2689" y="4867"/>
                    <a:pt x="3106" y="6605"/>
                  </a:cubicBezTo>
                  <a:lnTo>
                    <a:pt x="4056" y="6605"/>
                  </a:lnTo>
                  <a:cubicBezTo>
                    <a:pt x="3662" y="4566"/>
                    <a:pt x="2364" y="2874"/>
                    <a:pt x="673" y="1901"/>
                  </a:cubicBezTo>
                  <a:lnTo>
                    <a:pt x="2388" y="1901"/>
                  </a:lnTo>
                  <a:cubicBezTo>
                    <a:pt x="2573" y="2457"/>
                    <a:pt x="3106" y="2851"/>
                    <a:pt x="3732" y="2851"/>
                  </a:cubicBezTo>
                  <a:cubicBezTo>
                    <a:pt x="4520" y="2851"/>
                    <a:pt x="5145" y="2202"/>
                    <a:pt x="5145" y="1414"/>
                  </a:cubicBezTo>
                  <a:cubicBezTo>
                    <a:pt x="5145" y="649"/>
                    <a:pt x="4520" y="0"/>
                    <a:pt x="37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0" name="Google Shape;455;p39">
              <a:extLst>
                <a:ext uri="{FF2B5EF4-FFF2-40B4-BE49-F238E27FC236}">
                  <a16:creationId xmlns:a16="http://schemas.microsoft.com/office/drawing/2014/main" id="{29AE814B-D9EA-C545-89E5-898DC10E11E9}"/>
                </a:ext>
              </a:extLst>
            </p:cNvPr>
            <p:cNvSpPr/>
            <p:nvPr/>
          </p:nvSpPr>
          <p:spPr>
            <a:xfrm>
              <a:off x="5763075" y="1462875"/>
              <a:ext cx="129225" cy="165150"/>
            </a:xfrm>
            <a:custGeom>
              <a:avLst/>
              <a:gdLst/>
              <a:ahLst/>
              <a:cxnLst/>
              <a:rect l="l" t="t" r="r" b="b"/>
              <a:pathLst>
                <a:path w="5169" h="6606" extrusionOk="0">
                  <a:moveTo>
                    <a:pt x="1437" y="0"/>
                  </a:moveTo>
                  <a:cubicBezTo>
                    <a:pt x="649" y="0"/>
                    <a:pt x="1" y="649"/>
                    <a:pt x="1" y="1414"/>
                  </a:cubicBezTo>
                  <a:cubicBezTo>
                    <a:pt x="1" y="2202"/>
                    <a:pt x="649" y="2851"/>
                    <a:pt x="1437" y="2851"/>
                  </a:cubicBezTo>
                  <a:cubicBezTo>
                    <a:pt x="2040" y="2851"/>
                    <a:pt x="2573" y="2457"/>
                    <a:pt x="2758" y="1901"/>
                  </a:cubicBezTo>
                  <a:lnTo>
                    <a:pt x="4473" y="1901"/>
                  </a:lnTo>
                  <a:cubicBezTo>
                    <a:pt x="2782" y="2874"/>
                    <a:pt x="1507" y="4566"/>
                    <a:pt x="1090" y="6605"/>
                  </a:cubicBezTo>
                  <a:lnTo>
                    <a:pt x="2063" y="6605"/>
                  </a:lnTo>
                  <a:cubicBezTo>
                    <a:pt x="2457" y="4867"/>
                    <a:pt x="3616" y="3407"/>
                    <a:pt x="5169" y="2596"/>
                  </a:cubicBezTo>
                  <a:lnTo>
                    <a:pt x="5169" y="950"/>
                  </a:lnTo>
                  <a:lnTo>
                    <a:pt x="2782" y="950"/>
                  </a:lnTo>
                  <a:cubicBezTo>
                    <a:pt x="2573" y="394"/>
                    <a:pt x="2040" y="0"/>
                    <a:pt x="14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" name="Google Shape;456;p39">
              <a:extLst>
                <a:ext uri="{FF2B5EF4-FFF2-40B4-BE49-F238E27FC236}">
                  <a16:creationId xmlns:a16="http://schemas.microsoft.com/office/drawing/2014/main" id="{FF694E58-F307-B08B-63A2-AE027445002E}"/>
                </a:ext>
              </a:extLst>
            </p:cNvPr>
            <p:cNvSpPr/>
            <p:nvPr/>
          </p:nvSpPr>
          <p:spPr>
            <a:xfrm>
              <a:off x="5763075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" name="Google Shape;457;p39">
              <a:extLst>
                <a:ext uri="{FF2B5EF4-FFF2-40B4-BE49-F238E27FC236}">
                  <a16:creationId xmlns:a16="http://schemas.microsoft.com/office/drawing/2014/main" id="{38EFBD20-ED0B-1148-5818-4C19179E1604}"/>
                </a:ext>
              </a:extLst>
            </p:cNvPr>
            <p:cNvSpPr/>
            <p:nvPr/>
          </p:nvSpPr>
          <p:spPr>
            <a:xfrm>
              <a:off x="6091000" y="1651750"/>
              <a:ext cx="71875" cy="71850"/>
            </a:xfrm>
            <a:custGeom>
              <a:avLst/>
              <a:gdLst/>
              <a:ahLst/>
              <a:cxnLst/>
              <a:rect l="l" t="t" r="r" b="b"/>
              <a:pathLst>
                <a:path w="2875" h="2874" extrusionOk="0">
                  <a:moveTo>
                    <a:pt x="487" y="0"/>
                  </a:moveTo>
                  <a:cubicBezTo>
                    <a:pt x="209" y="0"/>
                    <a:pt x="1" y="209"/>
                    <a:pt x="1" y="464"/>
                  </a:cubicBezTo>
                  <a:lnTo>
                    <a:pt x="1" y="2387"/>
                  </a:lnTo>
                  <a:cubicBezTo>
                    <a:pt x="1" y="2642"/>
                    <a:pt x="209" y="2874"/>
                    <a:pt x="487" y="2874"/>
                  </a:cubicBezTo>
                  <a:lnTo>
                    <a:pt x="2411" y="2874"/>
                  </a:lnTo>
                  <a:cubicBezTo>
                    <a:pt x="2666" y="2874"/>
                    <a:pt x="2874" y="2665"/>
                    <a:pt x="2874" y="2387"/>
                  </a:cubicBezTo>
                  <a:lnTo>
                    <a:pt x="2874" y="464"/>
                  </a:lnTo>
                  <a:cubicBezTo>
                    <a:pt x="2874" y="209"/>
                    <a:pt x="2666" y="0"/>
                    <a:pt x="2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" name="Google Shape;458;p39">
              <a:extLst>
                <a:ext uri="{FF2B5EF4-FFF2-40B4-BE49-F238E27FC236}">
                  <a16:creationId xmlns:a16="http://schemas.microsoft.com/office/drawing/2014/main" id="{2BD781EB-1D23-EB8E-6A3B-572166070CF5}"/>
                </a:ext>
              </a:extLst>
            </p:cNvPr>
            <p:cNvSpPr/>
            <p:nvPr/>
          </p:nvSpPr>
          <p:spPr>
            <a:xfrm>
              <a:off x="5915450" y="1451275"/>
              <a:ext cx="95625" cy="95625"/>
            </a:xfrm>
            <a:custGeom>
              <a:avLst/>
              <a:gdLst/>
              <a:ahLst/>
              <a:cxnLst/>
              <a:rect l="l" t="t" r="r" b="b"/>
              <a:pathLst>
                <a:path w="3825" h="3825" extrusionOk="0">
                  <a:moveTo>
                    <a:pt x="464" y="1"/>
                  </a:moveTo>
                  <a:cubicBezTo>
                    <a:pt x="209" y="1"/>
                    <a:pt x="1" y="209"/>
                    <a:pt x="1" y="487"/>
                  </a:cubicBezTo>
                  <a:lnTo>
                    <a:pt x="1" y="3361"/>
                  </a:lnTo>
                  <a:cubicBezTo>
                    <a:pt x="1" y="3616"/>
                    <a:pt x="209" y="3825"/>
                    <a:pt x="464" y="3825"/>
                  </a:cubicBezTo>
                  <a:lnTo>
                    <a:pt x="3338" y="3825"/>
                  </a:lnTo>
                  <a:cubicBezTo>
                    <a:pt x="3593" y="3825"/>
                    <a:pt x="3825" y="3616"/>
                    <a:pt x="3825" y="3361"/>
                  </a:cubicBezTo>
                  <a:lnTo>
                    <a:pt x="3825" y="487"/>
                  </a:lnTo>
                  <a:cubicBezTo>
                    <a:pt x="3825" y="232"/>
                    <a:pt x="3593" y="1"/>
                    <a:pt x="33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" name="Google Shape;459;p39">
              <a:extLst>
                <a:ext uri="{FF2B5EF4-FFF2-40B4-BE49-F238E27FC236}">
                  <a16:creationId xmlns:a16="http://schemas.microsoft.com/office/drawing/2014/main" id="{21DEFA2A-6776-264C-E37B-E99157C7417B}"/>
                </a:ext>
              </a:extLst>
            </p:cNvPr>
            <p:cNvSpPr/>
            <p:nvPr/>
          </p:nvSpPr>
          <p:spPr>
            <a:xfrm>
              <a:off x="5885900" y="1568900"/>
              <a:ext cx="155300" cy="164550"/>
            </a:xfrm>
            <a:custGeom>
              <a:avLst/>
              <a:gdLst/>
              <a:ahLst/>
              <a:cxnLst/>
              <a:rect l="l" t="t" r="r" b="b"/>
              <a:pathLst>
                <a:path w="6212" h="6582" extrusionOk="0">
                  <a:moveTo>
                    <a:pt x="1206" y="0"/>
                  </a:moveTo>
                  <a:cubicBezTo>
                    <a:pt x="951" y="0"/>
                    <a:pt x="742" y="209"/>
                    <a:pt x="742" y="464"/>
                  </a:cubicBezTo>
                  <a:cubicBezTo>
                    <a:pt x="742" y="719"/>
                    <a:pt x="951" y="927"/>
                    <a:pt x="1206" y="927"/>
                  </a:cubicBezTo>
                  <a:lnTo>
                    <a:pt x="1206" y="4172"/>
                  </a:lnTo>
                  <a:lnTo>
                    <a:pt x="1" y="6582"/>
                  </a:lnTo>
                  <a:lnTo>
                    <a:pt x="6212" y="6582"/>
                  </a:lnTo>
                  <a:lnTo>
                    <a:pt x="5030" y="4125"/>
                  </a:lnTo>
                  <a:lnTo>
                    <a:pt x="5030" y="927"/>
                  </a:lnTo>
                  <a:cubicBezTo>
                    <a:pt x="5261" y="904"/>
                    <a:pt x="5424" y="695"/>
                    <a:pt x="5424" y="464"/>
                  </a:cubicBezTo>
                  <a:cubicBezTo>
                    <a:pt x="5424" y="209"/>
                    <a:pt x="5215" y="0"/>
                    <a:pt x="49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" name="Google Shape;460;p39">
              <a:extLst>
                <a:ext uri="{FF2B5EF4-FFF2-40B4-BE49-F238E27FC236}">
                  <a16:creationId xmlns:a16="http://schemas.microsoft.com/office/drawing/2014/main" id="{3AE11258-9E03-A57D-7EA1-B31A09B78BF3}"/>
                </a:ext>
              </a:extLst>
            </p:cNvPr>
            <p:cNvSpPr/>
            <p:nvPr/>
          </p:nvSpPr>
          <p:spPr>
            <a:xfrm>
              <a:off x="5831450" y="1756600"/>
              <a:ext cx="263050" cy="94475"/>
            </a:xfrm>
            <a:custGeom>
              <a:avLst/>
              <a:gdLst/>
              <a:ahLst/>
              <a:cxnLst/>
              <a:rect l="l" t="t" r="r" b="b"/>
              <a:pathLst>
                <a:path w="10522" h="3779" extrusionOk="0">
                  <a:moveTo>
                    <a:pt x="8853" y="1"/>
                  </a:moveTo>
                  <a:lnTo>
                    <a:pt x="8853" y="24"/>
                  </a:lnTo>
                  <a:lnTo>
                    <a:pt x="1715" y="24"/>
                  </a:lnTo>
                  <a:lnTo>
                    <a:pt x="162" y="3106"/>
                  </a:lnTo>
                  <a:cubicBezTo>
                    <a:pt x="0" y="3431"/>
                    <a:pt x="232" y="3779"/>
                    <a:pt x="580" y="3779"/>
                  </a:cubicBezTo>
                  <a:lnTo>
                    <a:pt x="9942" y="3779"/>
                  </a:lnTo>
                  <a:cubicBezTo>
                    <a:pt x="10290" y="3779"/>
                    <a:pt x="10522" y="3431"/>
                    <a:pt x="10383" y="3106"/>
                  </a:cubicBezTo>
                  <a:lnTo>
                    <a:pt x="88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243282D-7B30-B097-D7B3-010846DF90F9}"/>
              </a:ext>
            </a:extLst>
          </p:cNvPr>
          <p:cNvSpPr/>
          <p:nvPr/>
        </p:nvSpPr>
        <p:spPr>
          <a:xfrm>
            <a:off x="941843" y="2123954"/>
            <a:ext cx="3320441" cy="402300"/>
          </a:xfrm>
          <a:prstGeom prst="rect">
            <a:avLst/>
          </a:prstGeom>
          <a:solidFill>
            <a:srgbClr val="00B0F0">
              <a:alpha val="24889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6E85161-BA44-575E-66DF-426580831D18}"/>
              </a:ext>
            </a:extLst>
          </p:cNvPr>
          <p:cNvSpPr/>
          <p:nvPr/>
        </p:nvSpPr>
        <p:spPr>
          <a:xfrm>
            <a:off x="6048195" y="3452949"/>
            <a:ext cx="1843201" cy="333640"/>
          </a:xfrm>
          <a:prstGeom prst="rect">
            <a:avLst/>
          </a:prstGeom>
          <a:solidFill>
            <a:srgbClr val="FF0000">
              <a:alpha val="22250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18" name="꺾인 연결선[E] 117">
            <a:extLst>
              <a:ext uri="{FF2B5EF4-FFF2-40B4-BE49-F238E27FC236}">
                <a16:creationId xmlns:a16="http://schemas.microsoft.com/office/drawing/2014/main" id="{5BD39008-576F-3AA7-45DF-02DD5CF1541E}"/>
              </a:ext>
            </a:extLst>
          </p:cNvPr>
          <p:cNvCxnSpPr>
            <a:cxnSpLocks/>
          </p:cNvCxnSpPr>
          <p:nvPr/>
        </p:nvCxnSpPr>
        <p:spPr>
          <a:xfrm>
            <a:off x="4400832" y="2720678"/>
            <a:ext cx="1675649" cy="905394"/>
          </a:xfrm>
          <a:prstGeom prst="bentConnector3">
            <a:avLst>
              <a:gd name="adj1" fmla="val 50000"/>
            </a:avLst>
          </a:prstGeom>
          <a:ln w="25400">
            <a:solidFill>
              <a:srgbClr val="EE4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[E] 132">
            <a:extLst>
              <a:ext uri="{FF2B5EF4-FFF2-40B4-BE49-F238E27FC236}">
                <a16:creationId xmlns:a16="http://schemas.microsoft.com/office/drawing/2014/main" id="{94565352-F26E-066A-248C-DFD7D979F988}"/>
              </a:ext>
            </a:extLst>
          </p:cNvPr>
          <p:cNvCxnSpPr>
            <a:cxnSpLocks/>
          </p:cNvCxnSpPr>
          <p:nvPr/>
        </p:nvCxnSpPr>
        <p:spPr>
          <a:xfrm rot="10800000">
            <a:off x="2819776" y="2490952"/>
            <a:ext cx="1585563" cy="229726"/>
          </a:xfrm>
          <a:prstGeom prst="bentConnector3">
            <a:avLst>
              <a:gd name="adj1" fmla="val 100000"/>
            </a:avLst>
          </a:prstGeom>
          <a:ln w="25400">
            <a:solidFill>
              <a:srgbClr val="437E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C16AFC7-ABCC-6CB6-A208-9D7717957964}"/>
              </a:ext>
            </a:extLst>
          </p:cNvPr>
          <p:cNvSpPr/>
          <p:nvPr/>
        </p:nvSpPr>
        <p:spPr>
          <a:xfrm>
            <a:off x="5987983" y="3750540"/>
            <a:ext cx="1124018" cy="311321"/>
          </a:xfrm>
          <a:prstGeom prst="rect">
            <a:avLst/>
          </a:prstGeom>
          <a:solidFill>
            <a:srgbClr val="FF0000">
              <a:alpha val="22250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39" name="꺾인 연결선[E] 138">
            <a:extLst>
              <a:ext uri="{FF2B5EF4-FFF2-40B4-BE49-F238E27FC236}">
                <a16:creationId xmlns:a16="http://schemas.microsoft.com/office/drawing/2014/main" id="{763922A7-0858-FD87-7BE3-5E1F53C66C93}"/>
              </a:ext>
            </a:extLst>
          </p:cNvPr>
          <p:cNvCxnSpPr>
            <a:cxnSpLocks/>
          </p:cNvCxnSpPr>
          <p:nvPr/>
        </p:nvCxnSpPr>
        <p:spPr>
          <a:xfrm rot="10800000">
            <a:off x="1901563" y="3776245"/>
            <a:ext cx="2448368" cy="126285"/>
          </a:xfrm>
          <a:prstGeom prst="bentConnector3">
            <a:avLst>
              <a:gd name="adj1" fmla="val 100019"/>
            </a:avLst>
          </a:prstGeom>
          <a:ln w="25400">
            <a:solidFill>
              <a:srgbClr val="437E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D111A3E-AAF5-F08E-9994-08900B9231E4}"/>
              </a:ext>
            </a:extLst>
          </p:cNvPr>
          <p:cNvSpPr/>
          <p:nvPr/>
        </p:nvSpPr>
        <p:spPr>
          <a:xfrm>
            <a:off x="941843" y="3412986"/>
            <a:ext cx="2182357" cy="402300"/>
          </a:xfrm>
          <a:prstGeom prst="rect">
            <a:avLst/>
          </a:prstGeom>
          <a:solidFill>
            <a:srgbClr val="00B0F0">
              <a:alpha val="24889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77CF8BCE-77C2-C994-9827-9671732BF15B}"/>
              </a:ext>
            </a:extLst>
          </p:cNvPr>
          <p:cNvCxnSpPr>
            <a:endCxn id="137" idx="1"/>
          </p:cNvCxnSpPr>
          <p:nvPr/>
        </p:nvCxnSpPr>
        <p:spPr>
          <a:xfrm>
            <a:off x="4340431" y="3901044"/>
            <a:ext cx="1647552" cy="5157"/>
          </a:xfrm>
          <a:prstGeom prst="straightConnector1">
            <a:avLst/>
          </a:prstGeom>
          <a:ln w="25400">
            <a:solidFill>
              <a:srgbClr val="EE4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2834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1" grpId="0" animBg="1"/>
      <p:bldP spid="137" grpId="0" animBg="1"/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>
          <a:extLst>
            <a:ext uri="{FF2B5EF4-FFF2-40B4-BE49-F238E27FC236}">
              <a16:creationId xmlns:a16="http://schemas.microsoft.com/office/drawing/2014/main" id="{F3FF8999-53C5-6984-C07B-7342A818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5;p29">
            <a:extLst>
              <a:ext uri="{FF2B5EF4-FFF2-40B4-BE49-F238E27FC236}">
                <a16:creationId xmlns:a16="http://schemas.microsoft.com/office/drawing/2014/main" id="{85EBCF07-31A7-35C1-A366-A78645F786A0}"/>
              </a:ext>
            </a:extLst>
          </p:cNvPr>
          <p:cNvSpPr txBox="1">
            <a:spLocks/>
          </p:cNvSpPr>
          <p:nvPr/>
        </p:nvSpPr>
        <p:spPr>
          <a:xfrm>
            <a:off x="681535" y="688350"/>
            <a:ext cx="4458380" cy="42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CenterLoss</a:t>
            </a:r>
            <a:r>
              <a:rPr lang="ko-KR" altLang="en-US" sz="2400" dirty="0">
                <a:solidFill>
                  <a:schemeClr val="tx1"/>
                </a:solidFill>
                <a:latin typeface="+mj-ea"/>
                <a:ea typeface="+mj-ea"/>
              </a:rPr>
              <a:t> 소개</a:t>
            </a:r>
          </a:p>
        </p:txBody>
      </p:sp>
      <p:sp>
        <p:nvSpPr>
          <p:cNvPr id="3" name="Google Shape;296;p29">
            <a:extLst>
              <a:ext uri="{FF2B5EF4-FFF2-40B4-BE49-F238E27FC236}">
                <a16:creationId xmlns:a16="http://schemas.microsoft.com/office/drawing/2014/main" id="{DE690D0E-2A44-8B32-8E4B-00F8F9F9CE89}"/>
              </a:ext>
            </a:extLst>
          </p:cNvPr>
          <p:cNvSpPr txBox="1">
            <a:spLocks/>
          </p:cNvSpPr>
          <p:nvPr/>
        </p:nvSpPr>
        <p:spPr>
          <a:xfrm>
            <a:off x="675357" y="1052576"/>
            <a:ext cx="5035487" cy="3305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ko-KR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KNN</a:t>
            </a:r>
            <a:r>
              <a:rPr lang="ko-KR" altLang="en-US" sz="1600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에</a:t>
            </a:r>
            <a:r>
              <a:rPr lang="ko-KR" altLang="en-US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 군집화를 접목한 손실함수  </a:t>
            </a:r>
            <a:endParaRPr lang="en-US" altLang="ko-KR" sz="800" b="1" dirty="0">
              <a:solidFill>
                <a:schemeClr val="accent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▶ 클래스 내 분산 최소화</a:t>
            </a:r>
            <a:r>
              <a:rPr lang="en-US" altLang="ko-KR" b="1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 클래스 간 분별력 향상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▶ 객체 탐지에서 사용되는 유클리드 거리 기반 손실함수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endParaRPr lang="en-US" altLang="ko-KR" sz="11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▶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군집 중심과의 거리를 통해 분류를 수행하여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다수 클래스 편향 문제를 보완</a:t>
            </a:r>
            <a:endParaRPr lang="en-US" altLang="ko-KR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Google Shape;442;p39">
            <a:extLst>
              <a:ext uri="{FF2B5EF4-FFF2-40B4-BE49-F238E27FC236}">
                <a16:creationId xmlns:a16="http://schemas.microsoft.com/office/drawing/2014/main" id="{733C7BA6-B4A4-F5C5-28CF-4D6BAA84AA64}"/>
              </a:ext>
            </a:extLst>
          </p:cNvPr>
          <p:cNvSpPr txBox="1"/>
          <p:nvPr/>
        </p:nvSpPr>
        <p:spPr>
          <a:xfrm>
            <a:off x="6070579" y="3079450"/>
            <a:ext cx="2486347" cy="55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불균형</a:t>
            </a: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 심각</a:t>
            </a:r>
            <a:endParaRPr sz="1800" b="1" dirty="0">
              <a:solidFill>
                <a:schemeClr val="tx1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16" name="Google Shape;448;p39">
            <a:extLst>
              <a:ext uri="{FF2B5EF4-FFF2-40B4-BE49-F238E27FC236}">
                <a16:creationId xmlns:a16="http://schemas.microsoft.com/office/drawing/2014/main" id="{4A62CA1A-C95A-1304-A650-8D60CD8F9E51}"/>
              </a:ext>
            </a:extLst>
          </p:cNvPr>
          <p:cNvSpPr txBox="1"/>
          <p:nvPr/>
        </p:nvSpPr>
        <p:spPr>
          <a:xfrm>
            <a:off x="6013835" y="3625896"/>
            <a:ext cx="2615878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n-ea"/>
                <a:ea typeface="+mn-ea"/>
              </a:rPr>
              <a:t>G06F</a:t>
            </a:r>
            <a:r>
              <a:rPr lang="en-US" altLang="ko-KR" sz="1100" dirty="0">
                <a:latin typeface="+mn-ea"/>
                <a:ea typeface="+mn-ea"/>
              </a:rPr>
              <a:t>: 398,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G06Q</a:t>
            </a:r>
            <a:r>
              <a:rPr lang="en-US" altLang="ko-KR" sz="1100" dirty="0">
                <a:latin typeface="+mn-ea"/>
                <a:ea typeface="+mn-ea"/>
              </a:rPr>
              <a:t>: 1,791,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b="1" dirty="0">
                <a:latin typeface="+mn-ea"/>
                <a:ea typeface="+mn-ea"/>
              </a:rPr>
              <a:t>G16H</a:t>
            </a:r>
            <a:r>
              <a:rPr lang="en-US" altLang="ko-KR" sz="1100" dirty="0">
                <a:latin typeface="+mn-ea"/>
                <a:ea typeface="+mn-ea"/>
              </a:rPr>
              <a:t>: 215</a:t>
            </a:r>
            <a:r>
              <a:rPr lang="ko-KR" altLang="en-US" sz="1100" dirty="0">
                <a:latin typeface="+mn-ea"/>
                <a:ea typeface="+mn-ea"/>
              </a:rPr>
              <a:t>개</a:t>
            </a:r>
            <a:endParaRPr lang="en-US" altLang="ko-KR" sz="11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</a:rPr>
              <a:t>소수 클래스에 대한 예측 성능 저조 </a:t>
            </a:r>
            <a:r>
              <a:rPr lang="ko-KR" altLang="en-US" sz="1200" dirty="0">
                <a:latin typeface="+mn-ea"/>
                <a:ea typeface="+mn-ea"/>
              </a:rPr>
              <a:t>및 다수 클래스로의 </a:t>
            </a:r>
            <a:r>
              <a:rPr lang="ko-KR" altLang="en-US" sz="1200" dirty="0" err="1">
                <a:latin typeface="+mn-ea"/>
                <a:ea typeface="+mn-ea"/>
              </a:rPr>
              <a:t>오분류</a:t>
            </a:r>
            <a:r>
              <a:rPr lang="ko-KR" altLang="en-US" sz="1200" dirty="0">
                <a:latin typeface="+mn-ea"/>
                <a:ea typeface="+mn-ea"/>
              </a:rPr>
              <a:t> 증가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63221D3-5EA5-39B8-86BD-677F499F635A}"/>
              </a:ext>
            </a:extLst>
          </p:cNvPr>
          <p:cNvSpPr/>
          <p:nvPr/>
        </p:nvSpPr>
        <p:spPr>
          <a:xfrm>
            <a:off x="6060811" y="2854700"/>
            <a:ext cx="2506391" cy="1963124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Google Shape;442;p39">
            <a:extLst>
              <a:ext uri="{FF2B5EF4-FFF2-40B4-BE49-F238E27FC236}">
                <a16:creationId xmlns:a16="http://schemas.microsoft.com/office/drawing/2014/main" id="{1A6BD3F3-C254-0964-85AC-D8E462092973}"/>
              </a:ext>
            </a:extLst>
          </p:cNvPr>
          <p:cNvSpPr txBox="1"/>
          <p:nvPr/>
        </p:nvSpPr>
        <p:spPr>
          <a:xfrm>
            <a:off x="6074074" y="549868"/>
            <a:ext cx="2486347" cy="918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내 변동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큼</a:t>
            </a:r>
            <a:r>
              <a:rPr lang="en-US" altLang="ko-KR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,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rPr>
              <a:t>클래스 간 차이 </a:t>
            </a:r>
            <a:r>
              <a:rPr lang="ko-KR" altLang="en-US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rPr>
              <a:t>작음</a:t>
            </a:r>
            <a:endParaRPr sz="1800" b="1" dirty="0">
              <a:solidFill>
                <a:srgbClr val="C00000"/>
              </a:solidFill>
              <a:latin typeface="+mj-ea"/>
              <a:ea typeface="+mj-ea"/>
              <a:cs typeface="Poppins Medium"/>
              <a:sym typeface="Poppins Medium"/>
            </a:endParaRPr>
          </a:p>
        </p:txBody>
      </p:sp>
      <p:sp>
        <p:nvSpPr>
          <p:cNvPr id="25" name="Google Shape;448;p39">
            <a:extLst>
              <a:ext uri="{FF2B5EF4-FFF2-40B4-BE49-F238E27FC236}">
                <a16:creationId xmlns:a16="http://schemas.microsoft.com/office/drawing/2014/main" id="{3F235D67-E5E4-EC05-3746-5E16126A53B7}"/>
              </a:ext>
            </a:extLst>
          </p:cNvPr>
          <p:cNvSpPr txBox="1"/>
          <p:nvPr/>
        </p:nvSpPr>
        <p:spPr>
          <a:xfrm>
            <a:off x="6085185" y="1386408"/>
            <a:ext cx="2506061" cy="116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클래스 내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다양한 분야 용어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를 포함하며 클래스 간 </a:t>
            </a:r>
            <a:r>
              <a:rPr lang="ko-KR" altLang="en-US" sz="1200" b="1" u="sng" dirty="0">
                <a:solidFill>
                  <a:srgbClr val="C00000"/>
                </a:solidFill>
                <a:latin typeface="+mn-ea"/>
                <a:ea typeface="+mn-ea"/>
                <a:cs typeface="Work Sans"/>
                <a:sym typeface="Work Sans"/>
              </a:rPr>
              <a:t>동일한 용어와 표현</a:t>
            </a:r>
            <a:r>
              <a:rPr lang="ko-KR" altLang="en-US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이 다수 중복됨</a:t>
            </a:r>
            <a:r>
              <a: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.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43967213-71F2-6B12-4303-558552962641}"/>
              </a:ext>
            </a:extLst>
          </p:cNvPr>
          <p:cNvSpPr/>
          <p:nvPr/>
        </p:nvSpPr>
        <p:spPr>
          <a:xfrm>
            <a:off x="6064306" y="400590"/>
            <a:ext cx="2506391" cy="2094082"/>
          </a:xfrm>
          <a:prstGeom prst="roundRect">
            <a:avLst/>
          </a:prstGeom>
          <a:noFill/>
          <a:ln w="38100">
            <a:solidFill>
              <a:srgbClr val="C00000">
                <a:alpha val="6274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D3D5B3C3-259B-F6F8-6E8B-934DE9258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799" y="2466262"/>
            <a:ext cx="1968500" cy="482600"/>
          </a:xfrm>
          <a:prstGeom prst="rect">
            <a:avLst/>
          </a:prstGeom>
        </p:spPr>
      </p:pic>
      <p:pic>
        <p:nvPicPr>
          <p:cNvPr id="37" name="그래픽 36">
            <a:extLst>
              <a:ext uri="{FF2B5EF4-FFF2-40B4-BE49-F238E27FC236}">
                <a16:creationId xmlns:a16="http://schemas.microsoft.com/office/drawing/2014/main" id="{1DFD7D8B-D445-7E7A-2660-351727125B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3409" y="2637712"/>
            <a:ext cx="1930400" cy="139700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1A4BDF2F-4BD2-D134-B5E2-973939335188}"/>
              </a:ext>
            </a:extLst>
          </p:cNvPr>
          <p:cNvGrpSpPr/>
          <p:nvPr/>
        </p:nvGrpSpPr>
        <p:grpSpPr>
          <a:xfrm>
            <a:off x="1006716" y="3940226"/>
            <a:ext cx="3806354" cy="961332"/>
            <a:chOff x="890337" y="749396"/>
            <a:chExt cx="6478168" cy="1600161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7393BAF-E47E-917A-49BC-B346C4980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45" t="565" r="62016" b="49752"/>
            <a:stretch/>
          </p:blipFill>
          <p:spPr>
            <a:xfrm>
              <a:off x="890337" y="749396"/>
              <a:ext cx="1615669" cy="1564106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F3F1B342-D41A-C7B3-AD3E-F6614F5C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9089" t="49652" r="14012" b="72"/>
            <a:stretch/>
          </p:blipFill>
          <p:spPr>
            <a:xfrm>
              <a:off x="5732426" y="766784"/>
              <a:ext cx="1636079" cy="1582773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878EA1F5-8C6D-7B4B-7D6B-B9040FB15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9167" t="846" r="14238" b="49580"/>
            <a:stretch/>
          </p:blipFill>
          <p:spPr>
            <a:xfrm>
              <a:off x="2506006" y="756270"/>
              <a:ext cx="1622545" cy="1560669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A23EF66D-FFDD-10E7-EA1E-2AE57C25B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564" t="49000" r="61299" b="1099"/>
            <a:stretch/>
          </p:blipFill>
          <p:spPr>
            <a:xfrm>
              <a:off x="4086498" y="760295"/>
              <a:ext cx="1646608" cy="1570980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55B962-8DC8-F7B1-AFD7-ADB4063484E8}"/>
              </a:ext>
            </a:extLst>
          </p:cNvPr>
          <p:cNvSpPr/>
          <p:nvPr/>
        </p:nvSpPr>
        <p:spPr>
          <a:xfrm>
            <a:off x="950156" y="1666754"/>
            <a:ext cx="3771473" cy="402300"/>
          </a:xfrm>
          <a:prstGeom prst="rect">
            <a:avLst/>
          </a:prstGeom>
          <a:solidFill>
            <a:srgbClr val="00B0F0">
              <a:alpha val="24889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C2C717D-1CA8-8897-BCD2-7FF6D066DF32}"/>
              </a:ext>
            </a:extLst>
          </p:cNvPr>
          <p:cNvSpPr/>
          <p:nvPr/>
        </p:nvSpPr>
        <p:spPr>
          <a:xfrm>
            <a:off x="6201294" y="535181"/>
            <a:ext cx="1762299" cy="894608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46" name="꺾인 연결선[E] 45">
            <a:extLst>
              <a:ext uri="{FF2B5EF4-FFF2-40B4-BE49-F238E27FC236}">
                <a16:creationId xmlns:a16="http://schemas.microsoft.com/office/drawing/2014/main" id="{84F629D4-405D-0A42-B1C5-4D0A9846A5EC}"/>
              </a:ext>
            </a:extLst>
          </p:cNvPr>
          <p:cNvCxnSpPr>
            <a:cxnSpLocks/>
          </p:cNvCxnSpPr>
          <p:nvPr/>
        </p:nvCxnSpPr>
        <p:spPr>
          <a:xfrm flipV="1">
            <a:off x="4903867" y="3334987"/>
            <a:ext cx="1363929" cy="329674"/>
          </a:xfrm>
          <a:prstGeom prst="bentConnector3">
            <a:avLst>
              <a:gd name="adj1" fmla="val 50000"/>
            </a:avLst>
          </a:prstGeom>
          <a:ln w="25400">
            <a:solidFill>
              <a:srgbClr val="EE4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[E] 46">
            <a:extLst>
              <a:ext uri="{FF2B5EF4-FFF2-40B4-BE49-F238E27FC236}">
                <a16:creationId xmlns:a16="http://schemas.microsoft.com/office/drawing/2014/main" id="{C51D72B4-A6A1-ED8F-9576-FE2017C86C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64925" y="963952"/>
            <a:ext cx="975536" cy="740156"/>
          </a:xfrm>
          <a:prstGeom prst="bentConnector3">
            <a:avLst>
              <a:gd name="adj1" fmla="val 99868"/>
            </a:avLst>
          </a:prstGeom>
          <a:ln w="25400">
            <a:solidFill>
              <a:srgbClr val="437E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B1969F8-C3CE-8C3E-30DF-224DCE6B2CE1}"/>
              </a:ext>
            </a:extLst>
          </p:cNvPr>
          <p:cNvSpPr/>
          <p:nvPr/>
        </p:nvSpPr>
        <p:spPr>
          <a:xfrm>
            <a:off x="6209925" y="3137981"/>
            <a:ext cx="1682324" cy="413087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823C2574-0DBC-CBCC-8EE3-1F387C45DA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23240" y="3666949"/>
            <a:ext cx="1512402" cy="1"/>
          </a:xfrm>
          <a:prstGeom prst="bentConnector3">
            <a:avLst>
              <a:gd name="adj1" fmla="val 50000"/>
            </a:avLst>
          </a:prstGeom>
          <a:ln w="25400">
            <a:solidFill>
              <a:srgbClr val="437ED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4B065D-6CC2-4432-7241-B0A3035B27EB}"/>
              </a:ext>
            </a:extLst>
          </p:cNvPr>
          <p:cNvSpPr/>
          <p:nvPr/>
        </p:nvSpPr>
        <p:spPr>
          <a:xfrm>
            <a:off x="948823" y="3461847"/>
            <a:ext cx="2506353" cy="402300"/>
          </a:xfrm>
          <a:prstGeom prst="rect">
            <a:avLst/>
          </a:prstGeom>
          <a:solidFill>
            <a:srgbClr val="00B0F0">
              <a:alpha val="24889"/>
            </a:srgbClr>
          </a:solidFill>
          <a:ln>
            <a:noFill/>
          </a:ln>
          <a:effectLst>
            <a:softEdge rad="6639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FFF9ADD-7855-BD82-1A87-0883FC0401A5}"/>
              </a:ext>
            </a:extLst>
          </p:cNvPr>
          <p:cNvCxnSpPr>
            <a:cxnSpLocks/>
          </p:cNvCxnSpPr>
          <p:nvPr/>
        </p:nvCxnSpPr>
        <p:spPr>
          <a:xfrm>
            <a:off x="5031452" y="963495"/>
            <a:ext cx="1172662" cy="0"/>
          </a:xfrm>
          <a:prstGeom prst="straightConnector1">
            <a:avLst/>
          </a:prstGeom>
          <a:ln w="25400">
            <a:solidFill>
              <a:srgbClr val="EE4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1E93266-B691-6B78-F299-83D6FA69BC75}"/>
              </a:ext>
            </a:extLst>
          </p:cNvPr>
          <p:cNvGrpSpPr/>
          <p:nvPr/>
        </p:nvGrpSpPr>
        <p:grpSpPr>
          <a:xfrm>
            <a:off x="10313958" y="1268556"/>
            <a:ext cx="2526940" cy="3272622"/>
            <a:chOff x="442293" y="1268556"/>
            <a:chExt cx="2526940" cy="3272622"/>
          </a:xfrm>
        </p:grpSpPr>
        <p:sp>
          <p:nvSpPr>
            <p:cNvPr id="69" name="Google Shape;442;p39">
              <a:extLst>
                <a:ext uri="{FF2B5EF4-FFF2-40B4-BE49-F238E27FC236}">
                  <a16:creationId xmlns:a16="http://schemas.microsoft.com/office/drawing/2014/main" id="{7CE80796-378F-2D21-2B2D-35D103CDBFE2}"/>
                </a:ext>
              </a:extLst>
            </p:cNvPr>
            <p:cNvSpPr txBox="1"/>
            <p:nvPr/>
          </p:nvSpPr>
          <p:spPr>
            <a:xfrm>
              <a:off x="452061" y="1417834"/>
              <a:ext cx="2486347" cy="918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도메인에 </a:t>
              </a:r>
              <a:r>
                <a:rPr lang="ko-KR" altLang="en-US" sz="1800" b="1" dirty="0">
                  <a:solidFill>
                    <a:srgbClr val="C00000"/>
                  </a:solidFill>
                  <a:latin typeface="+mj-ea"/>
                  <a:ea typeface="+mj-ea"/>
                  <a:cs typeface="Poppins Medium"/>
                  <a:sym typeface="Poppins Medium"/>
                </a:rPr>
                <a:t>특화된</a:t>
              </a:r>
              <a:endParaRPr lang="en-US" altLang="ko-KR" sz="1800" b="1" dirty="0">
                <a:solidFill>
                  <a:srgbClr val="C00000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+mj-ea"/>
                  <a:ea typeface="+mj-ea"/>
                  <a:cs typeface="Poppins Medium"/>
                  <a:sym typeface="Poppins Medium"/>
                </a:rPr>
                <a:t>전문 용어 다수 포함</a:t>
              </a:r>
              <a:endParaRPr sz="1800" b="1" dirty="0">
                <a:solidFill>
                  <a:schemeClr val="tx1"/>
                </a:solidFill>
                <a:latin typeface="+mj-ea"/>
                <a:ea typeface="+mj-ea"/>
                <a:cs typeface="Poppins Medium"/>
                <a:sym typeface="Poppins Medium"/>
              </a:endParaRPr>
            </a:p>
          </p:txBody>
        </p:sp>
        <p:sp>
          <p:nvSpPr>
            <p:cNvPr id="70" name="Google Shape;448;p39">
              <a:extLst>
                <a:ext uri="{FF2B5EF4-FFF2-40B4-BE49-F238E27FC236}">
                  <a16:creationId xmlns:a16="http://schemas.microsoft.com/office/drawing/2014/main" id="{32E60180-2EE7-AB62-39F9-87DC79BAF071}"/>
                </a:ext>
              </a:extLst>
            </p:cNvPr>
            <p:cNvSpPr txBox="1"/>
            <p:nvPr/>
          </p:nvSpPr>
          <p:spPr>
            <a:xfrm>
              <a:off x="463172" y="3379086"/>
              <a:ext cx="2506061" cy="116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전문 용어와 긴 문장 구조로 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1" u="sng" dirty="0">
                  <a:solidFill>
                    <a:srgbClr val="C00000"/>
                  </a:solidFill>
                  <a:latin typeface="+mn-ea"/>
                  <a:ea typeface="+mn-ea"/>
                  <a:cs typeface="Work Sans"/>
                  <a:sym typeface="Work Sans"/>
                </a:rPr>
                <a:t>특징 추출 어렵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기에</a:t>
              </a:r>
              <a:r>
                <a:rPr lang="ko-KR" altLang="en-US" sz="1200" b="1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전통적인</a:t>
              </a:r>
              <a:r>
                <a:rPr lang="en-US" altLang="ko-KR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Bag-of-Words/TF-IDF </a:t>
              </a:r>
              <a:r>
                <a:rPr lang="ko-KR" altLang="en-US" sz="12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기법 한계</a:t>
              </a:r>
              <a:endParaRPr lang="en-US" altLang="ko-KR" sz="12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</p:txBody>
        </p:sp>
        <p:grpSp>
          <p:nvGrpSpPr>
            <p:cNvPr id="71" name="Google Shape;487;p39">
              <a:extLst>
                <a:ext uri="{FF2B5EF4-FFF2-40B4-BE49-F238E27FC236}">
                  <a16:creationId xmlns:a16="http://schemas.microsoft.com/office/drawing/2014/main" id="{30554861-262A-0A6F-CC92-36140B18DA33}"/>
                </a:ext>
              </a:extLst>
            </p:cNvPr>
            <p:cNvGrpSpPr/>
            <p:nvPr/>
          </p:nvGrpSpPr>
          <p:grpSpPr>
            <a:xfrm>
              <a:off x="1284737" y="2491676"/>
              <a:ext cx="693313" cy="693307"/>
              <a:chOff x="4213225" y="3521403"/>
              <a:chExt cx="399800" cy="399797"/>
            </a:xfrm>
            <a:solidFill>
              <a:srgbClr val="EE4B3B"/>
            </a:solidFill>
          </p:grpSpPr>
          <p:sp>
            <p:nvSpPr>
              <p:cNvPr id="73" name="Google Shape;488;p39">
                <a:extLst>
                  <a:ext uri="{FF2B5EF4-FFF2-40B4-BE49-F238E27FC236}">
                    <a16:creationId xmlns:a16="http://schemas.microsoft.com/office/drawing/2014/main" id="{70F222A3-8EA5-DD8A-7C61-4836B9EC7997}"/>
                  </a:ext>
                </a:extLst>
              </p:cNvPr>
              <p:cNvSpPr/>
              <p:nvPr/>
            </p:nvSpPr>
            <p:spPr>
              <a:xfrm>
                <a:off x="4261325" y="3591500"/>
                <a:ext cx="351700" cy="329700"/>
              </a:xfrm>
              <a:custGeom>
                <a:avLst/>
                <a:gdLst/>
                <a:ahLst/>
                <a:cxnLst/>
                <a:rect l="l" t="t" r="r" b="b"/>
                <a:pathLst>
                  <a:path w="14068" h="13188" extrusionOk="0">
                    <a:moveTo>
                      <a:pt x="12608" y="1"/>
                    </a:moveTo>
                    <a:lnTo>
                      <a:pt x="12608" y="10383"/>
                    </a:lnTo>
                    <a:cubicBezTo>
                      <a:pt x="12608" y="11148"/>
                      <a:pt x="11959" y="11774"/>
                      <a:pt x="11194" y="11774"/>
                    </a:cubicBezTo>
                    <a:lnTo>
                      <a:pt x="0" y="11774"/>
                    </a:lnTo>
                    <a:lnTo>
                      <a:pt x="0" y="12724"/>
                    </a:lnTo>
                    <a:cubicBezTo>
                      <a:pt x="0" y="12979"/>
                      <a:pt x="209" y="13187"/>
                      <a:pt x="487" y="13187"/>
                    </a:cubicBezTo>
                    <a:lnTo>
                      <a:pt x="13604" y="13187"/>
                    </a:lnTo>
                    <a:cubicBezTo>
                      <a:pt x="13859" y="13187"/>
                      <a:pt x="14068" y="12979"/>
                      <a:pt x="14068" y="12724"/>
                    </a:cubicBezTo>
                    <a:lnTo>
                      <a:pt x="14068" y="464"/>
                    </a:lnTo>
                    <a:cubicBezTo>
                      <a:pt x="14068" y="209"/>
                      <a:pt x="13859" y="1"/>
                      <a:pt x="1360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74" name="Google Shape;489;p39">
                <a:extLst>
                  <a:ext uri="{FF2B5EF4-FFF2-40B4-BE49-F238E27FC236}">
                    <a16:creationId xmlns:a16="http://schemas.microsoft.com/office/drawing/2014/main" id="{0B237748-864B-BEB4-7C55-06C596A135A6}"/>
                  </a:ext>
                </a:extLst>
              </p:cNvPr>
              <p:cNvSpPr/>
              <p:nvPr/>
            </p:nvSpPr>
            <p:spPr>
              <a:xfrm>
                <a:off x="4482650" y="3815150"/>
                <a:ext cx="469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14" extrusionOk="0">
                    <a:moveTo>
                      <a:pt x="0" y="0"/>
                    </a:moveTo>
                    <a:lnTo>
                      <a:pt x="0" y="1414"/>
                    </a:lnTo>
                    <a:lnTo>
                      <a:pt x="187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75" name="Google Shape;490;p39">
                <a:extLst>
                  <a:ext uri="{FF2B5EF4-FFF2-40B4-BE49-F238E27FC236}">
                    <a16:creationId xmlns:a16="http://schemas.microsoft.com/office/drawing/2014/main" id="{40563198-65CA-8CDE-D293-F0D33680114D}"/>
                  </a:ext>
                </a:extLst>
              </p:cNvPr>
              <p:cNvSpPr/>
              <p:nvPr/>
            </p:nvSpPr>
            <p:spPr>
              <a:xfrm>
                <a:off x="4505825" y="3826725"/>
                <a:ext cx="46950" cy="35950"/>
              </a:xfrm>
              <a:custGeom>
                <a:avLst/>
                <a:gdLst/>
                <a:ahLst/>
                <a:cxnLst/>
                <a:rect l="l" t="t" r="r" b="b"/>
                <a:pathLst>
                  <a:path w="1878" h="1438" extrusionOk="0">
                    <a:moveTo>
                      <a:pt x="1878" y="1"/>
                    </a:moveTo>
                    <a:lnTo>
                      <a:pt x="0" y="1438"/>
                    </a:lnTo>
                    <a:lnTo>
                      <a:pt x="1414" y="1438"/>
                    </a:lnTo>
                    <a:cubicBezTo>
                      <a:pt x="1669" y="1438"/>
                      <a:pt x="1878" y="1229"/>
                      <a:pt x="1878" y="974"/>
                    </a:cubicBezTo>
                    <a:lnTo>
                      <a:pt x="187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76" name="Google Shape;491;p39">
                <a:extLst>
                  <a:ext uri="{FF2B5EF4-FFF2-40B4-BE49-F238E27FC236}">
                    <a16:creationId xmlns:a16="http://schemas.microsoft.com/office/drawing/2014/main" id="{C3A24DC9-8690-84B5-16E2-4E075A495372}"/>
                  </a:ext>
                </a:extLst>
              </p:cNvPr>
              <p:cNvSpPr/>
              <p:nvPr/>
            </p:nvSpPr>
            <p:spPr>
              <a:xfrm>
                <a:off x="4424125" y="3569500"/>
                <a:ext cx="23200" cy="69550"/>
              </a:xfrm>
              <a:custGeom>
                <a:avLst/>
                <a:gdLst/>
                <a:ahLst/>
                <a:cxnLst/>
                <a:rect l="l" t="t" r="r" b="b"/>
                <a:pathLst>
                  <a:path w="928" h="2782" extrusionOk="0">
                    <a:moveTo>
                      <a:pt x="1" y="0"/>
                    </a:moveTo>
                    <a:lnTo>
                      <a:pt x="1" y="2318"/>
                    </a:lnTo>
                    <a:cubicBezTo>
                      <a:pt x="1" y="2572"/>
                      <a:pt x="209" y="2781"/>
                      <a:pt x="464" y="2781"/>
                    </a:cubicBezTo>
                    <a:cubicBezTo>
                      <a:pt x="719" y="2781"/>
                      <a:pt x="928" y="2572"/>
                      <a:pt x="928" y="2318"/>
                    </a:cubicBezTo>
                    <a:lnTo>
                      <a:pt x="9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77" name="Google Shape;492;p39">
                <a:extLst>
                  <a:ext uri="{FF2B5EF4-FFF2-40B4-BE49-F238E27FC236}">
                    <a16:creationId xmlns:a16="http://schemas.microsoft.com/office/drawing/2014/main" id="{A569AE08-8535-FB0A-EFC1-0DF623304FDF}"/>
                  </a:ext>
                </a:extLst>
              </p:cNvPr>
              <p:cNvSpPr/>
              <p:nvPr/>
            </p:nvSpPr>
            <p:spPr>
              <a:xfrm>
                <a:off x="4213225" y="3521403"/>
                <a:ext cx="339550" cy="341275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3651" extrusionOk="0">
                    <a:moveTo>
                      <a:pt x="10777" y="7069"/>
                    </a:moveTo>
                    <a:cubicBezTo>
                      <a:pt x="11032" y="7069"/>
                      <a:pt x="11241" y="7277"/>
                      <a:pt x="11241" y="7532"/>
                    </a:cubicBezTo>
                    <a:cubicBezTo>
                      <a:pt x="11241" y="7787"/>
                      <a:pt x="11032" y="7996"/>
                      <a:pt x="10777" y="7996"/>
                    </a:cubicBezTo>
                    <a:lnTo>
                      <a:pt x="3269" y="7996"/>
                    </a:lnTo>
                    <a:cubicBezTo>
                      <a:pt x="3014" y="7996"/>
                      <a:pt x="2805" y="7787"/>
                      <a:pt x="2805" y="7532"/>
                    </a:cubicBezTo>
                    <a:cubicBezTo>
                      <a:pt x="2805" y="7277"/>
                      <a:pt x="3014" y="7069"/>
                      <a:pt x="3269" y="7069"/>
                    </a:cubicBezTo>
                    <a:close/>
                    <a:moveTo>
                      <a:pt x="7023" y="8923"/>
                    </a:moveTo>
                    <a:cubicBezTo>
                      <a:pt x="7278" y="8923"/>
                      <a:pt x="7487" y="9132"/>
                      <a:pt x="7487" y="9410"/>
                    </a:cubicBezTo>
                    <a:cubicBezTo>
                      <a:pt x="7487" y="9665"/>
                      <a:pt x="7278" y="9873"/>
                      <a:pt x="7023" y="9873"/>
                    </a:cubicBezTo>
                    <a:lnTo>
                      <a:pt x="3269" y="9873"/>
                    </a:lnTo>
                    <a:cubicBezTo>
                      <a:pt x="3014" y="9873"/>
                      <a:pt x="2805" y="9665"/>
                      <a:pt x="2805" y="9410"/>
                    </a:cubicBezTo>
                    <a:cubicBezTo>
                      <a:pt x="2805" y="9132"/>
                      <a:pt x="3014" y="8923"/>
                      <a:pt x="3269" y="8923"/>
                    </a:cubicBezTo>
                    <a:close/>
                    <a:moveTo>
                      <a:pt x="10777" y="8923"/>
                    </a:moveTo>
                    <a:cubicBezTo>
                      <a:pt x="11032" y="8923"/>
                      <a:pt x="11241" y="9132"/>
                      <a:pt x="11241" y="9410"/>
                    </a:cubicBezTo>
                    <a:cubicBezTo>
                      <a:pt x="11241" y="9665"/>
                      <a:pt x="11032" y="9873"/>
                      <a:pt x="10777" y="9873"/>
                    </a:cubicBezTo>
                    <a:lnTo>
                      <a:pt x="8900" y="9873"/>
                    </a:lnTo>
                    <a:cubicBezTo>
                      <a:pt x="8645" y="9873"/>
                      <a:pt x="8437" y="9665"/>
                      <a:pt x="8437" y="9410"/>
                    </a:cubicBezTo>
                    <a:cubicBezTo>
                      <a:pt x="8437" y="9132"/>
                      <a:pt x="8645" y="8923"/>
                      <a:pt x="8900" y="8923"/>
                    </a:cubicBezTo>
                    <a:close/>
                    <a:moveTo>
                      <a:pt x="7973" y="10800"/>
                    </a:moveTo>
                    <a:cubicBezTo>
                      <a:pt x="8228" y="10800"/>
                      <a:pt x="8437" y="11009"/>
                      <a:pt x="8437" y="11264"/>
                    </a:cubicBezTo>
                    <a:cubicBezTo>
                      <a:pt x="8437" y="11542"/>
                      <a:pt x="8228" y="11750"/>
                      <a:pt x="7973" y="11750"/>
                    </a:cubicBezTo>
                    <a:lnTo>
                      <a:pt x="3269" y="11750"/>
                    </a:lnTo>
                    <a:cubicBezTo>
                      <a:pt x="3014" y="11750"/>
                      <a:pt x="2805" y="11542"/>
                      <a:pt x="2805" y="11264"/>
                    </a:cubicBezTo>
                    <a:cubicBezTo>
                      <a:pt x="2805" y="11009"/>
                      <a:pt x="3014" y="10800"/>
                      <a:pt x="3269" y="10800"/>
                    </a:cubicBezTo>
                    <a:close/>
                    <a:moveTo>
                      <a:pt x="9364" y="1"/>
                    </a:moveTo>
                    <a:cubicBezTo>
                      <a:pt x="8344" y="1"/>
                      <a:pt x="7487" y="835"/>
                      <a:pt x="7487" y="1878"/>
                    </a:cubicBezTo>
                    <a:lnTo>
                      <a:pt x="7487" y="1924"/>
                    </a:lnTo>
                    <a:lnTo>
                      <a:pt x="8437" y="1924"/>
                    </a:lnTo>
                    <a:lnTo>
                      <a:pt x="8437" y="1878"/>
                    </a:lnTo>
                    <a:cubicBezTo>
                      <a:pt x="8437" y="1345"/>
                      <a:pt x="8854" y="928"/>
                      <a:pt x="9364" y="928"/>
                    </a:cubicBezTo>
                    <a:cubicBezTo>
                      <a:pt x="9874" y="928"/>
                      <a:pt x="10291" y="1345"/>
                      <a:pt x="10291" y="1878"/>
                    </a:cubicBezTo>
                    <a:lnTo>
                      <a:pt x="10291" y="1924"/>
                    </a:lnTo>
                    <a:lnTo>
                      <a:pt x="10291" y="4242"/>
                    </a:lnTo>
                    <a:cubicBezTo>
                      <a:pt x="10291" y="5030"/>
                      <a:pt x="9665" y="5655"/>
                      <a:pt x="8900" y="5655"/>
                    </a:cubicBezTo>
                    <a:cubicBezTo>
                      <a:pt x="8112" y="5655"/>
                      <a:pt x="7487" y="5030"/>
                      <a:pt x="7487" y="4242"/>
                    </a:cubicBezTo>
                    <a:lnTo>
                      <a:pt x="7487" y="1924"/>
                    </a:lnTo>
                    <a:lnTo>
                      <a:pt x="464" y="1924"/>
                    </a:lnTo>
                    <a:cubicBezTo>
                      <a:pt x="210" y="1924"/>
                      <a:pt x="1" y="2133"/>
                      <a:pt x="1" y="2411"/>
                    </a:cubicBezTo>
                    <a:lnTo>
                      <a:pt x="1" y="13187"/>
                    </a:lnTo>
                    <a:cubicBezTo>
                      <a:pt x="1" y="13442"/>
                      <a:pt x="210" y="13651"/>
                      <a:pt x="464" y="13651"/>
                    </a:cubicBezTo>
                    <a:lnTo>
                      <a:pt x="9827" y="13651"/>
                    </a:lnTo>
                    <a:lnTo>
                      <a:pt x="9827" y="11264"/>
                    </a:lnTo>
                    <a:cubicBezTo>
                      <a:pt x="9827" y="11009"/>
                      <a:pt x="10036" y="10800"/>
                      <a:pt x="10314" y="10800"/>
                    </a:cubicBezTo>
                    <a:lnTo>
                      <a:pt x="13582" y="10800"/>
                    </a:lnTo>
                    <a:lnTo>
                      <a:pt x="13582" y="2411"/>
                    </a:lnTo>
                    <a:cubicBezTo>
                      <a:pt x="13582" y="2156"/>
                      <a:pt x="13373" y="1924"/>
                      <a:pt x="13118" y="1924"/>
                    </a:cubicBezTo>
                    <a:lnTo>
                      <a:pt x="11241" y="1924"/>
                    </a:lnTo>
                    <a:lnTo>
                      <a:pt x="11241" y="1878"/>
                    </a:lnTo>
                    <a:cubicBezTo>
                      <a:pt x="11241" y="835"/>
                      <a:pt x="10407" y="1"/>
                      <a:pt x="9364" y="1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/>
              </a:p>
            </p:txBody>
          </p:sp>
        </p:grpSp>
        <p:sp>
          <p:nvSpPr>
            <p:cNvPr id="72" name="모서리가 둥근 직사각형 71">
              <a:extLst>
                <a:ext uri="{FF2B5EF4-FFF2-40B4-BE49-F238E27FC236}">
                  <a16:creationId xmlns:a16="http://schemas.microsoft.com/office/drawing/2014/main" id="{28A09EDA-E790-45EA-A4EE-2A1F79F92EEE}"/>
                </a:ext>
              </a:extLst>
            </p:cNvPr>
            <p:cNvSpPr/>
            <p:nvPr/>
          </p:nvSpPr>
          <p:spPr>
            <a:xfrm>
              <a:off x="442293" y="1268556"/>
              <a:ext cx="2506391" cy="3252074"/>
            </a:xfrm>
            <a:prstGeom prst="roundRect">
              <a:avLst/>
            </a:prstGeom>
            <a:noFill/>
            <a:ln w="38100">
              <a:solidFill>
                <a:srgbClr val="C00000">
                  <a:alpha val="62742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FB88AB-E63A-6DFC-5B79-E149D18BA770}"/>
              </a:ext>
            </a:extLst>
          </p:cNvPr>
          <p:cNvSpPr/>
          <p:nvPr/>
        </p:nvSpPr>
        <p:spPr>
          <a:xfrm>
            <a:off x="921686" y="2015097"/>
            <a:ext cx="1718877" cy="446750"/>
          </a:xfrm>
          <a:prstGeom prst="rect">
            <a:avLst/>
          </a:prstGeom>
          <a:solidFill>
            <a:srgbClr val="CD3EDE">
              <a:alpha val="28629"/>
            </a:srgbClr>
          </a:solidFill>
          <a:ln>
            <a:noFill/>
          </a:ln>
          <a:effectLst>
            <a:softEdge rad="77724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806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8" grpId="0" animBg="1"/>
      <p:bldP spid="50" grpId="0" animBg="1"/>
      <p:bldP spid="7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D9799A4B-92EE-B927-C234-1888B57C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C8F1410A-DFD6-23E1-FA94-65ADFE871281}"/>
              </a:ext>
            </a:extLst>
          </p:cNvPr>
          <p:cNvGrpSpPr/>
          <p:nvPr/>
        </p:nvGrpSpPr>
        <p:grpSpPr>
          <a:xfrm>
            <a:off x="1118784" y="1822730"/>
            <a:ext cx="1714500" cy="976394"/>
            <a:chOff x="4458669" y="2100020"/>
            <a:chExt cx="1714500" cy="2107770"/>
          </a:xfrm>
        </p:grpSpPr>
        <p:pic>
          <p:nvPicPr>
            <p:cNvPr id="11" name="그림 10" descr="텍스트, 스크린샷, 폰트, 라인이(가) 표시된 사진&#10;&#10;자동 생성된 설명">
              <a:extLst>
                <a:ext uri="{FF2B5EF4-FFF2-40B4-BE49-F238E27FC236}">
                  <a16:creationId xmlns:a16="http://schemas.microsoft.com/office/drawing/2014/main" id="{C0320EAA-F05B-DC65-4C48-FFDD0997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8669" y="2108738"/>
              <a:ext cx="1714500" cy="2057400"/>
            </a:xfrm>
            <a:prstGeom prst="rect">
              <a:avLst/>
            </a:prstGeom>
          </p:spPr>
        </p:pic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4494F52D-8E39-3A1F-58A8-350B8C81A8C8}"/>
                </a:ext>
              </a:extLst>
            </p:cNvPr>
            <p:cNvSpPr/>
            <p:nvPr/>
          </p:nvSpPr>
          <p:spPr>
            <a:xfrm>
              <a:off x="4556502" y="2100020"/>
              <a:ext cx="1495586" cy="2107770"/>
            </a:xfrm>
            <a:prstGeom prst="roundRect">
              <a:avLst>
                <a:gd name="adj" fmla="val 10449"/>
              </a:avLst>
            </a:prstGeom>
            <a:solidFill>
              <a:srgbClr val="CDDFFD">
                <a:alpha val="89020"/>
              </a:srgbClr>
            </a:solidFill>
            <a:ln>
              <a:solidFill>
                <a:srgbClr val="437E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300" b="1" dirty="0" err="1">
                  <a:solidFill>
                    <a:schemeClr val="tx1"/>
                  </a:solidFill>
                </a:rPr>
                <a:t>KorPatBERT</a:t>
              </a:r>
              <a:r>
                <a:rPr kumimoji="1" lang="ko-KR" altLang="en-US" sz="1300" b="1" dirty="0">
                  <a:solidFill>
                    <a:schemeClr val="tx1"/>
                  </a:solidFill>
                </a:rPr>
                <a:t>로</a:t>
              </a:r>
              <a:endParaRPr kumimoji="1" lang="en-US" altLang="ko-KR" sz="1300" b="1" dirty="0">
                <a:solidFill>
                  <a:schemeClr val="tx1"/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ko-KR" altLang="en-US" sz="1300" b="1" dirty="0">
                  <a:solidFill>
                    <a:schemeClr val="tx1"/>
                  </a:solidFill>
                </a:rPr>
                <a:t>문장 벡터 추출</a:t>
              </a:r>
              <a:endParaRPr kumimoji="1" lang="en-US" altLang="ko-KR" sz="13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06" name="Google Shape;506;p40">
            <a:extLst>
              <a:ext uri="{FF2B5EF4-FFF2-40B4-BE49-F238E27FC236}">
                <a16:creationId xmlns:a16="http://schemas.microsoft.com/office/drawing/2014/main" id="{AA920C38-FE1A-264F-BC7C-6E3BA03984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과정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515" name="Google Shape;515;p40">
            <a:extLst>
              <a:ext uri="{FF2B5EF4-FFF2-40B4-BE49-F238E27FC236}">
                <a16:creationId xmlns:a16="http://schemas.microsoft.com/office/drawing/2014/main" id="{28E7C305-46EA-BC8E-8C61-D07244F4A916}"/>
              </a:ext>
            </a:extLst>
          </p:cNvPr>
          <p:cNvSpPr txBox="1"/>
          <p:nvPr/>
        </p:nvSpPr>
        <p:spPr>
          <a:xfrm flipH="1">
            <a:off x="421323" y="1051084"/>
            <a:ext cx="64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2500" dirty="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7" name="Google Shape;517;p40">
            <a:extLst>
              <a:ext uri="{FF2B5EF4-FFF2-40B4-BE49-F238E27FC236}">
                <a16:creationId xmlns:a16="http://schemas.microsoft.com/office/drawing/2014/main" id="{913A5B67-A79F-A29E-0CA4-1A17CE291C49}"/>
              </a:ext>
            </a:extLst>
          </p:cNvPr>
          <p:cNvSpPr txBox="1"/>
          <p:nvPr/>
        </p:nvSpPr>
        <p:spPr>
          <a:xfrm flipH="1">
            <a:off x="421323" y="1744456"/>
            <a:ext cx="64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</a:t>
            </a:r>
            <a:r>
              <a:rPr lang="en-US" altLang="ko-KR"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sz="2500" dirty="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" name="Google Shape;507;p40">
            <a:extLst>
              <a:ext uri="{FF2B5EF4-FFF2-40B4-BE49-F238E27FC236}">
                <a16:creationId xmlns:a16="http://schemas.microsoft.com/office/drawing/2014/main" id="{A5D147DE-3B5F-2B6F-3009-B2B65227C3E1}"/>
              </a:ext>
            </a:extLst>
          </p:cNvPr>
          <p:cNvSpPr txBox="1"/>
          <p:nvPr/>
        </p:nvSpPr>
        <p:spPr>
          <a:xfrm>
            <a:off x="950516" y="1066582"/>
            <a:ext cx="2182625" cy="41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dk1"/>
                </a:solidFill>
                <a:latin typeface="+mj-ea"/>
                <a:ea typeface="+mj-ea"/>
                <a:cs typeface="Work Sans"/>
                <a:sym typeface="Work Sans"/>
              </a:rPr>
              <a:t>데이터 분할 및 토큰화</a:t>
            </a:r>
            <a:endParaRPr b="1" dirty="0">
              <a:solidFill>
                <a:schemeClr val="dk1"/>
              </a:solidFill>
              <a:latin typeface="+mj-ea"/>
              <a:ea typeface="+mj-ea"/>
              <a:cs typeface="Work Sans"/>
              <a:sym typeface="Work Sans"/>
            </a:endParaRPr>
          </a:p>
        </p:txBody>
      </p:sp>
      <p:sp>
        <p:nvSpPr>
          <p:cNvPr id="4" name="아래쪽 화살표[D] 3">
            <a:extLst>
              <a:ext uri="{FF2B5EF4-FFF2-40B4-BE49-F238E27FC236}">
                <a16:creationId xmlns:a16="http://schemas.microsoft.com/office/drawing/2014/main" id="{69C367B5-BAAA-F9C0-643C-DE78F75DEECF}"/>
              </a:ext>
            </a:extLst>
          </p:cNvPr>
          <p:cNvSpPr/>
          <p:nvPr/>
        </p:nvSpPr>
        <p:spPr>
          <a:xfrm>
            <a:off x="1774556" y="1504885"/>
            <a:ext cx="317715" cy="193729"/>
          </a:xfrm>
          <a:prstGeom prst="downArrow">
            <a:avLst/>
          </a:prstGeom>
          <a:solidFill>
            <a:srgbClr val="1C4587"/>
          </a:solidFill>
          <a:ln>
            <a:solidFill>
              <a:srgbClr val="1C45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3240C2C2-238A-BE24-3914-269D3C59AAC2}"/>
              </a:ext>
            </a:extLst>
          </p:cNvPr>
          <p:cNvSpPr/>
          <p:nvPr/>
        </p:nvSpPr>
        <p:spPr>
          <a:xfrm>
            <a:off x="738001" y="3220403"/>
            <a:ext cx="1186751" cy="289101"/>
          </a:xfrm>
          <a:prstGeom prst="roundRect">
            <a:avLst/>
          </a:prstGeom>
          <a:solidFill>
            <a:srgbClr val="DDE6F4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Cross</a:t>
            </a:r>
            <a:r>
              <a:rPr kumimoji="1" lang="ko-KR" altLang="en-US" sz="1100" b="1" dirty="0">
                <a:solidFill>
                  <a:schemeClr val="tx1"/>
                </a:solidFill>
              </a:rPr>
              <a:t> </a:t>
            </a:r>
            <a:r>
              <a:rPr kumimoji="1" lang="en-US" altLang="ko-KR" sz="1100" b="1" dirty="0">
                <a:solidFill>
                  <a:schemeClr val="tx1"/>
                </a:solidFill>
              </a:rPr>
              <a:t>Entropy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BA006DC-78AD-7600-22ED-3863F1B792E6}"/>
              </a:ext>
            </a:extLst>
          </p:cNvPr>
          <p:cNvSpPr/>
          <p:nvPr/>
        </p:nvSpPr>
        <p:spPr>
          <a:xfrm>
            <a:off x="2031427" y="3225165"/>
            <a:ext cx="1027858" cy="289101"/>
          </a:xfrm>
          <a:prstGeom prst="roundRect">
            <a:avLst/>
          </a:prstGeom>
          <a:solidFill>
            <a:srgbClr val="DDE6F4"/>
          </a:solidFill>
          <a:ln>
            <a:solidFill>
              <a:srgbClr val="437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</a:rPr>
              <a:t>Center Loss</a:t>
            </a:r>
            <a:endParaRPr kumimoji="1" lang="ko-KR" altLang="en-US" sz="1100" b="1" dirty="0">
              <a:solidFill>
                <a:schemeClr val="tx1"/>
              </a:solidFill>
            </a:endParaRPr>
          </a:p>
        </p:txBody>
      </p:sp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54EC581B-D3CC-2EEC-47DF-8B62D27F8DB8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rot="16200000" flipH="1">
            <a:off x="2041863" y="2721671"/>
            <a:ext cx="426041" cy="580946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958ADAD8-FB84-0DE2-35F4-59263D44437B}"/>
              </a:ext>
            </a:extLst>
          </p:cNvPr>
          <p:cNvCxnSpPr>
            <a:cxnSpLocks/>
            <a:stCxn id="12" idx="2"/>
            <a:endCxn id="32" idx="0"/>
          </p:cNvCxnSpPr>
          <p:nvPr/>
        </p:nvCxnSpPr>
        <p:spPr>
          <a:xfrm rot="5400000">
            <a:off x="1437255" y="2693247"/>
            <a:ext cx="421279" cy="633033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507;p40">
            <a:extLst>
              <a:ext uri="{FF2B5EF4-FFF2-40B4-BE49-F238E27FC236}">
                <a16:creationId xmlns:a16="http://schemas.microsoft.com/office/drawing/2014/main" id="{878EB793-678C-E398-46D9-C38F2FCA9515}"/>
              </a:ext>
            </a:extLst>
          </p:cNvPr>
          <p:cNvSpPr txBox="1"/>
          <p:nvPr/>
        </p:nvSpPr>
        <p:spPr>
          <a:xfrm>
            <a:off x="2850895" y="1165024"/>
            <a:ext cx="5620353" cy="97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-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</a:t>
            </a:r>
            <a:r>
              <a:rPr lang="en-US" altLang="ko-KR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'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발명의 명칭</a:t>
            </a:r>
            <a:r>
              <a:rPr lang="en-US" altLang="ko-KR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’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과 </a:t>
            </a:r>
            <a:r>
              <a:rPr lang="en-US" altLang="ko-KR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‘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요약</a:t>
            </a:r>
            <a:r>
              <a:rPr lang="en-US" altLang="ko-KR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’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 텍스트 결합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: 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핵심 정보 반영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, BERT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모델 입력 길이 제한 충족</a:t>
            </a:r>
            <a:endParaRPr lang="en-US" altLang="ko-KR" sz="1100" dirty="0">
              <a:solidFill>
                <a:schemeClr val="dk1"/>
              </a:solidFill>
              <a:latin typeface="+mn-ea"/>
              <a:ea typeface="+mn-ea"/>
              <a:cs typeface="Work Sans"/>
              <a:sym typeface="Work Sans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400" dirty="0">
              <a:solidFill>
                <a:schemeClr val="dk1"/>
              </a:solidFill>
              <a:latin typeface="+mn-ea"/>
              <a:ea typeface="+mn-ea"/>
              <a:cs typeface="Work Sans"/>
              <a:sym typeface="Work Sans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-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텍스트 </a:t>
            </a:r>
            <a:r>
              <a:rPr lang="ko-KR" altLang="en-US" sz="1100" b="1" dirty="0" err="1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전처리</a:t>
            </a:r>
            <a:r>
              <a:rPr lang="ko-KR" altLang="en-US" sz="1100" b="1" dirty="0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 수행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: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특수문자 제거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,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공백 제거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,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등</a:t>
            </a:r>
            <a:endParaRPr lang="en-US" altLang="ko-KR" sz="1100" dirty="0">
              <a:solidFill>
                <a:schemeClr val="dk1"/>
              </a:solidFill>
              <a:latin typeface="+mn-ea"/>
              <a:ea typeface="+mn-ea"/>
              <a:cs typeface="Work Sans"/>
              <a:sym typeface="Work Sans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400" dirty="0">
              <a:solidFill>
                <a:schemeClr val="dk1"/>
              </a:solidFill>
              <a:latin typeface="+mn-ea"/>
              <a:ea typeface="+mn-ea"/>
              <a:cs typeface="Work Sans"/>
              <a:sym typeface="Work Sans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-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</a:t>
            </a:r>
            <a:r>
              <a:rPr lang="en-US" altLang="ko-KR" sz="1100" b="1" dirty="0" err="1">
                <a:solidFill>
                  <a:srgbClr val="437ED5"/>
                </a:solidFill>
                <a:latin typeface="+mn-ea"/>
                <a:ea typeface="+mn-ea"/>
                <a:cs typeface="Work Sans"/>
                <a:sym typeface="Work Sans"/>
              </a:rPr>
              <a:t>KorPatTokenizer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적용하여 토큰화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및 </a:t>
            </a:r>
            <a:r>
              <a: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CLS</a:t>
            </a:r>
            <a:r>
              <a:rPr lang="ko-KR" altLang="en-US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rPr>
              <a:t> 결합</a:t>
            </a:r>
            <a:endParaRPr lang="en-US" altLang="ko-KR" sz="1100" dirty="0">
              <a:solidFill>
                <a:schemeClr val="dk1"/>
              </a:solidFill>
              <a:latin typeface="+mn-ea"/>
              <a:ea typeface="+mn-ea"/>
              <a:cs typeface="Work Sans"/>
              <a:sym typeface="Work Sans"/>
            </a:endParaRPr>
          </a:p>
        </p:txBody>
      </p:sp>
      <p:cxnSp>
        <p:nvCxnSpPr>
          <p:cNvPr id="49" name="꺾인 연결선[E] 48">
            <a:extLst>
              <a:ext uri="{FF2B5EF4-FFF2-40B4-BE49-F238E27FC236}">
                <a16:creationId xmlns:a16="http://schemas.microsoft.com/office/drawing/2014/main" id="{64EA2019-245A-2508-AB99-DFD6E3372D19}"/>
              </a:ext>
            </a:extLst>
          </p:cNvPr>
          <p:cNvCxnSpPr>
            <a:cxnSpLocks/>
            <a:stCxn id="53" idx="0"/>
            <a:endCxn id="32" idx="2"/>
          </p:cNvCxnSpPr>
          <p:nvPr/>
        </p:nvCxnSpPr>
        <p:spPr>
          <a:xfrm rot="16200000" flipV="1">
            <a:off x="1447821" y="3393061"/>
            <a:ext cx="406591" cy="639478"/>
          </a:xfrm>
          <a:prstGeom prst="bentConnector3">
            <a:avLst>
              <a:gd name="adj1" fmla="val 50000"/>
            </a:avLst>
          </a:prstGeom>
          <a:ln w="25400" cap="flat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2B371A4F-6310-A59C-ECCE-6EF304AD28FC}"/>
              </a:ext>
            </a:extLst>
          </p:cNvPr>
          <p:cNvCxnSpPr>
            <a:cxnSpLocks/>
            <a:stCxn id="53" idx="0"/>
            <a:endCxn id="33" idx="2"/>
          </p:cNvCxnSpPr>
          <p:nvPr/>
        </p:nvCxnSpPr>
        <p:spPr>
          <a:xfrm rot="5400000" flipH="1" flipV="1">
            <a:off x="2057191" y="3427931"/>
            <a:ext cx="401829" cy="574501"/>
          </a:xfrm>
          <a:prstGeom prst="bentConnector3">
            <a:avLst>
              <a:gd name="adj1" fmla="val 50000"/>
            </a:avLst>
          </a:prstGeom>
          <a:ln w="25400" cap="flat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E4FEC4D6-6319-782C-170A-6AC261D41EA2}"/>
              </a:ext>
            </a:extLst>
          </p:cNvPr>
          <p:cNvSpPr/>
          <p:nvPr/>
        </p:nvSpPr>
        <p:spPr>
          <a:xfrm>
            <a:off x="1525887" y="3916095"/>
            <a:ext cx="889936" cy="335865"/>
          </a:xfrm>
          <a:prstGeom prst="roundRect">
            <a:avLst/>
          </a:prstGeom>
          <a:solidFill>
            <a:srgbClr val="FF0000">
              <a:alpha val="11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100" b="1" dirty="0">
                <a:solidFill>
                  <a:schemeClr val="tx1"/>
                </a:solidFill>
              </a:rPr>
              <a:t>총 손실 값</a:t>
            </a:r>
          </a:p>
        </p:txBody>
      </p:sp>
      <p:grpSp>
        <p:nvGrpSpPr>
          <p:cNvPr id="516" name="그룹 515">
            <a:extLst>
              <a:ext uri="{FF2B5EF4-FFF2-40B4-BE49-F238E27FC236}">
                <a16:creationId xmlns:a16="http://schemas.microsoft.com/office/drawing/2014/main" id="{DF389BC8-40DC-C1A8-B772-8830AE1F3B1A}"/>
              </a:ext>
            </a:extLst>
          </p:cNvPr>
          <p:cNvGrpSpPr/>
          <p:nvPr/>
        </p:nvGrpSpPr>
        <p:grpSpPr>
          <a:xfrm>
            <a:off x="73378" y="2303300"/>
            <a:ext cx="1452510" cy="1780729"/>
            <a:chOff x="73378" y="2303300"/>
            <a:chExt cx="1452510" cy="1780729"/>
          </a:xfrm>
        </p:grpSpPr>
        <p:cxnSp>
          <p:nvCxnSpPr>
            <p:cNvPr id="466" name="꺾인 연결선[E] 465">
              <a:extLst>
                <a:ext uri="{FF2B5EF4-FFF2-40B4-BE49-F238E27FC236}">
                  <a16:creationId xmlns:a16="http://schemas.microsoft.com/office/drawing/2014/main" id="{C3A80559-2B98-89A7-EDFE-07FE52B32BEA}"/>
                </a:ext>
              </a:extLst>
            </p:cNvPr>
            <p:cNvCxnSpPr>
              <a:cxnSpLocks/>
              <a:stCxn id="53" idx="1"/>
              <a:endCxn id="11" idx="1"/>
            </p:cNvCxnSpPr>
            <p:nvPr/>
          </p:nvCxnSpPr>
          <p:spPr>
            <a:xfrm rot="10800000">
              <a:off x="1118785" y="2303300"/>
              <a:ext cx="407103" cy="1780729"/>
            </a:xfrm>
            <a:prstGeom prst="bentConnector3">
              <a:avLst>
                <a:gd name="adj1" fmla="val 290920"/>
              </a:avLst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FA5E4577-8A8F-B791-61EB-DE6A995BDDAD}"/>
                </a:ext>
              </a:extLst>
            </p:cNvPr>
            <p:cNvSpPr txBox="1"/>
            <p:nvPr/>
          </p:nvSpPr>
          <p:spPr>
            <a:xfrm>
              <a:off x="73378" y="3039251"/>
              <a:ext cx="543739" cy="307777"/>
            </a:xfrm>
            <a:prstGeom prst="rect">
              <a:avLst/>
            </a:prstGeom>
            <a:solidFill>
              <a:srgbClr val="F4F5F5"/>
            </a:solidFill>
          </p:spPr>
          <p:txBody>
            <a:bodyPr wrap="none" rtlCol="0">
              <a:spAutoFit/>
            </a:bodyPr>
            <a:lstStyle/>
            <a:p>
              <a:r>
                <a:rPr kumimoji="1" lang="ko-KR" altLang="en-US" b="1" dirty="0"/>
                <a:t>학습</a:t>
              </a:r>
            </a:p>
          </p:txBody>
        </p:sp>
      </p:grpSp>
      <p:sp>
        <p:nvSpPr>
          <p:cNvPr id="488" name="Google Shape;517;p40">
            <a:extLst>
              <a:ext uri="{FF2B5EF4-FFF2-40B4-BE49-F238E27FC236}">
                <a16:creationId xmlns:a16="http://schemas.microsoft.com/office/drawing/2014/main" id="{BDD868B1-A28D-8EBB-33B4-86B201DBC9F7}"/>
              </a:ext>
            </a:extLst>
          </p:cNvPr>
          <p:cNvSpPr txBox="1"/>
          <p:nvPr/>
        </p:nvSpPr>
        <p:spPr>
          <a:xfrm flipH="1">
            <a:off x="421323" y="4631880"/>
            <a:ext cx="644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</a:t>
            </a:r>
            <a:r>
              <a:rPr lang="en-US" altLang="ko-KR"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</a:t>
            </a:r>
            <a:endParaRPr sz="2500" dirty="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9" name="아래쪽 화살표[D] 488">
            <a:extLst>
              <a:ext uri="{FF2B5EF4-FFF2-40B4-BE49-F238E27FC236}">
                <a16:creationId xmlns:a16="http://schemas.microsoft.com/office/drawing/2014/main" id="{6FE865C1-E404-5D84-5BE3-E65FAE8CD688}"/>
              </a:ext>
            </a:extLst>
          </p:cNvPr>
          <p:cNvSpPr/>
          <p:nvPr/>
        </p:nvSpPr>
        <p:spPr>
          <a:xfrm>
            <a:off x="1820276" y="4412714"/>
            <a:ext cx="317715" cy="193729"/>
          </a:xfrm>
          <a:prstGeom prst="downArrow">
            <a:avLst/>
          </a:prstGeom>
          <a:solidFill>
            <a:srgbClr val="1C4587"/>
          </a:solidFill>
          <a:ln>
            <a:solidFill>
              <a:srgbClr val="1C45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0" name="Google Shape;507;p40">
            <a:extLst>
              <a:ext uri="{FF2B5EF4-FFF2-40B4-BE49-F238E27FC236}">
                <a16:creationId xmlns:a16="http://schemas.microsoft.com/office/drawing/2014/main" id="{4E159BB5-1DE5-8511-9F50-93D2D3EBD86F}"/>
              </a:ext>
            </a:extLst>
          </p:cNvPr>
          <p:cNvSpPr txBox="1"/>
          <p:nvPr/>
        </p:nvSpPr>
        <p:spPr>
          <a:xfrm>
            <a:off x="1095274" y="4645804"/>
            <a:ext cx="2486126" cy="41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dk1"/>
                </a:solidFill>
                <a:latin typeface="+mj-ea"/>
                <a:ea typeface="+mj-ea"/>
                <a:cs typeface="Work Sans"/>
                <a:sym typeface="Work Sans"/>
              </a:rPr>
              <a:t>최종 모델 평가 및 시각화</a:t>
            </a:r>
            <a:endParaRPr b="1" dirty="0">
              <a:solidFill>
                <a:schemeClr val="dk1"/>
              </a:solidFill>
              <a:latin typeface="+mj-ea"/>
              <a:ea typeface="+mj-ea"/>
              <a:cs typeface="Work Sans"/>
              <a:sym typeface="Work Sans"/>
            </a:endParaRPr>
          </a:p>
        </p:txBody>
      </p:sp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29E5E288-3928-74AE-A71B-C47EF8A650E5}"/>
              </a:ext>
            </a:extLst>
          </p:cNvPr>
          <p:cNvGrpSpPr/>
          <p:nvPr/>
        </p:nvGrpSpPr>
        <p:grpSpPr>
          <a:xfrm flipH="1">
            <a:off x="1901687" y="3548165"/>
            <a:ext cx="139837" cy="139837"/>
            <a:chOff x="4221480" y="2750820"/>
            <a:chExt cx="1882140" cy="1882140"/>
          </a:xfrm>
          <a:solidFill>
            <a:srgbClr val="C00000"/>
          </a:solidFill>
        </p:grpSpPr>
        <p:sp>
          <p:nvSpPr>
            <p:cNvPr id="498" name="도넛[D] 497">
              <a:extLst>
                <a:ext uri="{FF2B5EF4-FFF2-40B4-BE49-F238E27FC236}">
                  <a16:creationId xmlns:a16="http://schemas.microsoft.com/office/drawing/2014/main" id="{8928132C-45FF-FDFB-2B11-1D27B136DF51}"/>
                </a:ext>
              </a:extLst>
            </p:cNvPr>
            <p:cNvSpPr/>
            <p:nvPr/>
          </p:nvSpPr>
          <p:spPr>
            <a:xfrm>
              <a:off x="4221480" y="2750820"/>
              <a:ext cx="1882140" cy="1882140"/>
            </a:xfrm>
            <a:prstGeom prst="donut">
              <a:avLst>
                <a:gd name="adj" fmla="val 528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9" name="십자형[C] 498">
              <a:extLst>
                <a:ext uri="{FF2B5EF4-FFF2-40B4-BE49-F238E27FC236}">
                  <a16:creationId xmlns:a16="http://schemas.microsoft.com/office/drawing/2014/main" id="{5FA66F7E-2212-07E0-7856-49215078085A}"/>
                </a:ext>
              </a:extLst>
            </p:cNvPr>
            <p:cNvSpPr/>
            <p:nvPr/>
          </p:nvSpPr>
          <p:spPr>
            <a:xfrm>
              <a:off x="4511040" y="3040380"/>
              <a:ext cx="1287780" cy="1287780"/>
            </a:xfrm>
            <a:prstGeom prst="plus">
              <a:avLst>
                <a:gd name="adj" fmla="val 381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4CEA3F6E-A0C9-0FD9-459C-93F7C05A623D}"/>
              </a:ext>
            </a:extLst>
          </p:cNvPr>
          <p:cNvGrpSpPr/>
          <p:nvPr/>
        </p:nvGrpSpPr>
        <p:grpSpPr>
          <a:xfrm>
            <a:off x="3629688" y="2415277"/>
            <a:ext cx="4713381" cy="2175641"/>
            <a:chOff x="3629688" y="2415277"/>
            <a:chExt cx="4713381" cy="2175641"/>
          </a:xfrm>
        </p:grpSpPr>
        <p:sp>
          <p:nvSpPr>
            <p:cNvPr id="508" name="모서리가 둥근 직사각형 507">
              <a:extLst>
                <a:ext uri="{FF2B5EF4-FFF2-40B4-BE49-F238E27FC236}">
                  <a16:creationId xmlns:a16="http://schemas.microsoft.com/office/drawing/2014/main" id="{DB927FFC-B822-2269-E691-38018E1809BE}"/>
                </a:ext>
              </a:extLst>
            </p:cNvPr>
            <p:cNvSpPr/>
            <p:nvPr/>
          </p:nvSpPr>
          <p:spPr>
            <a:xfrm>
              <a:off x="4266536" y="2415277"/>
              <a:ext cx="4076533" cy="2175641"/>
            </a:xfrm>
            <a:prstGeom prst="roundRect">
              <a:avLst>
                <a:gd name="adj" fmla="val 10449"/>
              </a:avLst>
            </a:prstGeom>
            <a:solidFill>
              <a:srgbClr val="CDDFFD">
                <a:alpha val="10488"/>
              </a:srgbClr>
            </a:solidFill>
            <a:ln w="31750">
              <a:solidFill>
                <a:srgbClr val="437E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en-US" altLang="ko-KR" sz="1300" b="1" dirty="0">
                <a:solidFill>
                  <a:schemeClr val="tx1"/>
                </a:solidFill>
              </a:endParaRPr>
            </a:p>
          </p:txBody>
        </p:sp>
        <p:sp>
          <p:nvSpPr>
            <p:cNvPr id="502" name="Google Shape;519;p40">
              <a:extLst>
                <a:ext uri="{FF2B5EF4-FFF2-40B4-BE49-F238E27FC236}">
                  <a16:creationId xmlns:a16="http://schemas.microsoft.com/office/drawing/2014/main" id="{8F1EC541-4986-E6A9-2289-F34A8277A709}"/>
                </a:ext>
              </a:extLst>
            </p:cNvPr>
            <p:cNvSpPr txBox="1"/>
            <p:nvPr/>
          </p:nvSpPr>
          <p:spPr>
            <a:xfrm>
              <a:off x="3629688" y="2484932"/>
              <a:ext cx="644700" cy="4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 dirty="0">
                  <a:solidFill>
                    <a:schemeClr val="accen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0</a:t>
              </a:r>
              <a:r>
                <a:rPr lang="en-US" altLang="ko-KR" sz="2500" dirty="0">
                  <a:solidFill>
                    <a:schemeClr val="accen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 sz="2500" dirty="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503" name="Google Shape;507;p40">
              <a:extLst>
                <a:ext uri="{FF2B5EF4-FFF2-40B4-BE49-F238E27FC236}">
                  <a16:creationId xmlns:a16="http://schemas.microsoft.com/office/drawing/2014/main" id="{E76372B8-D576-476E-6CDF-03C37AE73067}"/>
                </a:ext>
              </a:extLst>
            </p:cNvPr>
            <p:cNvSpPr txBox="1"/>
            <p:nvPr/>
          </p:nvSpPr>
          <p:spPr>
            <a:xfrm>
              <a:off x="4359650" y="2479766"/>
              <a:ext cx="2182625" cy="413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dk1"/>
                  </a:solidFill>
                  <a:latin typeface="+mj-ea"/>
                  <a:ea typeface="+mj-ea"/>
                  <a:cs typeface="Work Sans"/>
                  <a:sym typeface="Work Sans"/>
                </a:rPr>
                <a:t>CenterLoss</a:t>
              </a:r>
              <a:r>
                <a:rPr lang="ko-KR" altLang="en-US" b="1" dirty="0">
                  <a:solidFill>
                    <a:schemeClr val="dk1"/>
                  </a:solidFill>
                  <a:latin typeface="+mj-ea"/>
                  <a:ea typeface="+mj-ea"/>
                  <a:cs typeface="Work Sans"/>
                  <a:sym typeface="Work Sans"/>
                </a:rPr>
                <a:t> 적용</a:t>
              </a:r>
              <a:endParaRPr b="1" dirty="0">
                <a:solidFill>
                  <a:schemeClr val="dk1"/>
                </a:solidFill>
                <a:latin typeface="+mj-ea"/>
                <a:ea typeface="+mj-ea"/>
                <a:cs typeface="Work Sans"/>
                <a:sym typeface="Work Sans"/>
              </a:endParaRPr>
            </a:p>
          </p:txBody>
        </p:sp>
        <p:sp>
          <p:nvSpPr>
            <p:cNvPr id="504" name="Google Shape;507;p40">
              <a:extLst>
                <a:ext uri="{FF2B5EF4-FFF2-40B4-BE49-F238E27FC236}">
                  <a16:creationId xmlns:a16="http://schemas.microsoft.com/office/drawing/2014/main" id="{914F03BF-D610-75B1-C573-41B06D0B6CF2}"/>
                </a:ext>
              </a:extLst>
            </p:cNvPr>
            <p:cNvSpPr txBox="1"/>
            <p:nvPr/>
          </p:nvSpPr>
          <p:spPr>
            <a:xfrm>
              <a:off x="4359834" y="2820944"/>
              <a:ext cx="3952062" cy="141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1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클래스 중심 벡터와 거리 차이를 계산하여 </a:t>
              </a:r>
              <a:r>
                <a:rPr lang="en-US" altLang="ko-KR" sz="1100" b="1" dirty="0" err="1">
                  <a:solidFill>
                    <a:srgbClr val="437ED5"/>
                  </a:solidFill>
                  <a:latin typeface="+mn-ea"/>
                  <a:ea typeface="+mn-ea"/>
                  <a:cs typeface="Work Sans"/>
                  <a:sym typeface="Work Sans"/>
                </a:rPr>
                <a:t>CenterLoss</a:t>
              </a:r>
              <a:r>
                <a:rPr lang="ko-KR" altLang="en-US" sz="1100" b="1" dirty="0">
                  <a:solidFill>
                    <a:srgbClr val="437ED5"/>
                  </a:solidFill>
                  <a:latin typeface="+mn-ea"/>
                  <a:ea typeface="+mn-ea"/>
                  <a:cs typeface="Work Sans"/>
                  <a:sym typeface="Work Sans"/>
                </a:rPr>
                <a:t> 손실 값 도출 </a:t>
              </a:r>
              <a:r>
                <a:rPr lang="ko-KR" altLang="en-US" sz="11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및 최종 손실 결합</a:t>
              </a:r>
              <a:endParaRPr lang="en-US" altLang="ko-KR" sz="11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ko-KR" sz="400" dirty="0">
                <a:solidFill>
                  <a:schemeClr val="dk1"/>
                </a:solidFill>
                <a:latin typeface="+mn-ea"/>
                <a:ea typeface="+mn-ea"/>
                <a:cs typeface="Work Sans"/>
                <a:sym typeface="Work Sans"/>
              </a:endParaRPr>
            </a:p>
            <a:p>
              <a:pPr lvl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100" dirty="0" err="1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역전파</a:t>
              </a:r>
              <a:r>
                <a:rPr lang="ko-KR" altLang="en-US" sz="11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 수행 과정에서 </a:t>
              </a:r>
              <a:r>
                <a:rPr lang="en-US" altLang="ko-KR" sz="1100" dirty="0" err="1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CenterLoss</a:t>
              </a:r>
              <a:r>
                <a:rPr lang="ko-KR" altLang="en-US" sz="11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의 </a:t>
              </a:r>
              <a:r>
                <a:rPr lang="ko-KR" altLang="en-US" sz="1100" b="1" dirty="0">
                  <a:solidFill>
                    <a:srgbClr val="437ED5"/>
                  </a:solidFill>
                  <a:latin typeface="+mn-ea"/>
                  <a:ea typeface="+mn-ea"/>
                  <a:cs typeface="Work Sans"/>
                  <a:sym typeface="Work Sans"/>
                </a:rPr>
                <a:t>중심 벡터가 점진적으로 최적화됨</a:t>
              </a:r>
              <a:r>
                <a:rPr lang="en-US" altLang="ko-KR" sz="1100" dirty="0">
                  <a:solidFill>
                    <a:schemeClr val="dk1"/>
                  </a:solidFill>
                  <a:latin typeface="+mn-ea"/>
                  <a:ea typeface="+mn-ea"/>
                  <a:cs typeface="Work Sans"/>
                  <a:sym typeface="Work Sans"/>
                </a:rPr>
                <a:t>.</a:t>
              </a:r>
            </a:p>
          </p:txBody>
        </p:sp>
        <p:pic>
          <p:nvPicPr>
            <p:cNvPr id="505" name="그래픽 504">
              <a:extLst>
                <a:ext uri="{FF2B5EF4-FFF2-40B4-BE49-F238E27FC236}">
                  <a16:creationId xmlns:a16="http://schemas.microsoft.com/office/drawing/2014/main" id="{084522D7-B5BD-D793-BAB3-64779B0B7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86543" y="4173209"/>
              <a:ext cx="1850529" cy="199288"/>
            </a:xfrm>
            <a:prstGeom prst="rect">
              <a:avLst/>
            </a:prstGeom>
          </p:spPr>
        </p:pic>
      </p:grpSp>
      <p:cxnSp>
        <p:nvCxnSpPr>
          <p:cNvPr id="510" name="직선 연결선[R] 509">
            <a:extLst>
              <a:ext uri="{FF2B5EF4-FFF2-40B4-BE49-F238E27FC236}">
                <a16:creationId xmlns:a16="http://schemas.microsoft.com/office/drawing/2014/main" id="{A6184507-9482-B458-6D37-17779DB31CB3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3059285" y="3369716"/>
            <a:ext cx="1203153" cy="0"/>
          </a:xfrm>
          <a:prstGeom prst="line">
            <a:avLst/>
          </a:prstGeom>
          <a:ln w="25400">
            <a:solidFill>
              <a:srgbClr val="437ED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228237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" grpId="0"/>
      <p:bldP spid="517" grpId="0"/>
      <p:bldP spid="21" grpId="0"/>
      <p:bldP spid="4" grpId="0" animBg="1"/>
      <p:bldP spid="32" grpId="0" animBg="1"/>
      <p:bldP spid="33" grpId="0" animBg="1"/>
      <p:bldP spid="43" grpId="0"/>
      <p:bldP spid="53" grpId="0" animBg="1"/>
      <p:bldP spid="488" grpId="0"/>
      <p:bldP spid="489" grpId="0" animBg="1"/>
      <p:bldP spid="4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8E842D67-4057-103A-2157-85EA8802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D62BD350-40D5-A31A-8093-BEDFDD3D14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C54C1102-11B0-000B-7EFF-C7140622AE13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58E97-A022-E704-832A-6233AC0F2D07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8513899-E4DB-0121-7D57-499F0F43D752}"/>
              </a:ext>
            </a:extLst>
          </p:cNvPr>
          <p:cNvGrpSpPr/>
          <p:nvPr/>
        </p:nvGrpSpPr>
        <p:grpSpPr>
          <a:xfrm>
            <a:off x="4011064" y="1315545"/>
            <a:ext cx="4522915" cy="3247676"/>
            <a:chOff x="4011064" y="1315545"/>
            <a:chExt cx="4522915" cy="3247676"/>
          </a:xfrm>
        </p:grpSpPr>
        <p:graphicFrame>
          <p:nvGraphicFramePr>
            <p:cNvPr id="430" name="Google Shape;430;p38">
              <a:extLst>
                <a:ext uri="{FF2B5EF4-FFF2-40B4-BE49-F238E27FC236}">
                  <a16:creationId xmlns:a16="http://schemas.microsoft.com/office/drawing/2014/main" id="{52E53D45-2001-C493-2473-4DF9F67C931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85974618"/>
                </p:ext>
              </p:extLst>
            </p:nvPr>
          </p:nvGraphicFramePr>
          <p:xfrm>
            <a:off x="4082624" y="1800670"/>
            <a:ext cx="4451355" cy="2277426"/>
          </p:xfrm>
          <a:graphic>
            <a:graphicData uri="http://schemas.openxmlformats.org/drawingml/2006/table">
              <a:tbl>
                <a:tblPr>
                  <a:noFill/>
                  <a:tableStyleId>{BA5D41AF-CBA0-4E6F-8025-8586AE215AA1}</a:tableStyleId>
                </a:tblPr>
                <a:tblGrid>
                  <a:gridCol w="133921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96799">
                    <a:extLst>
                      <a:ext uri="{9D8B030D-6E8A-4147-A177-3AD203B41FA5}">
                        <a16:colId xmlns:a16="http://schemas.microsoft.com/office/drawing/2014/main" val="3736403721"/>
                      </a:ext>
                    </a:extLst>
                  </a:gridCol>
                  <a:gridCol w="1034846">
                    <a:extLst>
                      <a:ext uri="{9D8B030D-6E8A-4147-A177-3AD203B41FA5}">
                        <a16:colId xmlns:a16="http://schemas.microsoft.com/office/drawing/2014/main" val="1158147484"/>
                      </a:ext>
                    </a:extLst>
                  </a:gridCol>
                  <a:gridCol w="1080499">
                    <a:extLst>
                      <a:ext uri="{9D8B030D-6E8A-4147-A177-3AD203B41FA5}">
                        <a16:colId xmlns:a16="http://schemas.microsoft.com/office/drawing/2014/main" val="4165818450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rtl="0" fontAlgn="auto"/>
                        <a:endParaRPr lang="en" b="0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>
                            <a:effectLst/>
                            <a:latin typeface="+mj-lt"/>
                          </a:rPr>
                          <a:t>정확도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>
                            <a:effectLst/>
                            <a:latin typeface="+mj-lt"/>
                          </a:rPr>
                          <a:t>정밀도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 err="1">
                            <a:effectLst/>
                            <a:latin typeface="+mj-lt"/>
                          </a:rPr>
                          <a:t>재현율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0" dirty="0">
                            <a:effectLst/>
                          </a:rPr>
                          <a:t>KNN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0.7824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0.7758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0.7824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0" dirty="0" err="1">
                            <a:effectLst/>
                          </a:rPr>
                          <a:t>나이브</a:t>
                        </a:r>
                        <a:r>
                          <a:rPr lang="ko-KR" altLang="en-US" b="0" dirty="0">
                            <a:effectLst/>
                          </a:rPr>
                          <a:t> </a:t>
                        </a:r>
                        <a:r>
                          <a:rPr lang="ko-KR" altLang="en-US" b="0" dirty="0" err="1">
                            <a:effectLst/>
                          </a:rPr>
                          <a:t>베이즈</a:t>
                        </a:r>
                        <a:endParaRPr lang="ko-KR" altLang="en-US" b="0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0.7442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0.5538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0.7442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b="0" dirty="0">
                            <a:effectLst/>
                          </a:rPr>
                          <a:t>SVM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0.8289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0.8214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0.8289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43397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b="0" dirty="0" err="1">
                            <a:effectLst/>
                          </a:rPr>
                          <a:t>KoBERT</a:t>
                        </a:r>
                        <a:endParaRPr lang="en" b="0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0.8688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0.8718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0.8688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43397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-US" b="1" dirty="0" err="1">
                            <a:effectLst/>
                            <a:latin typeface="+mj-lt"/>
                          </a:rPr>
                          <a:t>KorPatBERT</a:t>
                        </a:r>
                        <a:r>
                          <a:rPr lang="en-US" b="1" dirty="0">
                            <a:effectLst/>
                            <a:latin typeface="+mj-lt"/>
                          </a:rPr>
                          <a:t> + </a:t>
                        </a:r>
                        <a:r>
                          <a:rPr lang="en-US" b="1" dirty="0" err="1">
                            <a:effectLst/>
                            <a:latin typeface="+mj-lt"/>
                          </a:rPr>
                          <a:t>CenterLoss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0.9103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0.9110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0.9103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sp>
          <p:nvSpPr>
            <p:cNvPr id="4" name="Google Shape;404;p36">
              <a:extLst>
                <a:ext uri="{FF2B5EF4-FFF2-40B4-BE49-F238E27FC236}">
                  <a16:creationId xmlns:a16="http://schemas.microsoft.com/office/drawing/2014/main" id="{A672186F-5D70-5EB4-C9A7-45C6D5D58A73}"/>
                </a:ext>
              </a:extLst>
            </p:cNvPr>
            <p:cNvSpPr txBox="1">
              <a:spLocks/>
            </p:cNvSpPr>
            <p:nvPr/>
          </p:nvSpPr>
          <p:spPr>
            <a:xfrm>
              <a:off x="4011064" y="1315545"/>
              <a:ext cx="3433481" cy="48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9pPr>
            </a:lstStyle>
            <a:p>
              <a:pPr algn="l">
                <a:lnSpc>
                  <a:spcPct val="130000"/>
                </a:lnSpc>
              </a:pP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모델 결과 비교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CFAAB1-12A5-DA5F-B6BF-1989EB68B2CE}"/>
                </a:ext>
              </a:extLst>
            </p:cNvPr>
            <p:cNvSpPr txBox="1"/>
            <p:nvPr/>
          </p:nvSpPr>
          <p:spPr>
            <a:xfrm>
              <a:off x="4011064" y="4255444"/>
              <a:ext cx="3871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기계학습의 텍스트 </a:t>
              </a:r>
              <a:r>
                <a:rPr kumimoji="1" lang="ko-KR" altLang="en-US" dirty="0" err="1"/>
                <a:t>임베딩은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TF-IDF</a:t>
              </a:r>
              <a:r>
                <a:rPr kumimoji="1" lang="ko-KR" altLang="en-US" dirty="0" err="1"/>
                <a:t>를</a:t>
              </a:r>
              <a:r>
                <a:rPr kumimoji="1" lang="ko-KR" altLang="en-US" dirty="0"/>
                <a:t> 사용함</a:t>
              </a:r>
              <a:r>
                <a:rPr kumimoji="1" lang="en-US" altLang="ko-KR" dirty="0"/>
                <a:t>.</a:t>
              </a:r>
              <a:endParaRPr kumimoji="1" lang="ko-KR" altLang="en-US" dirty="0"/>
            </a:p>
          </p:txBody>
        </p:sp>
      </p:grpSp>
      <p:graphicFrame>
        <p:nvGraphicFramePr>
          <p:cNvPr id="11" name="Google Shape;430;p38">
            <a:extLst>
              <a:ext uri="{FF2B5EF4-FFF2-40B4-BE49-F238E27FC236}">
                <a16:creationId xmlns:a16="http://schemas.microsoft.com/office/drawing/2014/main" id="{584C090B-4E3A-5C1C-A7D7-013301456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802448"/>
              </p:ext>
            </p:extLst>
          </p:nvPr>
        </p:nvGraphicFramePr>
        <p:xfrm>
          <a:off x="3990886" y="6092349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r>
                        <a:rPr lang="en" sz="1300" dirty="0">
                          <a:effectLst/>
                        </a:rPr>
                        <a:t> + 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>
                          <a:effectLst/>
                        </a:rPr>
                        <a:t>KorPatBERT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0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0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0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Google Shape;404;p36">
            <a:extLst>
              <a:ext uri="{FF2B5EF4-FFF2-40B4-BE49-F238E27FC236}">
                <a16:creationId xmlns:a16="http://schemas.microsoft.com/office/drawing/2014/main" id="{4079B19B-0B53-F356-FABD-55F170672CF0}"/>
              </a:ext>
            </a:extLst>
          </p:cNvPr>
          <p:cNvSpPr txBox="1">
            <a:spLocks/>
          </p:cNvSpPr>
          <p:nvPr/>
        </p:nvSpPr>
        <p:spPr>
          <a:xfrm>
            <a:off x="3908514" y="5573042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</p:spTree>
    <p:extLst>
      <p:ext uri="{BB962C8B-B14F-4D97-AF65-F5344CB8AC3E}">
        <p14:creationId xmlns:p14="http://schemas.microsoft.com/office/powerpoint/2010/main" val="3353212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C20565A6-C0F3-7152-E9EF-6ED3EA23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263DDF29-4774-1827-A5BC-435BAEB2E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graphicFrame>
        <p:nvGraphicFramePr>
          <p:cNvPr id="430" name="Google Shape;430;p38">
            <a:extLst>
              <a:ext uri="{FF2B5EF4-FFF2-40B4-BE49-F238E27FC236}">
                <a16:creationId xmlns:a16="http://schemas.microsoft.com/office/drawing/2014/main" id="{67EC0EF6-E377-F544-CDE8-315C4A0116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329680"/>
              </p:ext>
            </p:extLst>
          </p:nvPr>
        </p:nvGraphicFramePr>
        <p:xfrm>
          <a:off x="3990886" y="1623113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r>
                        <a:rPr lang="en" sz="1300" dirty="0">
                          <a:effectLst/>
                        </a:rPr>
                        <a:t> + 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>
                          <a:effectLst/>
                        </a:rPr>
                        <a:t>KorPatBERT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0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0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0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35F84D87-EBBE-D8C7-7000-01C352476FF4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9BAEF-2021-7739-D403-DAB83BE7F88C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sp>
        <p:nvSpPr>
          <p:cNvPr id="4" name="Google Shape;404;p36">
            <a:extLst>
              <a:ext uri="{FF2B5EF4-FFF2-40B4-BE49-F238E27FC236}">
                <a16:creationId xmlns:a16="http://schemas.microsoft.com/office/drawing/2014/main" id="{CD6EE44C-19D5-85F4-1ED9-32EC3C08DB08}"/>
              </a:ext>
            </a:extLst>
          </p:cNvPr>
          <p:cNvSpPr txBox="1">
            <a:spLocks/>
          </p:cNvSpPr>
          <p:nvPr/>
        </p:nvSpPr>
        <p:spPr>
          <a:xfrm>
            <a:off x="3908514" y="1103806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DD64D4-BE05-D7EB-DB57-9094D2E87C8E}"/>
              </a:ext>
            </a:extLst>
          </p:cNvPr>
          <p:cNvGrpSpPr/>
          <p:nvPr/>
        </p:nvGrpSpPr>
        <p:grpSpPr>
          <a:xfrm>
            <a:off x="9884325" y="1315545"/>
            <a:ext cx="4522915" cy="3247676"/>
            <a:chOff x="4011064" y="1315545"/>
            <a:chExt cx="4522915" cy="3247676"/>
          </a:xfrm>
        </p:grpSpPr>
        <p:graphicFrame>
          <p:nvGraphicFramePr>
            <p:cNvPr id="17" name="Google Shape;430;p38">
              <a:extLst>
                <a:ext uri="{FF2B5EF4-FFF2-40B4-BE49-F238E27FC236}">
                  <a16:creationId xmlns:a16="http://schemas.microsoft.com/office/drawing/2014/main" id="{D355C19D-C811-7EA5-44EB-4BBA2101738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93667799"/>
                </p:ext>
              </p:extLst>
            </p:nvPr>
          </p:nvGraphicFramePr>
          <p:xfrm>
            <a:off x="4082624" y="1800670"/>
            <a:ext cx="4451355" cy="2277426"/>
          </p:xfrm>
          <a:graphic>
            <a:graphicData uri="http://schemas.openxmlformats.org/drawingml/2006/table">
              <a:tbl>
                <a:tblPr>
                  <a:noFill/>
                  <a:tableStyleId>{BA5D41AF-CBA0-4E6F-8025-8586AE215AA1}</a:tableStyleId>
                </a:tblPr>
                <a:tblGrid>
                  <a:gridCol w="133921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96799">
                    <a:extLst>
                      <a:ext uri="{9D8B030D-6E8A-4147-A177-3AD203B41FA5}">
                        <a16:colId xmlns:a16="http://schemas.microsoft.com/office/drawing/2014/main" val="3736403721"/>
                      </a:ext>
                    </a:extLst>
                  </a:gridCol>
                  <a:gridCol w="1034846">
                    <a:extLst>
                      <a:ext uri="{9D8B030D-6E8A-4147-A177-3AD203B41FA5}">
                        <a16:colId xmlns:a16="http://schemas.microsoft.com/office/drawing/2014/main" val="1158147484"/>
                      </a:ext>
                    </a:extLst>
                  </a:gridCol>
                  <a:gridCol w="1080499">
                    <a:extLst>
                      <a:ext uri="{9D8B030D-6E8A-4147-A177-3AD203B41FA5}">
                        <a16:colId xmlns:a16="http://schemas.microsoft.com/office/drawing/2014/main" val="4165818450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rtl="0" fontAlgn="auto"/>
                        <a:endParaRPr lang="en" b="0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>
                            <a:effectLst/>
                            <a:latin typeface="+mj-lt"/>
                          </a:rPr>
                          <a:t>정확도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>
                            <a:effectLst/>
                            <a:latin typeface="+mj-lt"/>
                          </a:rPr>
                          <a:t>정밀도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 err="1">
                            <a:effectLst/>
                            <a:latin typeface="+mj-lt"/>
                          </a:rPr>
                          <a:t>재현율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effectLst/>
                          </a:rPr>
                          <a:t>KNN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0.7824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0.7758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0.7824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ko-KR" altLang="en-US" b="1" dirty="0" err="1">
                            <a:effectLst/>
                          </a:rPr>
                          <a:t>나이브</a:t>
                        </a:r>
                        <a:r>
                          <a:rPr lang="ko-KR" altLang="en-US" b="1" dirty="0">
                            <a:effectLst/>
                          </a:rPr>
                          <a:t> </a:t>
                        </a:r>
                        <a:r>
                          <a:rPr lang="ko-KR" altLang="en-US" b="1" dirty="0" err="1">
                            <a:effectLst/>
                          </a:rPr>
                          <a:t>베이즈</a:t>
                        </a:r>
                        <a:endParaRPr lang="ko-KR" altLang="en-US" b="1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0.7442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0.5538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0.7442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b="1" dirty="0">
                            <a:effectLst/>
                          </a:rPr>
                          <a:t>SVM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>
                            <a:effectLst/>
                          </a:rPr>
                          <a:t>0.8289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0.8214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0.8289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43397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b="1" dirty="0" err="1">
                            <a:effectLst/>
                          </a:rPr>
                          <a:t>KoBERT</a:t>
                        </a:r>
                        <a:endParaRPr lang="en" b="1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0.8688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0.8718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dirty="0">
                            <a:effectLst/>
                          </a:rPr>
                          <a:t>0.8688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43397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-US" b="1" dirty="0" err="1">
                            <a:effectLst/>
                            <a:latin typeface="+mj-lt"/>
                          </a:rPr>
                          <a:t>KorPatBERT</a:t>
                        </a:r>
                        <a:r>
                          <a:rPr lang="en-US" b="1" dirty="0">
                            <a:effectLst/>
                            <a:latin typeface="+mj-lt"/>
                          </a:rPr>
                          <a:t> + </a:t>
                        </a:r>
                        <a:r>
                          <a:rPr lang="en-US" b="1" dirty="0" err="1">
                            <a:effectLst/>
                            <a:latin typeface="+mj-lt"/>
                          </a:rPr>
                          <a:t>CenterLoss</a:t>
                        </a:r>
                        <a:endParaRPr lang="en" b="1" dirty="0">
                          <a:effectLst/>
                          <a:latin typeface="+mj-lt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0.9103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0.9110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b="1" dirty="0">
                            <a:solidFill>
                              <a:schemeClr val="tx1"/>
                            </a:solidFill>
                            <a:effectLst/>
                          </a:rPr>
                          <a:t>0.9103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  <a:alpha val="55923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sp>
          <p:nvSpPr>
            <p:cNvPr id="18" name="Google Shape;404;p36">
              <a:extLst>
                <a:ext uri="{FF2B5EF4-FFF2-40B4-BE49-F238E27FC236}">
                  <a16:creationId xmlns:a16="http://schemas.microsoft.com/office/drawing/2014/main" id="{E993111B-FC78-7D00-7D52-05EB1D9EF794}"/>
                </a:ext>
              </a:extLst>
            </p:cNvPr>
            <p:cNvSpPr txBox="1">
              <a:spLocks/>
            </p:cNvSpPr>
            <p:nvPr/>
          </p:nvSpPr>
          <p:spPr>
            <a:xfrm>
              <a:off x="4011064" y="1315545"/>
              <a:ext cx="3433481" cy="48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9pPr>
            </a:lstStyle>
            <a:p>
              <a:pPr algn="l">
                <a:lnSpc>
                  <a:spcPct val="130000"/>
                </a:lnSpc>
              </a:pP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모델 결과 비교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CA77A2-C5DD-4C6B-3018-43AD63B56C63}"/>
                </a:ext>
              </a:extLst>
            </p:cNvPr>
            <p:cNvSpPr txBox="1"/>
            <p:nvPr/>
          </p:nvSpPr>
          <p:spPr>
            <a:xfrm>
              <a:off x="4011064" y="4255444"/>
              <a:ext cx="38715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기계학습의 텍스트 </a:t>
              </a:r>
              <a:r>
                <a:rPr kumimoji="1" lang="ko-KR" altLang="en-US" dirty="0" err="1"/>
                <a:t>임베딩은</a:t>
              </a:r>
              <a:r>
                <a:rPr kumimoji="1" lang="ko-KR" altLang="en-US" dirty="0"/>
                <a:t> </a:t>
              </a:r>
              <a:r>
                <a:rPr kumimoji="1" lang="en-US" altLang="ko-KR" dirty="0"/>
                <a:t>TF-IDF</a:t>
              </a:r>
              <a:r>
                <a:rPr kumimoji="1" lang="ko-KR" altLang="en-US" dirty="0" err="1"/>
                <a:t>를</a:t>
              </a:r>
              <a:r>
                <a:rPr kumimoji="1" lang="ko-KR" altLang="en-US" dirty="0"/>
                <a:t> 사용함</a:t>
              </a:r>
              <a:r>
                <a:rPr kumimoji="1" lang="en-US" altLang="ko-KR" dirty="0"/>
                <a:t>.</a:t>
              </a:r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468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A1C9DCC5-D289-684D-3511-4FFD3DCE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D55DE6F5-2EB2-D945-3971-CA0F7679C3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graphicFrame>
        <p:nvGraphicFramePr>
          <p:cNvPr id="430" name="Google Shape;430;p38">
            <a:extLst>
              <a:ext uri="{FF2B5EF4-FFF2-40B4-BE49-F238E27FC236}">
                <a16:creationId xmlns:a16="http://schemas.microsoft.com/office/drawing/2014/main" id="{0B424FF1-7DA1-3B52-A3B6-AA391813DF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3576866"/>
              </p:ext>
            </p:extLst>
          </p:nvPr>
        </p:nvGraphicFramePr>
        <p:xfrm>
          <a:off x="3990886" y="1623113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r>
                        <a:rPr lang="en" sz="1300" dirty="0">
                          <a:effectLst/>
                        </a:rPr>
                        <a:t> + </a:t>
                      </a:r>
                      <a:r>
                        <a:rPr lang="en" sz="1300" b="1" dirty="0">
                          <a:effectLst/>
                        </a:rPr>
                        <a:t>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KorPatBERT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6F4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0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0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1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305804A8-4A78-9236-328F-729E445D1950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B8CF0-DC2C-ACD6-E866-13824984737A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sp>
        <p:nvSpPr>
          <p:cNvPr id="4" name="Google Shape;404;p36">
            <a:extLst>
              <a:ext uri="{FF2B5EF4-FFF2-40B4-BE49-F238E27FC236}">
                <a16:creationId xmlns:a16="http://schemas.microsoft.com/office/drawing/2014/main" id="{3A6CDB0B-AB91-29AA-287E-1532771DE2DA}"/>
              </a:ext>
            </a:extLst>
          </p:cNvPr>
          <p:cNvSpPr txBox="1">
            <a:spLocks/>
          </p:cNvSpPr>
          <p:nvPr/>
        </p:nvSpPr>
        <p:spPr>
          <a:xfrm>
            <a:off x="3908514" y="1103806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DD682-0649-FA07-06D2-8B018C3A4359}"/>
              </a:ext>
            </a:extLst>
          </p:cNvPr>
          <p:cNvSpPr txBox="1"/>
          <p:nvPr/>
        </p:nvSpPr>
        <p:spPr>
          <a:xfrm>
            <a:off x="3930651" y="3552243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b="1" dirty="0" err="1">
                <a:latin typeface="+mj-ea"/>
                <a:ea typeface="+mj-ea"/>
              </a:rPr>
              <a:t>CenterLoss</a:t>
            </a:r>
            <a:r>
              <a:rPr kumimoji="1" lang="ko-KR" altLang="en-US" b="1" dirty="0" err="1">
                <a:latin typeface="+mj-ea"/>
                <a:ea typeface="+mj-ea"/>
              </a:rPr>
              <a:t>를</a:t>
            </a:r>
            <a:r>
              <a:rPr kumimoji="1" lang="ko-KR" altLang="en-US" b="1" dirty="0">
                <a:latin typeface="+mj-ea"/>
                <a:ea typeface="+mj-ea"/>
              </a:rPr>
              <a:t> 적용하였을 때 정확도 상승</a:t>
            </a:r>
            <a:endParaRPr kumimoji="1" lang="en-US" altLang="ko-KR" b="1" dirty="0">
              <a:latin typeface="+mj-ea"/>
              <a:ea typeface="+mj-ea"/>
            </a:endParaRPr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BC95110A-5640-C034-8C70-5F7760F2051A}"/>
              </a:ext>
            </a:extLst>
          </p:cNvPr>
          <p:cNvCxnSpPr/>
          <p:nvPr/>
        </p:nvCxnSpPr>
        <p:spPr>
          <a:xfrm>
            <a:off x="3991232" y="2588741"/>
            <a:ext cx="489327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오른쪽으로 구부러진 화살표[C] 7">
            <a:extLst>
              <a:ext uri="{FF2B5EF4-FFF2-40B4-BE49-F238E27FC236}">
                <a16:creationId xmlns:a16="http://schemas.microsoft.com/office/drawing/2014/main" id="{1B4D28E4-1940-14A3-40DA-31C2DD106CFC}"/>
              </a:ext>
            </a:extLst>
          </p:cNvPr>
          <p:cNvSpPr/>
          <p:nvPr/>
        </p:nvSpPr>
        <p:spPr>
          <a:xfrm>
            <a:off x="6090833" y="2061274"/>
            <a:ext cx="302217" cy="410705"/>
          </a:xfrm>
          <a:prstGeom prst="curved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1" name="오른쪽으로 구부러진 화살표[C] 10">
            <a:extLst>
              <a:ext uri="{FF2B5EF4-FFF2-40B4-BE49-F238E27FC236}">
                <a16:creationId xmlns:a16="http://schemas.microsoft.com/office/drawing/2014/main" id="{13A1659C-EAB0-16CF-BD67-94A490D73833}"/>
              </a:ext>
            </a:extLst>
          </p:cNvPr>
          <p:cNvSpPr/>
          <p:nvPr/>
        </p:nvSpPr>
        <p:spPr>
          <a:xfrm>
            <a:off x="6090833" y="2764527"/>
            <a:ext cx="302217" cy="410705"/>
          </a:xfrm>
          <a:prstGeom prst="curved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439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28BBDF6E-347C-A581-4AF8-71741C86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81F1BB34-029F-5528-775F-28CD2DA1E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graphicFrame>
        <p:nvGraphicFramePr>
          <p:cNvPr id="430" name="Google Shape;430;p38">
            <a:extLst>
              <a:ext uri="{FF2B5EF4-FFF2-40B4-BE49-F238E27FC236}">
                <a16:creationId xmlns:a16="http://schemas.microsoft.com/office/drawing/2014/main" id="{009E56DE-E3EE-DABB-6220-002F098E5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755915"/>
              </p:ext>
            </p:extLst>
          </p:nvPr>
        </p:nvGraphicFramePr>
        <p:xfrm>
          <a:off x="3990886" y="1623113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b="1" dirty="0" err="1">
                          <a:effectLst/>
                        </a:rPr>
                        <a:t>KoBERT</a:t>
                      </a:r>
                      <a:endParaRPr lang="en" sz="1300" b="1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r>
                        <a:rPr lang="en" sz="1300" dirty="0">
                          <a:effectLst/>
                        </a:rPr>
                        <a:t> + 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b="1" dirty="0" err="1">
                          <a:effectLst/>
                        </a:rPr>
                        <a:t>KorPatBERT</a:t>
                      </a:r>
                      <a:endParaRPr lang="en" sz="1300" b="1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0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0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0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297D67B2-0937-6208-4692-09F9FEA560EA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9637A-1F54-B96A-6F95-EF3A2AA96651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sp>
        <p:nvSpPr>
          <p:cNvPr id="4" name="Google Shape;404;p36">
            <a:extLst>
              <a:ext uri="{FF2B5EF4-FFF2-40B4-BE49-F238E27FC236}">
                <a16:creationId xmlns:a16="http://schemas.microsoft.com/office/drawing/2014/main" id="{47452CB7-FDAF-31F1-2246-6524E4D04801}"/>
              </a:ext>
            </a:extLst>
          </p:cNvPr>
          <p:cNvSpPr txBox="1">
            <a:spLocks/>
          </p:cNvSpPr>
          <p:nvPr/>
        </p:nvSpPr>
        <p:spPr>
          <a:xfrm>
            <a:off x="3908514" y="1103806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FBCF3-D98C-7789-7D9E-3EFD2284EC6F}"/>
              </a:ext>
            </a:extLst>
          </p:cNvPr>
          <p:cNvSpPr txBox="1"/>
          <p:nvPr/>
        </p:nvSpPr>
        <p:spPr>
          <a:xfrm>
            <a:off x="3930651" y="3552243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적용하였을 때 정확도 상승</a:t>
            </a:r>
            <a:endParaRPr kumimoji="1" lang="en-US" altLang="ko-KR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CA5B1-094A-0805-5AFC-6A11DA1A8552}"/>
              </a:ext>
            </a:extLst>
          </p:cNvPr>
          <p:cNvSpPr txBox="1"/>
          <p:nvPr/>
        </p:nvSpPr>
        <p:spPr>
          <a:xfrm>
            <a:off x="3929438" y="3908018"/>
            <a:ext cx="4955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b="1" dirty="0" err="1">
                <a:latin typeface="+mj-ea"/>
                <a:ea typeface="+mj-ea"/>
              </a:rPr>
              <a:t>KorPatBERT</a:t>
            </a:r>
            <a:r>
              <a:rPr kumimoji="1" lang="ko-KR" altLang="en-US" b="1" dirty="0">
                <a:latin typeface="+mj-ea"/>
                <a:ea typeface="+mj-ea"/>
              </a:rPr>
              <a:t>가 </a:t>
            </a:r>
            <a:r>
              <a:rPr kumimoji="1" lang="en-US" altLang="ko-KR" b="1" dirty="0" err="1">
                <a:latin typeface="+mj-ea"/>
                <a:ea typeface="+mj-ea"/>
              </a:rPr>
              <a:t>KoBERT</a:t>
            </a:r>
            <a:r>
              <a:rPr kumimoji="1" lang="en-US" altLang="ko-KR" b="1" dirty="0">
                <a:latin typeface="+mj-ea"/>
                <a:ea typeface="+mj-ea"/>
              </a:rPr>
              <a:t>(</a:t>
            </a:r>
            <a:r>
              <a:rPr kumimoji="1" lang="ko-KR" altLang="en-US" b="1" dirty="0">
                <a:latin typeface="+mj-ea"/>
                <a:ea typeface="+mj-ea"/>
              </a:rPr>
              <a:t>일반 한국어 모델</a:t>
            </a:r>
            <a:r>
              <a:rPr kumimoji="1" lang="en-US" altLang="ko-KR" b="1" dirty="0">
                <a:latin typeface="+mj-ea"/>
                <a:ea typeface="+mj-ea"/>
              </a:rPr>
              <a:t>)</a:t>
            </a:r>
            <a:r>
              <a:rPr kumimoji="1" lang="ko-KR" altLang="en-US" b="1" dirty="0">
                <a:latin typeface="+mj-ea"/>
                <a:ea typeface="+mj-ea"/>
              </a:rPr>
              <a:t> 보다 뛰어남</a:t>
            </a:r>
            <a:endParaRPr kumimoji="1" lang="en-US" altLang="ko-KR" b="1" dirty="0">
              <a:latin typeface="+mj-ea"/>
              <a:ea typeface="+mj-ea"/>
            </a:endParaRPr>
          </a:p>
        </p:txBody>
      </p:sp>
      <p:sp>
        <p:nvSpPr>
          <p:cNvPr id="7" name="오른쪽으로 구부러진 화살표[C] 6">
            <a:extLst>
              <a:ext uri="{FF2B5EF4-FFF2-40B4-BE49-F238E27FC236}">
                <a16:creationId xmlns:a16="http://schemas.microsoft.com/office/drawing/2014/main" id="{60B95F5B-FEE4-C176-5052-14E10FBF8FFE}"/>
              </a:ext>
            </a:extLst>
          </p:cNvPr>
          <p:cNvSpPr/>
          <p:nvPr/>
        </p:nvSpPr>
        <p:spPr>
          <a:xfrm>
            <a:off x="6083084" y="2051605"/>
            <a:ext cx="302217" cy="761337"/>
          </a:xfrm>
          <a:prstGeom prst="curved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613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7DFD4B35-B12F-4349-06A0-145F5789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105AB23E-553B-4940-D5B0-E5E1A3EE1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graphicFrame>
        <p:nvGraphicFramePr>
          <p:cNvPr id="430" name="Google Shape;430;p38">
            <a:extLst>
              <a:ext uri="{FF2B5EF4-FFF2-40B4-BE49-F238E27FC236}">
                <a16:creationId xmlns:a16="http://schemas.microsoft.com/office/drawing/2014/main" id="{56D1A10E-53E3-B43A-BE08-884E972C23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683078"/>
              </p:ext>
            </p:extLst>
          </p:nvPr>
        </p:nvGraphicFramePr>
        <p:xfrm>
          <a:off x="3990886" y="1623113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b="1" dirty="0" err="1">
                          <a:effectLst/>
                        </a:rPr>
                        <a:t>KoBERT</a:t>
                      </a:r>
                      <a:r>
                        <a:rPr lang="en" sz="1300" b="1" dirty="0">
                          <a:effectLst/>
                        </a:rPr>
                        <a:t> + 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KorPatBERT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1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1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1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555F8728-3A73-8C18-0D2C-4F2B3680A8A5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E3662-CA93-BDAA-A784-EB6A78398F07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sp>
        <p:nvSpPr>
          <p:cNvPr id="4" name="Google Shape;404;p36">
            <a:extLst>
              <a:ext uri="{FF2B5EF4-FFF2-40B4-BE49-F238E27FC236}">
                <a16:creationId xmlns:a16="http://schemas.microsoft.com/office/drawing/2014/main" id="{52FBFF7C-E7F4-4B3F-3166-D44BA447E4FC}"/>
              </a:ext>
            </a:extLst>
          </p:cNvPr>
          <p:cNvSpPr txBox="1">
            <a:spLocks/>
          </p:cNvSpPr>
          <p:nvPr/>
        </p:nvSpPr>
        <p:spPr>
          <a:xfrm>
            <a:off x="3908514" y="1103806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2A3C5-E894-9435-1D29-A027EA4F26BE}"/>
              </a:ext>
            </a:extLst>
          </p:cNvPr>
          <p:cNvSpPr txBox="1"/>
          <p:nvPr/>
        </p:nvSpPr>
        <p:spPr>
          <a:xfrm>
            <a:off x="3930651" y="3552243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적용하였을 때 정확도 상승</a:t>
            </a:r>
            <a:endParaRPr kumimoji="1" lang="en-US" altLang="ko-KR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A8542-C1C8-C3BD-B674-5AFFAE7E92D7}"/>
              </a:ext>
            </a:extLst>
          </p:cNvPr>
          <p:cNvSpPr txBox="1"/>
          <p:nvPr/>
        </p:nvSpPr>
        <p:spPr>
          <a:xfrm>
            <a:off x="3929439" y="3908018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KorPatBERT</a:t>
            </a:r>
            <a:r>
              <a:rPr kumimoji="1" lang="ko-KR" altLang="en-US" dirty="0">
                <a:latin typeface="+mj-ea"/>
                <a:ea typeface="+mj-ea"/>
              </a:rPr>
              <a:t>가 </a:t>
            </a:r>
            <a:r>
              <a:rPr kumimoji="1" lang="en-US" altLang="ko-KR" dirty="0" err="1">
                <a:latin typeface="+mj-ea"/>
                <a:ea typeface="+mj-ea"/>
              </a:rPr>
              <a:t>KoBERT</a:t>
            </a:r>
            <a:r>
              <a:rPr kumimoji="1" lang="en-US" altLang="ko-KR" dirty="0">
                <a:latin typeface="+mj-ea"/>
                <a:ea typeface="+mj-ea"/>
              </a:rPr>
              <a:t>(</a:t>
            </a:r>
            <a:r>
              <a:rPr kumimoji="1" lang="ko-KR" altLang="en-US" dirty="0">
                <a:latin typeface="+mj-ea"/>
                <a:ea typeface="+mj-ea"/>
              </a:rPr>
              <a:t>일반 한국어 모델</a:t>
            </a:r>
            <a:r>
              <a:rPr kumimoji="1" lang="en-US" altLang="ko-KR" dirty="0">
                <a:latin typeface="+mj-ea"/>
                <a:ea typeface="+mj-ea"/>
              </a:rPr>
              <a:t>)</a:t>
            </a:r>
            <a:r>
              <a:rPr kumimoji="1" lang="ko-KR" altLang="en-US" dirty="0">
                <a:latin typeface="+mj-ea"/>
                <a:ea typeface="+mj-ea"/>
              </a:rPr>
              <a:t> 보다 뛰어남</a:t>
            </a:r>
            <a:endParaRPr kumimoji="1" lang="en-US" altLang="ko-KR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9B5EA-0F3A-2A40-2A4E-81EFD489022A}"/>
              </a:ext>
            </a:extLst>
          </p:cNvPr>
          <p:cNvSpPr txBox="1"/>
          <p:nvPr/>
        </p:nvSpPr>
        <p:spPr>
          <a:xfrm>
            <a:off x="3929439" y="4236443"/>
            <a:ext cx="5164588" cy="696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KorPatBERT</a:t>
            </a:r>
            <a:r>
              <a:rPr kumimoji="1" lang="ko-KR" altLang="en-US" dirty="0" err="1">
                <a:latin typeface="+mj-ea"/>
                <a:ea typeface="+mj-ea"/>
              </a:rPr>
              <a:t>에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적용했을 때</a:t>
            </a:r>
            <a:r>
              <a:rPr kumimoji="1" lang="en-US" altLang="ko-KR" dirty="0">
                <a:latin typeface="+mj-ea"/>
                <a:ea typeface="+mj-ea"/>
              </a:rPr>
              <a:t>,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KoBERT</a:t>
            </a:r>
            <a:r>
              <a:rPr kumimoji="1" lang="ko-KR" altLang="en-US" dirty="0" err="1">
                <a:latin typeface="+mj-ea"/>
                <a:ea typeface="+mj-ea"/>
              </a:rPr>
              <a:t>에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적용한 경우 보다 </a:t>
            </a:r>
            <a:r>
              <a:rPr kumimoji="1" lang="ko-KR" altLang="en-US" b="1" dirty="0">
                <a:latin typeface="+mj-ea"/>
                <a:ea typeface="+mj-ea"/>
              </a:rPr>
              <a:t>더욱 큰 성능 향상</a:t>
            </a:r>
            <a:r>
              <a:rPr kumimoji="1" lang="ko-KR" altLang="en-US" dirty="0">
                <a:latin typeface="+mj-ea"/>
                <a:ea typeface="+mj-ea"/>
              </a:rPr>
              <a:t>을 보임</a:t>
            </a:r>
            <a:endParaRPr kumimoji="1" lang="en-US" altLang="ko-KR" dirty="0">
              <a:latin typeface="+mj-ea"/>
              <a:ea typeface="+mj-ea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464B56D-1F9F-1E1E-3C61-E000E9E6E968}"/>
              </a:ext>
            </a:extLst>
          </p:cNvPr>
          <p:cNvGrpSpPr/>
          <p:nvPr/>
        </p:nvGrpSpPr>
        <p:grpSpPr>
          <a:xfrm>
            <a:off x="4011064" y="5510479"/>
            <a:ext cx="4917344" cy="3635337"/>
            <a:chOff x="4011064" y="1246389"/>
            <a:chExt cx="4917344" cy="3635337"/>
          </a:xfrm>
        </p:grpSpPr>
        <p:graphicFrame>
          <p:nvGraphicFramePr>
            <p:cNvPr id="9" name="Google Shape;430;p38">
              <a:extLst>
                <a:ext uri="{FF2B5EF4-FFF2-40B4-BE49-F238E27FC236}">
                  <a16:creationId xmlns:a16="http://schemas.microsoft.com/office/drawing/2014/main" id="{9D369D37-260E-6FFD-7C1C-CDB9A313C8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59973443"/>
                </p:ext>
              </p:extLst>
            </p:nvPr>
          </p:nvGraphicFramePr>
          <p:xfrm>
            <a:off x="4110040" y="1794741"/>
            <a:ext cx="4818368" cy="1114263"/>
          </p:xfrm>
          <a:graphic>
            <a:graphicData uri="http://schemas.openxmlformats.org/drawingml/2006/table">
              <a:tbl>
                <a:tblPr>
                  <a:noFill/>
                  <a:tableStyleId>{BA5D41AF-CBA0-4E6F-8025-8586AE215AA1}</a:tableStyleId>
                </a:tblPr>
                <a:tblGrid>
                  <a:gridCol w="144962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78984">
                    <a:extLst>
                      <a:ext uri="{9D8B030D-6E8A-4147-A177-3AD203B41FA5}">
                        <a16:colId xmlns:a16="http://schemas.microsoft.com/office/drawing/2014/main" val="3736403721"/>
                      </a:ext>
                    </a:extLst>
                  </a:gridCol>
                  <a:gridCol w="1120169">
                    <a:extLst>
                      <a:ext uri="{9D8B030D-6E8A-4147-A177-3AD203B41FA5}">
                        <a16:colId xmlns:a16="http://schemas.microsoft.com/office/drawing/2014/main" val="1158147484"/>
                      </a:ext>
                    </a:extLst>
                  </a:gridCol>
                  <a:gridCol w="1169586">
                    <a:extLst>
                      <a:ext uri="{9D8B030D-6E8A-4147-A177-3AD203B41FA5}">
                        <a16:colId xmlns:a16="http://schemas.microsoft.com/office/drawing/2014/main" val="4165818450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rtl="0" fontAlgn="auto"/>
                        <a:endParaRPr lang="en-US" altLang="ko-KR" sz="1300" b="0" i="0" dirty="0">
                          <a:effectLst/>
                          <a:latin typeface="Arial" panose="020B0604020202020204" pitchFamily="34" charset="0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G16H(55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G06F(99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G06Q(448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dirty="0" err="1">
                            <a:effectLst/>
                          </a:rPr>
                          <a:t>KorPatBERT</a:t>
                        </a:r>
                        <a:endParaRPr lang="en" sz="1300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0.5818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0.7677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0.9308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dirty="0" err="1">
                            <a:effectLst/>
                          </a:rPr>
                          <a:t>KorPatBERT</a:t>
                        </a:r>
                        <a:r>
                          <a:rPr lang="en" sz="1300" dirty="0">
                            <a:effectLst/>
                          </a:rPr>
                          <a:t> + Center Loss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b="1" dirty="0">
                            <a:effectLst/>
                          </a:rPr>
                          <a:t>0.8545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0.7374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0.9554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10" name="Google Shape;404;p36">
              <a:extLst>
                <a:ext uri="{FF2B5EF4-FFF2-40B4-BE49-F238E27FC236}">
                  <a16:creationId xmlns:a16="http://schemas.microsoft.com/office/drawing/2014/main" id="{81EC36BC-7637-B83D-FFAB-DB1EC0D339AB}"/>
                </a:ext>
              </a:extLst>
            </p:cNvPr>
            <p:cNvSpPr txBox="1">
              <a:spLocks/>
            </p:cNvSpPr>
            <p:nvPr/>
          </p:nvSpPr>
          <p:spPr>
            <a:xfrm>
              <a:off x="4011064" y="1246389"/>
              <a:ext cx="4672810" cy="48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9pPr>
            </a:lstStyle>
            <a:p>
              <a:pPr algn="l">
                <a:lnSpc>
                  <a:spcPct val="130000"/>
                </a:lnSpc>
              </a:pPr>
              <a:r>
                <a:rPr lang="en-US" altLang="ko-KR" sz="1600" dirty="0" err="1">
                  <a:solidFill>
                    <a:srgbClr val="437ED5"/>
                  </a:solidFill>
                  <a:latin typeface="+mj-ea"/>
                  <a:ea typeface="+mj-ea"/>
                </a:rPr>
                <a:t>CenterLoss</a:t>
              </a: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 적용에 따른 </a:t>
              </a:r>
              <a:r>
                <a:rPr lang="ko-KR" altLang="en-US" sz="1600" dirty="0" err="1">
                  <a:solidFill>
                    <a:srgbClr val="437ED5"/>
                  </a:solidFill>
                  <a:latin typeface="+mj-ea"/>
                  <a:ea typeface="+mj-ea"/>
                </a:rPr>
                <a:t>재현율</a:t>
              </a: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 비교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EC9752-16F9-2652-4D92-3723568EF483}"/>
                </a:ext>
              </a:extLst>
            </p:cNvPr>
            <p:cNvSpPr txBox="1"/>
            <p:nvPr/>
          </p:nvSpPr>
          <p:spPr>
            <a:xfrm>
              <a:off x="4036512" y="3134453"/>
              <a:ext cx="4488729" cy="1747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en-US" altLang="ko-KR" b="1" dirty="0">
                  <a:latin typeface="+mj-ea"/>
                  <a:ea typeface="+mj-ea"/>
                </a:rPr>
                <a:t>G16H:</a:t>
              </a:r>
              <a:r>
                <a:rPr kumimoji="1" lang="ko-KR" altLang="en-US" b="1" dirty="0">
                  <a:latin typeface="+mj-ea"/>
                  <a:ea typeface="+mj-ea"/>
                </a:rPr>
                <a:t> </a:t>
              </a:r>
              <a:r>
                <a:rPr kumimoji="1" lang="en-US" altLang="ko-KR" b="1" dirty="0">
                  <a:latin typeface="+mj-ea"/>
                  <a:ea typeface="+mj-ea"/>
                </a:rPr>
                <a:t>55</a:t>
              </a:r>
              <a:r>
                <a:rPr kumimoji="1" lang="ko-KR" altLang="en-US" b="1" dirty="0">
                  <a:latin typeface="+mj-ea"/>
                  <a:ea typeface="+mj-ea"/>
                </a:rPr>
                <a:t>개로 다수 클래스와 </a:t>
              </a:r>
              <a:r>
                <a:rPr kumimoji="1" lang="en-US" altLang="ko-KR" b="1" dirty="0">
                  <a:latin typeface="+mj-ea"/>
                  <a:ea typeface="+mj-ea"/>
                </a:rPr>
                <a:t>8</a:t>
              </a:r>
              <a:r>
                <a:rPr kumimoji="1" lang="ko-KR" altLang="en-US" b="1" dirty="0">
                  <a:latin typeface="+mj-ea"/>
                  <a:ea typeface="+mj-ea"/>
                </a:rPr>
                <a:t>배의 데이터 개수 차이</a:t>
              </a:r>
              <a:endParaRPr kumimoji="1" lang="en-US" altLang="ko-KR" b="1" dirty="0"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en-US" altLang="ko-KR" b="1" dirty="0" err="1">
                  <a:solidFill>
                    <a:srgbClr val="437ED5"/>
                  </a:solidFill>
                  <a:latin typeface="+mj-ea"/>
                  <a:ea typeface="+mj-ea"/>
                </a:rPr>
                <a:t>CenterLoss</a:t>
              </a:r>
              <a:r>
                <a:rPr kumimoji="1" lang="ko-KR" altLang="en-US" b="1" dirty="0" err="1">
                  <a:solidFill>
                    <a:srgbClr val="437ED5"/>
                  </a:solidFill>
                  <a:latin typeface="+mj-ea"/>
                  <a:ea typeface="+mj-ea"/>
                </a:rPr>
                <a:t>를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적용하여 </a:t>
              </a:r>
              <a:r>
                <a:rPr kumimoji="1" lang="ko-KR" altLang="en-US" b="1" dirty="0" err="1">
                  <a:solidFill>
                    <a:srgbClr val="437ED5"/>
                  </a:solidFill>
                  <a:latin typeface="+mj-ea"/>
                  <a:ea typeface="+mj-ea"/>
                </a:rPr>
                <a:t>재현율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</a:t>
              </a:r>
              <a:r>
                <a:rPr kumimoji="1" lang="en-US" altLang="ko-KR" b="1" dirty="0">
                  <a:solidFill>
                    <a:srgbClr val="437ED5"/>
                  </a:solidFill>
                  <a:latin typeface="+mj-ea"/>
                  <a:ea typeface="+mj-ea"/>
                </a:rPr>
                <a:t>27%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이상 상승</a:t>
              </a:r>
              <a:endParaRPr kumimoji="1" lang="en-US" altLang="ko-KR" b="1" dirty="0">
                <a:solidFill>
                  <a:srgbClr val="437ED5"/>
                </a:solidFill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ko-KR" altLang="en-US" dirty="0">
                  <a:latin typeface="+mj-ea"/>
                  <a:ea typeface="+mj-ea"/>
                </a:rPr>
                <a:t>클래스 불균형 문제 개선 가능</a:t>
              </a:r>
              <a:endParaRPr kumimoji="1" lang="en-US" altLang="ko-KR" dirty="0"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ko-KR" altLang="en-US" dirty="0">
                  <a:latin typeface="+mj-ea"/>
                  <a:ea typeface="+mj-ea"/>
                </a:rPr>
                <a:t>신기술 탐지 및 특허 전략 수립 기여 할 수 있음</a:t>
              </a:r>
              <a:r>
                <a:rPr kumimoji="1" lang="en-US" altLang="ko-KR" dirty="0"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2" name="오른쪽으로 구부러진 화살표[C] 11">
            <a:extLst>
              <a:ext uri="{FF2B5EF4-FFF2-40B4-BE49-F238E27FC236}">
                <a16:creationId xmlns:a16="http://schemas.microsoft.com/office/drawing/2014/main" id="{072BDE7E-880A-2DD4-C85A-4B1072DF6BC5}"/>
              </a:ext>
            </a:extLst>
          </p:cNvPr>
          <p:cNvSpPr/>
          <p:nvPr/>
        </p:nvSpPr>
        <p:spPr>
          <a:xfrm>
            <a:off x="6160576" y="2392568"/>
            <a:ext cx="240223" cy="838829"/>
          </a:xfrm>
          <a:prstGeom prst="curved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73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4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C86D59BD-E364-DA4C-E879-535E8576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>
            <a:extLst>
              <a:ext uri="{FF2B5EF4-FFF2-40B4-BE49-F238E27FC236}">
                <a16:creationId xmlns:a16="http://schemas.microsoft.com/office/drawing/2014/main" id="{CDB30F3A-59EB-8DA0-8C78-E48BF2DA1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학습 결과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" name="Google Shape;404;p36">
            <a:extLst>
              <a:ext uri="{FF2B5EF4-FFF2-40B4-BE49-F238E27FC236}">
                <a16:creationId xmlns:a16="http://schemas.microsoft.com/office/drawing/2014/main" id="{21327F8E-D2BF-BD1D-1DEB-A021552451C1}"/>
              </a:ext>
            </a:extLst>
          </p:cNvPr>
          <p:cNvSpPr txBox="1">
            <a:spLocks/>
          </p:cNvSpPr>
          <p:nvPr/>
        </p:nvSpPr>
        <p:spPr>
          <a:xfrm>
            <a:off x="146762" y="2204117"/>
            <a:ext cx="3687570" cy="73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400" dirty="0" err="1">
                <a:solidFill>
                  <a:schemeClr val="tx1"/>
                </a:solidFill>
                <a:latin typeface="+mj-ea"/>
                <a:ea typeface="+mj-ea"/>
              </a:rPr>
              <a:t>KorPatBERT-CenterLoss</a:t>
            </a:r>
            <a:endParaRPr lang="ko-KR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B7F25-7DB8-A867-AFF1-1CA81974FA8A}"/>
              </a:ext>
            </a:extLst>
          </p:cNvPr>
          <p:cNvSpPr txBox="1"/>
          <p:nvPr/>
        </p:nvSpPr>
        <p:spPr>
          <a:xfrm>
            <a:off x="1001333" y="2939383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rgbClr val="437ED5"/>
                </a:solidFill>
              </a:rPr>
              <a:t>정확도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:</a:t>
            </a:r>
            <a:r>
              <a:rPr kumimoji="1" lang="ko-KR" altLang="en-US" sz="2000" b="1" dirty="0">
                <a:solidFill>
                  <a:srgbClr val="437ED5"/>
                </a:solidFill>
              </a:rPr>
              <a:t> </a:t>
            </a:r>
            <a:r>
              <a:rPr kumimoji="1" lang="en-US" altLang="ko-KR" sz="2000" b="1" dirty="0">
                <a:solidFill>
                  <a:srgbClr val="437ED5"/>
                </a:solidFill>
              </a:rPr>
              <a:t>91.03%</a:t>
            </a:r>
            <a:endParaRPr kumimoji="1" lang="ko-KR" altLang="en-US" sz="2000" b="1" dirty="0">
              <a:solidFill>
                <a:srgbClr val="437ED5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1F0C8FD-A370-C996-9E56-55C81A50C500}"/>
              </a:ext>
            </a:extLst>
          </p:cNvPr>
          <p:cNvGrpSpPr/>
          <p:nvPr/>
        </p:nvGrpSpPr>
        <p:grpSpPr>
          <a:xfrm>
            <a:off x="4011064" y="1246389"/>
            <a:ext cx="4917344" cy="3635337"/>
            <a:chOff x="4011064" y="1246389"/>
            <a:chExt cx="4917344" cy="3635337"/>
          </a:xfrm>
        </p:grpSpPr>
        <p:graphicFrame>
          <p:nvGraphicFramePr>
            <p:cNvPr id="430" name="Google Shape;430;p38">
              <a:extLst>
                <a:ext uri="{FF2B5EF4-FFF2-40B4-BE49-F238E27FC236}">
                  <a16:creationId xmlns:a16="http://schemas.microsoft.com/office/drawing/2014/main" id="{AACBA20F-6CFC-4717-B9D3-AB34A4569F0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26985444"/>
                </p:ext>
              </p:extLst>
            </p:nvPr>
          </p:nvGraphicFramePr>
          <p:xfrm>
            <a:off x="4110040" y="1794741"/>
            <a:ext cx="4818368" cy="1114263"/>
          </p:xfrm>
          <a:graphic>
            <a:graphicData uri="http://schemas.openxmlformats.org/drawingml/2006/table">
              <a:tbl>
                <a:tblPr>
                  <a:noFill/>
                  <a:tableStyleId>{BA5D41AF-CBA0-4E6F-8025-8586AE215AA1}</a:tableStyleId>
                </a:tblPr>
                <a:tblGrid>
                  <a:gridCol w="144962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78984">
                    <a:extLst>
                      <a:ext uri="{9D8B030D-6E8A-4147-A177-3AD203B41FA5}">
                        <a16:colId xmlns:a16="http://schemas.microsoft.com/office/drawing/2014/main" val="3736403721"/>
                      </a:ext>
                    </a:extLst>
                  </a:gridCol>
                  <a:gridCol w="1120169">
                    <a:extLst>
                      <a:ext uri="{9D8B030D-6E8A-4147-A177-3AD203B41FA5}">
                        <a16:colId xmlns:a16="http://schemas.microsoft.com/office/drawing/2014/main" val="1158147484"/>
                      </a:ext>
                    </a:extLst>
                  </a:gridCol>
                  <a:gridCol w="1169586">
                    <a:extLst>
                      <a:ext uri="{9D8B030D-6E8A-4147-A177-3AD203B41FA5}">
                        <a16:colId xmlns:a16="http://schemas.microsoft.com/office/drawing/2014/main" val="4165818450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algn="ctr" rtl="0" fontAlgn="auto"/>
                        <a:endParaRPr lang="en-US" altLang="ko-KR" sz="1300" b="0" i="0" dirty="0">
                          <a:effectLst/>
                          <a:latin typeface="Arial" panose="020B0604020202020204" pitchFamily="34" charset="0"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G16H(55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G06F(99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b="0" i="0" dirty="0">
                            <a:effectLst/>
                            <a:latin typeface="Arial" panose="020B0604020202020204" pitchFamily="34" charset="0"/>
                          </a:rPr>
                          <a:t>G06Q(448</a:t>
                        </a:r>
                        <a:r>
                          <a:rPr lang="ko-KR" altLang="en-US" sz="1300" b="0" i="0" dirty="0">
                            <a:effectLst/>
                            <a:latin typeface="Arial" panose="020B0604020202020204" pitchFamily="34" charset="0"/>
                          </a:rPr>
                          <a:t>개</a:t>
                        </a:r>
                        <a:r>
                          <a:rPr lang="en-US" altLang="ko-KR" sz="1300" b="0" i="0" dirty="0">
                            <a:effectLst/>
                            <a:latin typeface="Arial" panose="020B0604020202020204" pitchFamily="34" charset="0"/>
                          </a:rPr>
                          <a:t>)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dirty="0" err="1">
                            <a:effectLst/>
                          </a:rPr>
                          <a:t>KorPatBERT</a:t>
                        </a:r>
                        <a:endParaRPr lang="en" sz="1300" dirty="0">
                          <a:effectLst/>
                        </a:endParaRP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0.5818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0.7677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0.9308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7023">
                  <a:tc>
                    <a:txBody>
                      <a:bodyPr/>
                      <a:lstStyle/>
                      <a:p>
                        <a:pPr algn="ctr" rtl="0" fontAlgn="auto"/>
                        <a:r>
                          <a:rPr lang="en" sz="1300" dirty="0" err="1">
                            <a:effectLst/>
                          </a:rPr>
                          <a:t>KorPatBERT</a:t>
                        </a:r>
                        <a:r>
                          <a:rPr lang="en" sz="1300" dirty="0">
                            <a:effectLst/>
                          </a:rPr>
                          <a:t> + Center Loss</a:t>
                        </a:r>
                      </a:p>
                    </a:txBody>
                    <a:tcPr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b="1" dirty="0">
                            <a:effectLst/>
                          </a:rPr>
                          <a:t>0.8545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>
                          <a:lumMod val="20000"/>
                          <a:lumOff val="80000"/>
                          <a:alpha val="5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0.7374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 fontAlgn="auto"/>
                        <a:r>
                          <a:rPr lang="en-US" altLang="ko-KR" sz="1300" dirty="0">
                            <a:effectLst/>
                          </a:rPr>
                          <a:t>0.9554</a:t>
                        </a:r>
                      </a:p>
                    </a:txBody>
                    <a:tcPr anchor="ctr">
                      <a:lnL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4" name="Google Shape;404;p36">
              <a:extLst>
                <a:ext uri="{FF2B5EF4-FFF2-40B4-BE49-F238E27FC236}">
                  <a16:creationId xmlns:a16="http://schemas.microsoft.com/office/drawing/2014/main" id="{09290087-12A9-5C02-0249-507C35869340}"/>
                </a:ext>
              </a:extLst>
            </p:cNvPr>
            <p:cNvSpPr txBox="1">
              <a:spLocks/>
            </p:cNvSpPr>
            <p:nvPr/>
          </p:nvSpPr>
          <p:spPr>
            <a:xfrm>
              <a:off x="4011064" y="1246389"/>
              <a:ext cx="4672810" cy="48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Font typeface="Poppins"/>
                <a:buNone/>
                <a:defRPr sz="3100" b="1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defRPr>
              </a:lvl9pPr>
            </a:lstStyle>
            <a:p>
              <a:pPr algn="l">
                <a:lnSpc>
                  <a:spcPct val="130000"/>
                </a:lnSpc>
              </a:pPr>
              <a:r>
                <a:rPr lang="en-US" altLang="ko-KR" sz="1600" dirty="0" err="1">
                  <a:solidFill>
                    <a:srgbClr val="437ED5"/>
                  </a:solidFill>
                  <a:latin typeface="+mj-ea"/>
                  <a:ea typeface="+mj-ea"/>
                </a:rPr>
                <a:t>CenterLoss</a:t>
              </a: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 적용에 따른 </a:t>
              </a:r>
              <a:r>
                <a:rPr lang="ko-KR" altLang="en-US" sz="1600" dirty="0" err="1">
                  <a:solidFill>
                    <a:srgbClr val="437ED5"/>
                  </a:solidFill>
                  <a:latin typeface="+mj-ea"/>
                  <a:ea typeface="+mj-ea"/>
                </a:rPr>
                <a:t>재현율</a:t>
              </a:r>
              <a:r>
                <a:rPr lang="ko-KR" altLang="en-US" sz="1600" dirty="0">
                  <a:solidFill>
                    <a:srgbClr val="437ED5"/>
                  </a:solidFill>
                  <a:latin typeface="+mj-ea"/>
                  <a:ea typeface="+mj-ea"/>
                </a:rPr>
                <a:t> 비교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91C5B7-B359-03A6-79B0-63C69BBD3EE9}"/>
                </a:ext>
              </a:extLst>
            </p:cNvPr>
            <p:cNvSpPr txBox="1"/>
            <p:nvPr/>
          </p:nvSpPr>
          <p:spPr>
            <a:xfrm>
              <a:off x="4036512" y="3134453"/>
              <a:ext cx="4488729" cy="1747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kumimoji="1" lang="en-US" altLang="ko-KR" b="1" dirty="0">
                  <a:latin typeface="+mj-ea"/>
                  <a:ea typeface="+mj-ea"/>
                </a:rPr>
                <a:t>G16H:</a:t>
              </a:r>
              <a:r>
                <a:rPr kumimoji="1" lang="ko-KR" altLang="en-US" b="1" dirty="0">
                  <a:latin typeface="+mj-ea"/>
                  <a:ea typeface="+mj-ea"/>
                </a:rPr>
                <a:t> </a:t>
              </a:r>
              <a:r>
                <a:rPr kumimoji="1" lang="en-US" altLang="ko-KR" b="1" dirty="0">
                  <a:latin typeface="+mj-ea"/>
                  <a:ea typeface="+mj-ea"/>
                </a:rPr>
                <a:t>55</a:t>
              </a:r>
              <a:r>
                <a:rPr kumimoji="1" lang="ko-KR" altLang="en-US" b="1" dirty="0">
                  <a:latin typeface="+mj-ea"/>
                  <a:ea typeface="+mj-ea"/>
                </a:rPr>
                <a:t>개로 다수 클래스와 </a:t>
              </a:r>
              <a:r>
                <a:rPr kumimoji="1" lang="en-US" altLang="ko-KR" b="1" dirty="0">
                  <a:latin typeface="+mj-ea"/>
                  <a:ea typeface="+mj-ea"/>
                </a:rPr>
                <a:t>8</a:t>
              </a:r>
              <a:r>
                <a:rPr kumimoji="1" lang="ko-KR" altLang="en-US" b="1" dirty="0">
                  <a:latin typeface="+mj-ea"/>
                  <a:ea typeface="+mj-ea"/>
                </a:rPr>
                <a:t>배의 데이터 개수 차이</a:t>
              </a:r>
              <a:endParaRPr kumimoji="1" lang="en-US" altLang="ko-KR" b="1" dirty="0"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en-US" altLang="ko-KR" b="1" dirty="0" err="1">
                  <a:solidFill>
                    <a:srgbClr val="437ED5"/>
                  </a:solidFill>
                  <a:latin typeface="+mj-ea"/>
                  <a:ea typeface="+mj-ea"/>
                </a:rPr>
                <a:t>CenterLoss</a:t>
              </a:r>
              <a:r>
                <a:rPr kumimoji="1" lang="ko-KR" altLang="en-US" b="1" dirty="0" err="1">
                  <a:solidFill>
                    <a:srgbClr val="437ED5"/>
                  </a:solidFill>
                  <a:latin typeface="+mj-ea"/>
                  <a:ea typeface="+mj-ea"/>
                </a:rPr>
                <a:t>를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적용하여 </a:t>
              </a:r>
              <a:r>
                <a:rPr kumimoji="1" lang="ko-KR" altLang="en-US" b="1" dirty="0" err="1">
                  <a:solidFill>
                    <a:srgbClr val="437ED5"/>
                  </a:solidFill>
                  <a:latin typeface="+mj-ea"/>
                  <a:ea typeface="+mj-ea"/>
                </a:rPr>
                <a:t>재현율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</a:t>
              </a:r>
              <a:r>
                <a:rPr kumimoji="1" lang="en-US" altLang="ko-KR" b="1" dirty="0">
                  <a:solidFill>
                    <a:srgbClr val="437ED5"/>
                  </a:solidFill>
                  <a:latin typeface="+mj-ea"/>
                  <a:ea typeface="+mj-ea"/>
                </a:rPr>
                <a:t>27%</a:t>
              </a:r>
              <a:r>
                <a:rPr kumimoji="1" lang="ko-KR" altLang="en-US" b="1" dirty="0">
                  <a:solidFill>
                    <a:srgbClr val="437ED5"/>
                  </a:solidFill>
                  <a:latin typeface="+mj-ea"/>
                  <a:ea typeface="+mj-ea"/>
                </a:rPr>
                <a:t> 이상 상승</a:t>
              </a:r>
              <a:endParaRPr kumimoji="1" lang="en-US" altLang="ko-KR" b="1" dirty="0">
                <a:solidFill>
                  <a:srgbClr val="437ED5"/>
                </a:solidFill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ko-KR" altLang="en-US" dirty="0">
                  <a:latin typeface="+mj-ea"/>
                  <a:ea typeface="+mj-ea"/>
                </a:rPr>
                <a:t>클래스 불균형 문제 개선 가능</a:t>
              </a:r>
              <a:endParaRPr kumimoji="1" lang="en-US" altLang="ko-KR" dirty="0">
                <a:latin typeface="+mj-ea"/>
                <a:ea typeface="+mj-ea"/>
              </a:endParaRPr>
            </a:p>
            <a:p>
              <a:pPr marL="285750" indent="-285750">
                <a:lnSpc>
                  <a:spcPct val="200000"/>
                </a:lnSpc>
                <a:buFont typeface="Wingdings" pitchFamily="2" charset="2"/>
                <a:buChar char="Ø"/>
              </a:pPr>
              <a:r>
                <a:rPr kumimoji="1" lang="ko-KR" altLang="en-US" dirty="0">
                  <a:latin typeface="+mj-ea"/>
                  <a:ea typeface="+mj-ea"/>
                </a:rPr>
                <a:t>신기술 탐지 및 특허 전략 수립 기여 할 수 있음</a:t>
              </a:r>
              <a:r>
                <a:rPr kumimoji="1" lang="en-US" altLang="ko-KR" dirty="0"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6" name="Google Shape;430;p38">
            <a:extLst>
              <a:ext uri="{FF2B5EF4-FFF2-40B4-BE49-F238E27FC236}">
                <a16:creationId xmlns:a16="http://schemas.microsoft.com/office/drawing/2014/main" id="{11968F2F-B120-5A47-6EAD-2E300A5337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301754"/>
              </p:ext>
            </p:extLst>
          </p:nvPr>
        </p:nvGraphicFramePr>
        <p:xfrm>
          <a:off x="9777090" y="1623113"/>
          <a:ext cx="4885832" cy="1744026"/>
        </p:xfrm>
        <a:graphic>
          <a:graphicData uri="http://schemas.openxmlformats.org/drawingml/2006/table">
            <a:tbl>
              <a:tblPr>
                <a:noFill/>
                <a:tableStyleId>{BA5D41AF-CBA0-4E6F-8025-8586AE215AA1}</a:tableStyleId>
              </a:tblPr>
              <a:tblGrid>
                <a:gridCol w="22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523">
                  <a:extLst>
                    <a:ext uri="{9D8B030D-6E8A-4147-A177-3AD203B41FA5}">
                      <a16:colId xmlns:a16="http://schemas.microsoft.com/office/drawing/2014/main" val="3736403721"/>
                    </a:ext>
                  </a:extLst>
                </a:gridCol>
                <a:gridCol w="851604">
                  <a:extLst>
                    <a:ext uri="{9D8B030D-6E8A-4147-A177-3AD203B41FA5}">
                      <a16:colId xmlns:a16="http://schemas.microsoft.com/office/drawing/2014/main" val="1158147484"/>
                    </a:ext>
                  </a:extLst>
                </a:gridCol>
                <a:gridCol w="881240">
                  <a:extLst>
                    <a:ext uri="{9D8B030D-6E8A-4147-A177-3AD203B41FA5}">
                      <a16:colId xmlns:a16="http://schemas.microsoft.com/office/drawing/2014/main" val="416581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auto"/>
                      <a:endParaRPr lang="en" sz="1300" b="0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정확도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>
                          <a:effectLst/>
                          <a:latin typeface="+mj-lt"/>
                        </a:rPr>
                        <a:t>정밀도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ko-KR" altLang="en-US" sz="1300" b="1" dirty="0" err="1">
                          <a:effectLst/>
                          <a:latin typeface="+mj-lt"/>
                        </a:rPr>
                        <a:t>재현율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0.8718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0.8688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b="1" dirty="0" err="1">
                          <a:effectLst/>
                        </a:rPr>
                        <a:t>KoBERT</a:t>
                      </a:r>
                      <a:r>
                        <a:rPr lang="en" sz="1300" b="1" dirty="0">
                          <a:effectLst/>
                        </a:rPr>
                        <a:t> + Center Loss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0.8771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0.8787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3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" sz="1300" dirty="0" err="1">
                          <a:effectLst/>
                        </a:rPr>
                        <a:t>KorPatBERT</a:t>
                      </a:r>
                      <a:endParaRPr lang="en" sz="1300" dirty="0">
                        <a:effectLst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0.8709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dirty="0">
                          <a:effectLst/>
                        </a:rPr>
                        <a:t>0.8721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7"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300" b="1" dirty="0" err="1">
                          <a:effectLst/>
                          <a:latin typeface="+mj-lt"/>
                        </a:rPr>
                        <a:t>KorPatBERT</a:t>
                      </a:r>
                      <a:r>
                        <a:rPr lang="en-US" sz="1300" b="1" dirty="0">
                          <a:effectLst/>
                          <a:latin typeface="+mj-lt"/>
                        </a:rPr>
                        <a:t> + </a:t>
                      </a:r>
                      <a:r>
                        <a:rPr lang="en-US" sz="1300" b="1" dirty="0" err="1">
                          <a:effectLst/>
                          <a:latin typeface="+mj-lt"/>
                        </a:rPr>
                        <a:t>CenterLoss</a:t>
                      </a:r>
                      <a:endParaRPr lang="en" sz="1300" b="1" dirty="0">
                        <a:effectLst/>
                        <a:latin typeface="+mj-lt"/>
                      </a:endParaRP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0.9110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</a:rPr>
                        <a:t>0.9103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Google Shape;404;p36">
            <a:extLst>
              <a:ext uri="{FF2B5EF4-FFF2-40B4-BE49-F238E27FC236}">
                <a16:creationId xmlns:a16="http://schemas.microsoft.com/office/drawing/2014/main" id="{C4295C02-9C4A-AEFA-024F-7FF954A9B62A}"/>
              </a:ext>
            </a:extLst>
          </p:cNvPr>
          <p:cNvSpPr txBox="1">
            <a:spLocks/>
          </p:cNvSpPr>
          <p:nvPr/>
        </p:nvSpPr>
        <p:spPr>
          <a:xfrm>
            <a:off x="9694718" y="1103806"/>
            <a:ext cx="4764102" cy="48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oppins"/>
              <a:buNone/>
              <a:defRPr sz="31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KorPatBERT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와 </a:t>
            </a:r>
            <a:r>
              <a:rPr lang="en-US" altLang="ko-KR" sz="1600" dirty="0" err="1">
                <a:solidFill>
                  <a:srgbClr val="437ED5"/>
                </a:solidFill>
                <a:latin typeface="+mj-ea"/>
                <a:ea typeface="+mj-ea"/>
              </a:rPr>
              <a:t>CenterLoss</a:t>
            </a:r>
            <a:r>
              <a:rPr lang="en-US" altLang="ko-KR" sz="1600" dirty="0">
                <a:solidFill>
                  <a:srgbClr val="437ED5"/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rgbClr val="437ED5"/>
                </a:solidFill>
                <a:latin typeface="+mj-ea"/>
                <a:ea typeface="+mj-ea"/>
              </a:rPr>
              <a:t>적용에 따른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08E1F-3871-B5F2-AF22-39B630C378A9}"/>
              </a:ext>
            </a:extLst>
          </p:cNvPr>
          <p:cNvSpPr txBox="1"/>
          <p:nvPr/>
        </p:nvSpPr>
        <p:spPr>
          <a:xfrm>
            <a:off x="9716855" y="3552243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적용하였을 때 정확도 상승</a:t>
            </a:r>
            <a:endParaRPr kumimoji="1" lang="en-US" altLang="ko-KR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2E9D3-ABCB-DE68-2943-3F168571E541}"/>
              </a:ext>
            </a:extLst>
          </p:cNvPr>
          <p:cNvSpPr txBox="1"/>
          <p:nvPr/>
        </p:nvSpPr>
        <p:spPr>
          <a:xfrm>
            <a:off x="9715643" y="3908018"/>
            <a:ext cx="4826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KorPatBERT</a:t>
            </a:r>
            <a:r>
              <a:rPr kumimoji="1" lang="ko-KR" altLang="en-US" dirty="0">
                <a:latin typeface="+mj-ea"/>
                <a:ea typeface="+mj-ea"/>
              </a:rPr>
              <a:t>가 </a:t>
            </a:r>
            <a:r>
              <a:rPr kumimoji="1" lang="en-US" altLang="ko-KR" dirty="0" err="1">
                <a:latin typeface="+mj-ea"/>
                <a:ea typeface="+mj-ea"/>
              </a:rPr>
              <a:t>KoBERT</a:t>
            </a:r>
            <a:r>
              <a:rPr kumimoji="1" lang="en-US" altLang="ko-KR" dirty="0">
                <a:latin typeface="+mj-ea"/>
                <a:ea typeface="+mj-ea"/>
              </a:rPr>
              <a:t>(</a:t>
            </a:r>
            <a:r>
              <a:rPr kumimoji="1" lang="ko-KR" altLang="en-US" dirty="0">
                <a:latin typeface="+mj-ea"/>
                <a:ea typeface="+mj-ea"/>
              </a:rPr>
              <a:t>일반 한국어 모델</a:t>
            </a:r>
            <a:r>
              <a:rPr kumimoji="1" lang="en-US" altLang="ko-KR" dirty="0">
                <a:latin typeface="+mj-ea"/>
                <a:ea typeface="+mj-ea"/>
              </a:rPr>
              <a:t>)</a:t>
            </a:r>
            <a:r>
              <a:rPr kumimoji="1" lang="ko-KR" altLang="en-US" dirty="0">
                <a:latin typeface="+mj-ea"/>
                <a:ea typeface="+mj-ea"/>
              </a:rPr>
              <a:t> 보다 뛰어남</a:t>
            </a:r>
            <a:endParaRPr kumimoji="1" lang="en-US" altLang="ko-KR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124580-2805-6445-A1DD-EF3AC4A1CF60}"/>
              </a:ext>
            </a:extLst>
          </p:cNvPr>
          <p:cNvSpPr txBox="1"/>
          <p:nvPr/>
        </p:nvSpPr>
        <p:spPr>
          <a:xfrm>
            <a:off x="9715643" y="4236443"/>
            <a:ext cx="5164588" cy="696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ko-KR" dirty="0" err="1">
                <a:latin typeface="+mj-ea"/>
                <a:ea typeface="+mj-ea"/>
              </a:rPr>
              <a:t>KorPatBERT</a:t>
            </a:r>
            <a:r>
              <a:rPr kumimoji="1" lang="ko-KR" altLang="en-US" dirty="0" err="1">
                <a:latin typeface="+mj-ea"/>
                <a:ea typeface="+mj-ea"/>
              </a:rPr>
              <a:t>에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적용했을 때</a:t>
            </a:r>
            <a:r>
              <a:rPr kumimoji="1" lang="en-US" altLang="ko-KR" dirty="0">
                <a:latin typeface="+mj-ea"/>
                <a:ea typeface="+mj-ea"/>
              </a:rPr>
              <a:t>,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KoBERT</a:t>
            </a:r>
            <a:r>
              <a:rPr kumimoji="1" lang="ko-KR" altLang="en-US" dirty="0" err="1">
                <a:latin typeface="+mj-ea"/>
                <a:ea typeface="+mj-ea"/>
              </a:rPr>
              <a:t>에</a:t>
            </a:r>
            <a:r>
              <a:rPr kumimoji="1" lang="ko-KR" altLang="en-US" dirty="0">
                <a:latin typeface="+mj-ea"/>
                <a:ea typeface="+mj-ea"/>
              </a:rPr>
              <a:t> </a:t>
            </a:r>
            <a:r>
              <a:rPr kumimoji="1" lang="en-US" altLang="ko-KR" dirty="0" err="1">
                <a:latin typeface="+mj-ea"/>
                <a:ea typeface="+mj-ea"/>
              </a:rPr>
              <a:t>CenterLoss</a:t>
            </a:r>
            <a:r>
              <a:rPr kumimoji="1" lang="ko-KR" altLang="en-US" dirty="0" err="1">
                <a:latin typeface="+mj-ea"/>
                <a:ea typeface="+mj-ea"/>
              </a:rPr>
              <a:t>를</a:t>
            </a:r>
            <a:r>
              <a:rPr kumimoji="1" lang="ko-KR" altLang="en-US" dirty="0">
                <a:latin typeface="+mj-ea"/>
                <a:ea typeface="+mj-ea"/>
              </a:rPr>
              <a:t> 적용한 경우 보다 </a:t>
            </a:r>
            <a:r>
              <a:rPr kumimoji="1" lang="ko-KR" altLang="en-US" b="1" dirty="0">
                <a:latin typeface="+mj-ea"/>
                <a:ea typeface="+mj-ea"/>
              </a:rPr>
              <a:t>더욱 큰 성능 향상</a:t>
            </a:r>
            <a:r>
              <a:rPr kumimoji="1" lang="ko-KR" altLang="en-US" dirty="0">
                <a:latin typeface="+mj-ea"/>
                <a:ea typeface="+mj-ea"/>
              </a:rPr>
              <a:t>을 보임</a:t>
            </a:r>
            <a:endParaRPr kumimoji="1"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36810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1CB6E9D9-6A67-1CEE-0EB9-B13347D4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9;p32">
            <a:extLst>
              <a:ext uri="{FF2B5EF4-FFF2-40B4-BE49-F238E27FC236}">
                <a16:creationId xmlns:a16="http://schemas.microsoft.com/office/drawing/2014/main" id="{B8801A4C-941C-B0FC-E633-738B352750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969" y="144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모델 시각화</a:t>
            </a:r>
            <a:endParaRPr dirty="0">
              <a:latin typeface="+mj-ea"/>
              <a:ea typeface="+mj-ea"/>
            </a:endParaRPr>
          </a:p>
        </p:txBody>
      </p:sp>
      <p:pic>
        <p:nvPicPr>
          <p:cNvPr id="9" name="그림 8" descr="텍스트, 도표, 지도이(가) 표시된 사진&#10;&#10;자동 생성된 설명">
            <a:extLst>
              <a:ext uri="{FF2B5EF4-FFF2-40B4-BE49-F238E27FC236}">
                <a16:creationId xmlns:a16="http://schemas.microsoft.com/office/drawing/2014/main" id="{AD19DDA7-C0E1-83AF-26C4-2CD466D7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48" y="1441302"/>
            <a:ext cx="3138295" cy="2468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5A80A3-6D94-9639-57DD-5262C277FE55}"/>
              </a:ext>
            </a:extLst>
          </p:cNvPr>
          <p:cNvSpPr txBox="1"/>
          <p:nvPr/>
        </p:nvSpPr>
        <p:spPr>
          <a:xfrm>
            <a:off x="959045" y="946543"/>
            <a:ext cx="3023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b="1" dirty="0">
                <a:solidFill>
                  <a:srgbClr val="437ED5"/>
                </a:solidFill>
              </a:rPr>
              <a:t>테스트 데이터셋</a:t>
            </a:r>
            <a:r>
              <a:rPr kumimoji="1" lang="en-US" altLang="ko-KR" sz="1600" b="1" dirty="0">
                <a:solidFill>
                  <a:srgbClr val="437ED5"/>
                </a:solidFill>
              </a:rPr>
              <a:t> T-SNE</a:t>
            </a:r>
            <a:r>
              <a:rPr kumimoji="1" lang="ko-KR" altLang="en-US" sz="1600" b="1" dirty="0">
                <a:solidFill>
                  <a:srgbClr val="437ED5"/>
                </a:solidFill>
              </a:rPr>
              <a:t> 시각화</a:t>
            </a:r>
          </a:p>
        </p:txBody>
      </p:sp>
      <p:sp>
        <p:nvSpPr>
          <p:cNvPr id="12" name="Google Shape;296;p29">
            <a:extLst>
              <a:ext uri="{FF2B5EF4-FFF2-40B4-BE49-F238E27FC236}">
                <a16:creationId xmlns:a16="http://schemas.microsoft.com/office/drawing/2014/main" id="{7459743B-98FA-2F73-8DFD-2579F0E17D88}"/>
              </a:ext>
            </a:extLst>
          </p:cNvPr>
          <p:cNvSpPr txBox="1">
            <a:spLocks/>
          </p:cNvSpPr>
          <p:nvPr/>
        </p:nvSpPr>
        <p:spPr>
          <a:xfrm>
            <a:off x="717739" y="4000499"/>
            <a:ext cx="3613630" cy="1034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80000"/>
              </a:lnSpc>
            </a:pP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▶ 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</a:rPr>
              <a:t>군집의 중심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을 시각적으로 확인 가능</a:t>
            </a:r>
            <a:endParaRPr lang="en-US" altLang="ko-KR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80000"/>
              </a:lnSpc>
            </a:pPr>
            <a:r>
              <a:rPr lang="ko-KR" altLang="en-US" sz="1200" b="1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sym typeface="Work Sans"/>
              </a:rPr>
              <a:t>▶ </a:t>
            </a:r>
            <a:r>
              <a:rPr lang="ko-KR" altLang="en-US" sz="1200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sym typeface="Work Sans"/>
              </a:rPr>
              <a:t>다른 군집에 분포된 </a:t>
            </a:r>
            <a:r>
              <a:rPr lang="ko-KR" altLang="en-US" sz="1200" b="1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sym typeface="Work Sans"/>
              </a:rPr>
              <a:t>이상치 탐지 </a:t>
            </a:r>
            <a:r>
              <a:rPr lang="ko-KR" altLang="en-US" sz="1200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sym typeface="Work Sans"/>
              </a:rPr>
              <a:t>가능</a:t>
            </a:r>
            <a:r>
              <a:rPr lang="en-US" altLang="ko-KR" sz="1200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sym typeface="Work Sans"/>
              </a:rPr>
              <a:t>.</a:t>
            </a:r>
          </a:p>
        </p:txBody>
      </p:sp>
      <p:pic>
        <p:nvPicPr>
          <p:cNvPr id="13" name="그림 12" descr="스크린샷, 텍스트, 라인, 그래프이(가) 표시된 사진&#10;&#10;자동 생성된 설명">
            <a:extLst>
              <a:ext uri="{FF2B5EF4-FFF2-40B4-BE49-F238E27FC236}">
                <a16:creationId xmlns:a16="http://schemas.microsoft.com/office/drawing/2014/main" id="{57ECA8E0-100C-424C-5A06-62A3846E5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851" y="1515530"/>
            <a:ext cx="4167890" cy="22262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8B667C-BB12-0186-C540-7A7FA69B6407}"/>
              </a:ext>
            </a:extLst>
          </p:cNvPr>
          <p:cNvSpPr txBox="1"/>
          <p:nvPr/>
        </p:nvSpPr>
        <p:spPr>
          <a:xfrm>
            <a:off x="5316688" y="958575"/>
            <a:ext cx="2363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b="1" dirty="0">
                <a:solidFill>
                  <a:srgbClr val="437ED5"/>
                </a:solidFill>
              </a:rPr>
              <a:t>Attention score</a:t>
            </a:r>
            <a:r>
              <a:rPr kumimoji="1" lang="ko-KR" altLang="en-US" sz="1600" b="1" dirty="0">
                <a:solidFill>
                  <a:srgbClr val="437ED5"/>
                </a:solidFill>
              </a:rPr>
              <a:t> 시각화</a:t>
            </a:r>
          </a:p>
        </p:txBody>
      </p:sp>
      <p:sp>
        <p:nvSpPr>
          <p:cNvPr id="15" name="Google Shape;296;p29">
            <a:extLst>
              <a:ext uri="{FF2B5EF4-FFF2-40B4-BE49-F238E27FC236}">
                <a16:creationId xmlns:a16="http://schemas.microsoft.com/office/drawing/2014/main" id="{B8B273F9-2537-0EA2-CDED-3E7B3ED8458D}"/>
              </a:ext>
            </a:extLst>
          </p:cNvPr>
          <p:cNvSpPr txBox="1">
            <a:spLocks/>
          </p:cNvSpPr>
          <p:nvPr/>
        </p:nvSpPr>
        <p:spPr>
          <a:xfrm>
            <a:off x="4511478" y="4000499"/>
            <a:ext cx="4127195" cy="103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>
              <a:lnSpc>
                <a:spcPct val="180000"/>
              </a:lnSpc>
            </a:pPr>
            <a:r>
              <a:rPr lang="en-US" altLang="ko-KR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▶ </a:t>
            </a:r>
            <a:r>
              <a:rPr lang="ko-KR" altLang="en-US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각 클래스의 </a:t>
            </a:r>
            <a:r>
              <a:rPr lang="ko-KR" altLang="en-US" b="1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분류에 영향을 미치는 토큰 </a:t>
            </a:r>
            <a:r>
              <a:rPr lang="ko-KR" altLang="en-US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확인 가능</a:t>
            </a:r>
            <a:r>
              <a:rPr lang="en-US" altLang="ko-KR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pPr marL="0" indent="0">
              <a:lnSpc>
                <a:spcPct val="180000"/>
              </a:lnSpc>
            </a:pPr>
            <a:r>
              <a:rPr lang="en-US" altLang="ko-KR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▶ G16H </a:t>
            </a:r>
            <a:r>
              <a:rPr lang="ko-KR" altLang="en-US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클래스는 ‘장애’</a:t>
            </a:r>
            <a:r>
              <a:rPr lang="en-US" altLang="ko-KR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‘</a:t>
            </a:r>
            <a:r>
              <a:rPr lang="ko-KR" altLang="en-US" dirty="0" err="1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정신’과</a:t>
            </a:r>
            <a:r>
              <a:rPr lang="ko-KR" altLang="en-US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같은 </a:t>
            </a:r>
            <a:r>
              <a:rPr lang="ko-KR" altLang="en-US" b="1" dirty="0">
                <a:solidFill>
                  <a:srgbClr val="191919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의료 관련 키워드 </a:t>
            </a:r>
            <a:endParaRPr lang="en-US" altLang="ko-KR" b="1" dirty="0">
              <a:solidFill>
                <a:srgbClr val="191919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57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DC38454A-6FB9-1678-501F-0AB2F774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편지, 폰트, 스크린샷이(가) 표시된 사진&#10;&#10;자동 생성된 설명">
            <a:extLst>
              <a:ext uri="{FF2B5EF4-FFF2-40B4-BE49-F238E27FC236}">
                <a16:creationId xmlns:a16="http://schemas.microsoft.com/office/drawing/2014/main" id="{85826E05-53DC-C526-3B85-A7407708E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39" y="1258544"/>
            <a:ext cx="3904307" cy="5143500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43EC64D6-F611-DC4D-B463-60D379D4F5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4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431" y="889000"/>
            <a:ext cx="3736119" cy="3736119"/>
          </a:xfrm>
          <a:prstGeom prst="rect">
            <a:avLst/>
          </a:prstGeom>
        </p:spPr>
      </p:pic>
      <p:pic>
        <p:nvPicPr>
          <p:cNvPr id="3" name="그림 2" descr="그래픽, 디자인, 예술이(가) 표시된 사진&#10;&#10;자동 생성된 설명">
            <a:extLst>
              <a:ext uri="{FF2B5EF4-FFF2-40B4-BE49-F238E27FC236}">
                <a16:creationId xmlns:a16="http://schemas.microsoft.com/office/drawing/2014/main" id="{BA74D0D7-1B7B-5D70-AA7C-20AE9B39B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62" y="1417570"/>
            <a:ext cx="2709158" cy="270915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EF475F-66E0-5D11-3A2C-77440FF3A2CF}"/>
              </a:ext>
            </a:extLst>
          </p:cNvPr>
          <p:cNvSpPr txBox="1"/>
          <p:nvPr/>
        </p:nvSpPr>
        <p:spPr>
          <a:xfrm>
            <a:off x="71561" y="4464467"/>
            <a:ext cx="4386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/>
              <a:t>Github</a:t>
            </a:r>
            <a:r>
              <a:rPr kumimoji="1" lang="en-US" altLang="ko-KR" dirty="0"/>
              <a:t>: </a:t>
            </a:r>
          </a:p>
          <a:p>
            <a:r>
              <a:rPr kumimoji="1" lang="en-US" altLang="ko-KR" dirty="0">
                <a:solidFill>
                  <a:srgbClr val="437ED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https://github.com/jaewonE/KorPatBERT-CenterLoss</a:t>
            </a:r>
            <a:endParaRPr kumimoji="1" lang="ko-KR" altLang="en-US" dirty="0">
              <a:solidFill>
                <a:srgbClr val="437ED5"/>
              </a:solidFill>
            </a:endParaRPr>
          </a:p>
        </p:txBody>
      </p:sp>
      <p:sp>
        <p:nvSpPr>
          <p:cNvPr id="11" name="Google Shape;506;p40">
            <a:extLst>
              <a:ext uri="{FF2B5EF4-FFF2-40B4-BE49-F238E27FC236}">
                <a16:creationId xmlns:a16="http://schemas.microsoft.com/office/drawing/2014/main" id="{E01CC1A7-2DD2-842E-2C6C-B2CEB600E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163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감사합니다</a:t>
            </a:r>
            <a:endParaRPr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0075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6|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6|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6|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16|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6.7|8.5|10.7|10.1"/>
</p:tagLst>
</file>

<file path=ppt/theme/theme1.xml><?xml version="1.0" encoding="utf-8"?>
<a:theme xmlns:a="http://schemas.openxmlformats.org/drawingml/2006/main" name="Patent Registration Pitch Deck by Slidesgo">
  <a:themeElements>
    <a:clrScheme name="Simple Light">
      <a:dk1>
        <a:srgbClr val="191919"/>
      </a:dk1>
      <a:lt1>
        <a:srgbClr val="F4F5F5"/>
      </a:lt1>
      <a:dk2>
        <a:srgbClr val="C2C5C6"/>
      </a:dk2>
      <a:lt2>
        <a:srgbClr val="939393"/>
      </a:lt2>
      <a:accent1>
        <a:srgbClr val="1C4587"/>
      </a:accent1>
      <a:accent2>
        <a:srgbClr val="1737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1600</Words>
  <Application>Microsoft Macintosh PowerPoint</Application>
  <PresentationFormat>화면 슬라이드 쇼(16:9)</PresentationFormat>
  <Paragraphs>364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Nunito Light</vt:lpstr>
      <vt:lpstr>Wingdings</vt:lpstr>
      <vt:lpstr>맑은 고딕</vt:lpstr>
      <vt:lpstr>Work Sans</vt:lpstr>
      <vt:lpstr>Poppins Medium</vt:lpstr>
      <vt:lpstr>Poppins SemiBold</vt:lpstr>
      <vt:lpstr>Poppins</vt:lpstr>
      <vt:lpstr>Arial</vt:lpstr>
      <vt:lpstr>Patent Registration Pitch Deck by Slidesgo</vt:lpstr>
      <vt:lpstr>KorPatBERT와 CenterLoss를 활용한  KNN 기반 IPC 자동분류 연구</vt:lpstr>
      <vt:lpstr>데이터의 주요 쟁점</vt:lpstr>
      <vt:lpstr>PowerPoint 프레젠테이션</vt:lpstr>
      <vt:lpstr>PowerPoint 프레젠테이션</vt:lpstr>
      <vt:lpstr>PowerPoint 프레젠테이션</vt:lpstr>
      <vt:lpstr>모델 학습 과정</vt:lpstr>
      <vt:lpstr>모델 학습 결과</vt:lpstr>
      <vt:lpstr>모델 학습 결과</vt:lpstr>
      <vt:lpstr>모델 학습 결과</vt:lpstr>
      <vt:lpstr>모델 학습 결과</vt:lpstr>
      <vt:lpstr>모델 학습 결과</vt:lpstr>
      <vt:lpstr>모델 학습 결과</vt:lpstr>
      <vt:lpstr>모델 시각화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Jong Min Baek</dc:creator>
  <cp:lastModifiedBy>곽재원</cp:lastModifiedBy>
  <cp:revision>36</cp:revision>
  <dcterms:modified xsi:type="dcterms:W3CDTF">2025-01-02T13:53:15Z</dcterms:modified>
</cp:coreProperties>
</file>